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80" r:id="rId31"/>
    <p:sldId id="265" r:id="rId11"/>
    <p:sldId id="283" r:id="rId34"/>
    <p:sldId id="284" r:id="rId35"/>
    <p:sldId id="266" r:id="rId12"/>
    <p:sldId id="277" r:id="rId28"/>
    <p:sldId id="278" r:id="rId29"/>
    <p:sldId id="267" r:id="rId13"/>
    <p:sldId id="268" r:id="rId14"/>
    <p:sldId id="281" r:id="rId32"/>
    <p:sldId id="269" r:id="rId15"/>
    <p:sldId id="270" r:id="rId16"/>
    <p:sldId id="271" r:id="rId17"/>
    <p:sldId id="272" r:id="rId18"/>
    <p:sldId id="279" r:id="rId30"/>
    <p:sldId id="282" r:id="rId33"/>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1.xml"/><Relationship Id="rId12" Type="http://schemas.openxmlformats.org/officeDocument/2006/relationships/slide" Target="slides/slide14.xml"/><Relationship Id="rId13" Type="http://schemas.openxmlformats.org/officeDocument/2006/relationships/slide" Target="slides/slide17.xml"/><Relationship Id="rId14" Type="http://schemas.openxmlformats.org/officeDocument/2006/relationships/slide" Target="slides/slide18.xml"/><Relationship Id="rId15" Type="http://schemas.openxmlformats.org/officeDocument/2006/relationships/slide" Target="slides/slide20.xml"/><Relationship Id="rId16" Type="http://schemas.openxmlformats.org/officeDocument/2006/relationships/slide" Target="slides/slide21.xml"/><Relationship Id="rId17" Type="http://schemas.openxmlformats.org/officeDocument/2006/relationships/slide" Target="slides/slide22.xml"/><Relationship Id="rId18" Type="http://schemas.openxmlformats.org/officeDocument/2006/relationships/slide" Target="slides/slide23.xml"/><Relationship Id="rId19" Type="http://schemas.openxmlformats.org/officeDocument/2006/relationships/slide" Target="slides/slide26.xml"/><Relationship Id="rId20" Type="http://schemas.openxmlformats.org/officeDocument/2006/relationships/slide" Target="slides/slide27.xml"/><Relationship Id="rId21" Type="http://schemas.openxmlformats.org/officeDocument/2006/relationships/slide" Target="slides/slide28.xml"/><Relationship Id="rId22" Type="http://schemas.openxmlformats.org/officeDocument/2006/relationships/slide" Target="slides/slide29.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openxmlformats.org/officeDocument/2006/relationships/slide" Target="slides/slide15.xml"/><Relationship Id="rId29" Type="http://schemas.openxmlformats.org/officeDocument/2006/relationships/slide" Target="slides/slide16.xml"/><Relationship Id="rId30" Type="http://schemas.openxmlformats.org/officeDocument/2006/relationships/slide" Target="slides/slide24.xml"/><Relationship Id="rId31" Type="http://schemas.openxmlformats.org/officeDocument/2006/relationships/slide" Target="slides/slide10.xml"/><Relationship Id="rId32" Type="http://schemas.openxmlformats.org/officeDocument/2006/relationships/slide" Target="slides/slide19.xml"/><Relationship Id="rId33" Type="http://schemas.openxmlformats.org/officeDocument/2006/relationships/slide" Target="slides/slide25.xml"/><Relationship Id="rId34" Type="http://schemas.openxmlformats.org/officeDocument/2006/relationships/slide" Target="slides/slide12.xml"/><Relationship Id="rId35"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manual walks through one complete cost estimate in the order the tabs appear. Anyone who prepares a CE can follow it start to finish; no admin knowledge is assumed.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to land: the app does the arithmetic and enforces one shared set of rates. The estimator supplies judgement — who is needed, for how long, with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the order. Most problems people report come from skipping Project Info — the number of days there becomes the default for every manpower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Sign-in is per person. Never share an account — the CE records who saved it, and the audit log records who changed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Quantity and No. of days. Quantity divides the grand total into the unit price. No. of days is inherited by every manpower row added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biggest time-saver in the app and the one people under-use. A three-service job that takes 40 minutes by hand takes about a minute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numbering here is what appears on the printed Scope of Work page and on every breakdown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roll-up on the parent is new: a main task used to read "no resources" while the work below it was fully costed.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out the OT change explicitly. A CE saved before this behaved as a total for the whole job; reopening an old one shows a higher OT figure because the same number now means per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step people forget, and it is the one that changes the price. Consolidate before you generate the CE. The uplift is not an error — it is the cost of having the crew on site for the whole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Tools are the only bill with a tier. Materials and PPE are still qty x cost. Do not go into the tiers here -- the next slide is entirely about them.</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category headings change slightly by CE type — Supply jobs use Allowance instead of Accommodation.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margin is saved with the CE. Signatories now arrive from the CE Defaults preset an admin sets in the Users tab, chosen by CE type and discipline, with the signed-in user already in Prepared By.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clear that Check CE is advisory, not a lock. The only hard blocks are the four listed at the bottom.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Draft versus Save is the distinction people get wrong -- but a draft is no longer invisible. It appears in Monitoring as open work, so the team can see it exists; it is simply still editable, and saving the CE clears it. Also flag the browser-only save message: if it appears, the CE has not reached SharePoint and nobody else can open it.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Generate CE is the deliverable. Everything before it exists to make this page right. The Excel exports now carry the CE's own formatting, so sales can work with them directly.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Monitoring is the register the whole team reads. Two changes worth demonstrating: Status is now an action button that also shows who changed what and when, and the print actions produce a previous CE's documents in a new tab without disturbing the estimate you have open.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Reassure people. The most common support call is someone who saved offline and thinks their work is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middle one still matters most: a permission refusal is not a session problem, and signing in again just wastes time. Throttling is the opposite -- it clears on its own, so pressing the button again is the wrong response.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Whoever maintains rates should own the Masterlist. For tools that now means the four figures behind the rate, not just the rate: unit price, service life, projects per year and maintenance. The calculator on each row works the tiers out from them, and the upload template carries them so the whole list can be maintained in Excel.</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pointing people at Check CE. It answers most "why is this number wrong" questions without a support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slide people will ask about. Land three things. One: nothing already quoted has moved -- a row with no tier is Tier 2, which is what the app has always done. Two: Tier 3 is the answer to losing small jobs on equipment cost, and the van example makes that concrete. Three: it is a discount, not a re-slicing -- it recovers about a sixth of annual ownership cost, so it is the wrong choice on a long shutdown. There is no minimum-hours floor, so a careless entry can price expensive kit at almost nothing; check the first few bids.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people misread. QTY is a headcount, not a sum of rows: one supervisor on regular, Sunday and holiday days is one person, but a day crew and a night crew are different people. And the money has not changed - each shift row is still charged its own benefits; the role line is only their subtotal. The Incentive is the old per diem under its proper name, and ShopWorks does not pay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hand-built version of this in Excel once came out P2.8M short of the total. Here that cannot happen: Other misc. is whatever the named services do not carry, so the two totals always match. The one error it catches is the opposite - a cost counted under two services.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handoff. The person receiving requests logs them with + New Request, attaches the documents, and assigns an estimator. The estimator filters on Assigned to me, loads the request and saves the finished CE over it under the same number. Reassign with the Assign button on the row, and always pick from the list, because Assigned to me matches by name.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Mobilization and demobilization now carry manpower as well as expenses. Press Crew from SOW Breakdown and the crew is built from the Manpower tab, one line per role, counted the way Benefits counts heads. It stays linked: change the manpower and the lines follow, except where you have typed a pax or a rate. On the printed CE they are rows A and B, and their bill prints before manpower.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Food allowance is paid at three rates. Each role belongs to one of them, set once on the Manpower masterlist. The app counts the heads in each group: for mobilization and demobilization, the people who travel; for accommodation, the whole crew over the days each shift works, listed as sub-items. When the allowance changes, update the three Masterlist items and use Sync meal rates on any CE you are requoting.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Shape 0"/>
          <p:cNvSpPr/>
          <p:nvPr/>
        </p:nvSpPr>
        <p:spPr>
          <a:xfrm>
            <a:off x="8595360" y="-1554480"/>
            <a:ext cx="5852160" cy="5852160"/>
          </a:xfrm>
          <a:prstGeom prst="ellipse">
            <a:avLst/>
          </a:prstGeom>
          <a:solidFill>
            <a:srgbClr val="13203A"/>
          </a:solidFill>
          <a:ln w="12700">
            <a:solidFill>
              <a:srgbClr val="13203A"/>
            </a:solidFill>
            <a:prstDash val="solid"/>
          </a:ln>
        </p:spPr>
        <p:txBody>
          <a:bodyPr/>
          <a:p/>
        </p:txBody>
      </p:sp>
      <p:sp>
        <p:nvSpPr>
          <p:cNvPr id="3" name="Shape 1"/>
          <p:cNvSpPr/>
          <p:nvPr/>
        </p:nvSpPr>
        <p:spPr>
          <a:xfrm>
            <a:off x="9966960" y="3108960"/>
            <a:ext cx="3291840" cy="3291840"/>
          </a:xfrm>
          <a:prstGeom prst="ellipse">
            <a:avLst/>
          </a:prstGeom>
          <a:solidFill>
            <a:srgbClr val="2A1F0B"/>
          </a:solidFill>
          <a:ln w="12700">
            <a:solidFill>
              <a:srgbClr val="2A1F0B"/>
            </a:solidFill>
            <a:prstDash val="solid"/>
          </a:ln>
        </p:spPr>
        <p:txBody>
          <a:bodyPr/>
          <a:p/>
        </p:txBody>
      </p:sp>
      <p:sp>
        <p:nvSpPr>
          <p:cNvPr id="4" name="Shape 2"/>
          <p:cNvSpPr/>
          <p:nvPr/>
        </p:nvSpPr>
        <p:spPr>
          <a:xfrm>
            <a:off x="566928" y="1417320"/>
            <a:ext cx="841248" cy="384048"/>
          </a:xfrm>
          <a:prstGeom prst="roundRect">
            <a:avLst>
              <a:gd name="adj" fmla="val 14286"/>
            </a:avLst>
          </a:prstGeom>
          <a:solidFill>
            <a:srgbClr val="F0A429"/>
          </a:solidFill>
          <a:ln w="12700">
            <a:solidFill>
              <a:srgbClr val="F0A429"/>
            </a:solidFill>
            <a:prstDash val="solid"/>
          </a:ln>
        </p:spPr>
        <p:txBody>
          <a:bodyPr/>
          <a:p/>
        </p:txBody>
      </p:sp>
      <p:sp>
        <p:nvSpPr>
          <p:cNvPr id="5" name="Text 3"/>
          <p:cNvSpPr/>
          <p:nvPr/>
        </p:nvSpPr>
        <p:spPr>
          <a:xfrm>
            <a:off x="566928" y="1417320"/>
            <a:ext cx="841248" cy="384048"/>
          </a:xfrm>
          <a:prstGeom prst="rect">
            <a:avLst/>
          </a:prstGeom>
          <a:noFill/>
          <a:ln/>
        </p:spPr>
        <p:txBody>
          <a:bodyPr wrap="square" lIns="0" tIns="0" rIns="0" bIns="0" rtlCol="0" anchor="ctr"/>
          <a:lstStyle/>
          <a:p>
            <a:pPr algn="ctr" indent="0" marL="0">
              <a:buNone/>
            </a:pPr>
            <a:r>
              <a:rPr lang="en-US" sz="1400" b="1" dirty="0">
                <a:solidFill>
                  <a:srgbClr val="000000"/>
                </a:solidFill>
                <a:latin typeface="Arial" pitchFamily="34" charset="0"/>
                <a:ea typeface="Arial" pitchFamily="34" charset="-122"/>
                <a:cs typeface="Arial" pitchFamily="34" charset="-120"/>
              </a:rPr>
              <a:t>SHIC</a:t>
            </a:r>
            <a:endParaRPr lang="en-US" sz="1400" dirty="0"/>
          </a:p>
        </p:txBody>
      </p:sp>
      <p:sp>
        <p:nvSpPr>
          <p:cNvPr id="6" name="Text 4"/>
          <p:cNvSpPr/>
          <p:nvPr/>
        </p:nvSpPr>
        <p:spPr>
          <a:xfrm>
            <a:off x="1536192" y="1417320"/>
            <a:ext cx="5486400" cy="384048"/>
          </a:xfrm>
          <a:prstGeom prst="rect">
            <a:avLst/>
          </a:prstGeom>
          <a:noFill/>
          <a:ln/>
        </p:spPr>
        <p:txBody>
          <a:bodyPr wrap="square" lIns="0" tIns="0" rIns="0" bIns="0" rtlCol="0" anchor="ctr"/>
          <a:lstStyle/>
          <a:p>
            <a:pPr indent="0" marL="0">
              <a:buNone/>
            </a:pPr>
            <a:r>
              <a:rPr lang="en-US" sz="1300" b="1" spc="200" kern="0" dirty="0">
                <a:solidFill>
                  <a:srgbClr val="9AA4AF"/>
                </a:solidFill>
                <a:latin typeface="Arial" pitchFamily="34" charset="0"/>
                <a:ea typeface="Arial" pitchFamily="34" charset="-122"/>
                <a:cs typeface="Arial" pitchFamily="34" charset="-120"/>
              </a:rPr>
              <a:t>COST ESTIMATOR  ·  v3</a:t>
            </a:r>
            <a:endParaRPr lang="en-US" sz="1300" dirty="0"/>
          </a:p>
        </p:txBody>
      </p:sp>
      <p:sp>
        <p:nvSpPr>
          <p:cNvPr id="7" name="Text 5"/>
          <p:cNvSpPr/>
          <p:nvPr/>
        </p:nvSpPr>
        <p:spPr>
          <a:xfrm>
            <a:off x="566928" y="2057400"/>
            <a:ext cx="7863840" cy="1371600"/>
          </a:xfrm>
          <a:prstGeom prst="rect">
            <a:avLst/>
          </a:prstGeom>
          <a:noFill/>
          <a:ln/>
        </p:spPr>
        <p:txBody>
          <a:bodyPr wrap="square" lIns="0" tIns="0" rIns="0" bIns="0" rtlCol="0" anchor="ctr"/>
          <a:lstStyle/>
          <a:p>
            <a:pPr indent="0" marL="0">
              <a:buNone/>
            </a:pPr>
            <a:r>
              <a:rPr lang="en-US" sz="5800" b="1" dirty="0">
                <a:solidFill>
                  <a:srgbClr val="E6EDF3"/>
                </a:solidFill>
                <a:latin typeface="Arial" pitchFamily="34" charset="0"/>
                <a:ea typeface="Arial" pitchFamily="34" charset="-122"/>
                <a:cs typeface="Arial" pitchFamily="34" charset="-120"/>
              </a:rPr>
              <a:t>End-User Manual</a:t>
            </a:r>
            <a:endParaRPr lang="en-US" sz="5800" dirty="0"/>
          </a:p>
        </p:txBody>
      </p:sp>
      <p:sp>
        <p:nvSpPr>
          <p:cNvPr id="8" name="Text 6"/>
          <p:cNvSpPr/>
          <p:nvPr/>
        </p:nvSpPr>
        <p:spPr>
          <a:xfrm>
            <a:off x="566928" y="3401568"/>
            <a:ext cx="7680960" cy="457200"/>
          </a:xfrm>
          <a:prstGeom prst="rect">
            <a:avLst/>
          </a:prstGeom>
          <a:noFill/>
          <a:ln/>
        </p:spPr>
        <p:txBody>
          <a:bodyPr wrap="square" lIns="0" tIns="0" rIns="0" bIns="0" rtlCol="0" anchor="ctr"/>
          <a:lstStyle/>
          <a:p>
            <a:pPr indent="0" marL="0">
              <a:buNone/>
            </a:pPr>
            <a:r>
              <a:rPr lang="en-US" sz="1900" dirty="0">
                <a:solidFill>
                  <a:srgbClr val="F0A429"/>
                </a:solidFill>
                <a:latin typeface="Calibri" pitchFamily="34" charset="0"/>
                <a:ea typeface="Calibri" pitchFamily="34" charset="-122"/>
                <a:cs typeface="Calibri" pitchFamily="34" charset="-120"/>
              </a:rPr>
              <a:t>Building a Cost Estimate, from blank page to signed CE</a:t>
            </a:r>
            <a:endParaRPr lang="en-US" sz="1900" dirty="0"/>
          </a:p>
        </p:txBody>
      </p:sp>
      <p:sp>
        <p:nvSpPr>
          <p:cNvPr id="9" name="Text 7"/>
          <p:cNvSpPr/>
          <p:nvPr/>
        </p:nvSpPr>
        <p:spPr>
          <a:xfrm>
            <a:off x="566928" y="4114800"/>
            <a:ext cx="7315200" cy="822960"/>
          </a:xfrm>
          <a:prstGeom prst="rect">
            <a:avLst/>
          </a:prstGeom>
          <a:noFill/>
          <a:ln/>
        </p:spPr>
        <p:txBody>
          <a:bodyPr wrap="square" lIns="0" tIns="0" rIns="0" bIns="0" rtlCol="0" anchor="ctr"/>
          <a:lstStyle/>
          <a:p>
            <a:pPr indent="0" marL="0">
              <a:lnSpc>
                <a:spcPts val="2100"/>
              </a:lnSpc>
              <a:buNone/>
            </a:pPr>
            <a:r>
              <a:rPr lang="en-US" sz="1350" dirty="0">
                <a:solidFill>
                  <a:srgbClr val="9AA4AF"/>
                </a:solidFill>
                <a:latin typeface="Calibri" pitchFamily="34" charset="0"/>
                <a:ea typeface="Calibri" pitchFamily="34" charset="-122"/>
                <a:cs typeface="Calibri" pitchFamily="34" charset="-120"/>
              </a:rPr>
              <a:t>SY3 Energy Maintenance Services Corp.  ·  Synercore Heavy Industries</a:t>
            </a:r>
            <a:endParaRPr lang="en-US" sz="1350" dirty="0"/>
          </a:p>
          <a:p>
            <a:pPr indent="0" marL="0">
              <a:lnSpc>
                <a:spcPts val="2100"/>
              </a:lnSpc>
              <a:buNone/>
            </a:pPr>
            <a:r>
              <a:rPr lang="en-US" sz="1350" dirty="0">
                <a:solidFill>
                  <a:srgbClr val="9AA4AF"/>
                </a:solidFill>
                <a:latin typeface="Calibri" pitchFamily="34" charset="0"/>
                <a:ea typeface="Calibri" pitchFamily="34" charset="-122"/>
                <a:cs typeface="Calibri" pitchFamily="34" charset="-120"/>
              </a:rPr>
              <a:t>Technical Support Group</a:t>
            </a:r>
            <a:endParaRPr lang="en-US" sz="1350" dirty="0"/>
          </a:p>
        </p:txBody>
      </p:sp>
      <p:sp>
        <p:nvSpPr>
          <p:cNvPr id="10" name="Shape 8"/>
          <p:cNvSpPr/>
          <p:nvPr/>
        </p:nvSpPr>
        <p:spPr>
          <a:xfrm>
            <a:off x="566928" y="5212080"/>
            <a:ext cx="2560320" cy="566928"/>
          </a:xfrm>
          <a:prstGeom prst="roundRect">
            <a:avLst>
              <a:gd name="adj" fmla="val 12903"/>
            </a:avLst>
          </a:prstGeom>
          <a:solidFill>
            <a:srgbClr val="161B22"/>
          </a:solidFill>
          <a:ln w="12700">
            <a:solidFill>
              <a:srgbClr val="30363D"/>
            </a:solidFill>
            <a:prstDash val="solid"/>
          </a:ln>
        </p:spPr>
        <p:txBody>
          <a:bodyPr/>
          <a:p/>
        </p:txBody>
      </p:sp>
      <p:sp>
        <p:nvSpPr>
          <p:cNvPr id="11" name="Text 9"/>
          <p:cNvSpPr/>
          <p:nvPr/>
        </p:nvSpPr>
        <p:spPr>
          <a:xfrm>
            <a:off x="5669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Works offline</a:t>
            </a:r>
            <a:endParaRPr lang="en-US" sz="1200" dirty="0"/>
          </a:p>
        </p:txBody>
      </p:sp>
      <p:sp>
        <p:nvSpPr>
          <p:cNvPr id="12" name="Shape 10"/>
          <p:cNvSpPr/>
          <p:nvPr/>
        </p:nvSpPr>
        <p:spPr>
          <a:xfrm>
            <a:off x="3310128" y="5212080"/>
            <a:ext cx="2560320" cy="566928"/>
          </a:xfrm>
          <a:prstGeom prst="roundRect">
            <a:avLst>
              <a:gd name="adj" fmla="val 12903"/>
            </a:avLst>
          </a:prstGeom>
          <a:solidFill>
            <a:srgbClr val="161B22"/>
          </a:solidFill>
          <a:ln w="12700">
            <a:solidFill>
              <a:srgbClr val="30363D"/>
            </a:solidFill>
            <a:prstDash val="solid"/>
          </a:ln>
        </p:spPr>
        <p:txBody>
          <a:bodyPr/>
          <a:p/>
        </p:txBody>
      </p:sp>
      <p:sp>
        <p:nvSpPr>
          <p:cNvPr id="13" name="Text 11"/>
          <p:cNvSpPr/>
          <p:nvPr/>
        </p:nvSpPr>
        <p:spPr>
          <a:xfrm>
            <a:off x="33101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Shared with your team</a:t>
            </a:r>
            <a:endParaRPr lang="en-US" sz="1200" dirty="0"/>
          </a:p>
        </p:txBody>
      </p:sp>
      <p:sp>
        <p:nvSpPr>
          <p:cNvPr id="14" name="Shape 12"/>
          <p:cNvSpPr/>
          <p:nvPr/>
        </p:nvSpPr>
        <p:spPr>
          <a:xfrm>
            <a:off x="6053328" y="5212080"/>
            <a:ext cx="2560320" cy="566928"/>
          </a:xfrm>
          <a:prstGeom prst="roundRect">
            <a:avLst>
              <a:gd name="adj" fmla="val 12903"/>
            </a:avLst>
          </a:prstGeom>
          <a:solidFill>
            <a:srgbClr val="161B22"/>
          </a:solidFill>
          <a:ln w="12700">
            <a:solidFill>
              <a:srgbClr val="30363D"/>
            </a:solidFill>
            <a:prstDash val="solid"/>
          </a:ln>
        </p:spPr>
        <p:txBody>
          <a:bodyPr/>
          <a:p/>
        </p:txBody>
      </p:sp>
      <p:sp>
        <p:nvSpPr>
          <p:cNvPr id="15" name="Text 13"/>
          <p:cNvSpPr/>
          <p:nvPr/>
        </p:nvSpPr>
        <p:spPr>
          <a:xfrm>
            <a:off x="60533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Prints the official CE form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ORIENTATION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this app replaces</a:t>
            </a:r>
            <a:endParaRPr lang="en-US" sz="3200" dirty="0"/>
          </a:p>
        </p:txBody>
      </p:sp>
      <p:sp>
        <p:nvSpPr>
          <p:cNvPr id="4" name="Shape 2"/>
          <p:cNvSpPr/>
          <p:nvPr/>
        </p:nvSpPr>
        <p:spPr>
          <a:xfrm>
            <a:off x="566928" y="1408176"/>
            <a:ext cx="5577840" cy="3977640"/>
          </a:xfrm>
          <a:prstGeom prst="roundRect">
            <a:avLst>
              <a:gd name="adj" fmla="val 1839"/>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Text 3"/>
          <p:cNvSpPr/>
          <p:nvPr/>
        </p:nvSpPr>
        <p:spPr>
          <a:xfrm>
            <a:off x="886968" y="1682496"/>
            <a:ext cx="4937760" cy="365760"/>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The estimate builds itself as you go</a:t>
            </a:r>
            <a:endParaRPr lang="en-US" sz="1700" dirty="0"/>
          </a:p>
        </p:txBody>
      </p:sp>
      <p:sp>
        <p:nvSpPr>
          <p:cNvPr id="6" name="Text 4"/>
          <p:cNvSpPr/>
          <p:nvPr/>
        </p:nvSpPr>
        <p:spPr>
          <a:xfrm>
            <a:off x="886968" y="2185416"/>
            <a:ext cx="4937760" cy="2926080"/>
          </a:xfrm>
          <a:prstGeom prst="rect">
            <a:avLst/>
          </a:prstGeom>
          <a:noFill/>
          <a:ln/>
        </p:spPr>
        <p:txBody>
          <a:bodyPr wrap="square" lIns="0" tIns="0" rIns="0" bIns="0" rtlCol="0" anchor="t"/>
          <a:lstStyle/>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You enter people, tools, consumables and PPE — the totals, benefits and overtime are calculated for you</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Every rate comes from the shared Masterlist, so two estimators quoting the same welder quote the same figure</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The finished CE prints on the official SHIC form, ready for signature</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Your work is saved in this browser first, then shared to SharePoint — so a dropped connection never costs you anything</a:t>
            </a:r>
            <a:endParaRPr lang="en-US" sz="1350" dirty="0"/>
          </a:p>
        </p:txBody>
      </p:sp>
      <p:sp>
        <p:nvSpPr>
          <p:cNvPr id="7" name="Shape 5"/>
          <p:cNvSpPr/>
          <p:nvPr/>
        </p:nvSpPr>
        <p:spPr>
          <a:xfrm>
            <a:off x="6446520" y="14081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8" name="Text 6"/>
          <p:cNvSpPr/>
          <p:nvPr/>
        </p:nvSpPr>
        <p:spPr>
          <a:xfrm>
            <a:off x="6675120" y="15544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1</a:t>
            </a:r>
            <a:endParaRPr lang="en-US" sz="4000" dirty="0"/>
          </a:p>
        </p:txBody>
      </p:sp>
      <p:sp>
        <p:nvSpPr>
          <p:cNvPr id="9" name="Text 7"/>
          <p:cNvSpPr/>
          <p:nvPr/>
        </p:nvSpPr>
        <p:spPr>
          <a:xfrm>
            <a:off x="7772400" y="16276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CE number</a:t>
            </a:r>
            <a:endParaRPr lang="en-US" sz="1500" dirty="0"/>
          </a:p>
        </p:txBody>
      </p:sp>
      <p:sp>
        <p:nvSpPr>
          <p:cNvPr id="10" name="Text 8"/>
          <p:cNvSpPr/>
          <p:nvPr/>
        </p:nvSpPr>
        <p:spPr>
          <a:xfrm>
            <a:off x="7772400" y="19751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per estimate — the app blocks duplicates</a:t>
            </a:r>
            <a:endParaRPr lang="en-US" sz="1150" dirty="0"/>
          </a:p>
        </p:txBody>
      </p:sp>
      <p:sp>
        <p:nvSpPr>
          <p:cNvPr id="11" name="Shape 9"/>
          <p:cNvSpPr/>
          <p:nvPr/>
        </p:nvSpPr>
        <p:spPr>
          <a:xfrm>
            <a:off x="6446520" y="27797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2" name="Text 10"/>
          <p:cNvSpPr/>
          <p:nvPr/>
        </p:nvSpPr>
        <p:spPr>
          <a:xfrm>
            <a:off x="6675120" y="29260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9</a:t>
            </a:r>
            <a:endParaRPr lang="en-US" sz="4000" dirty="0"/>
          </a:p>
        </p:txBody>
      </p:sp>
      <p:sp>
        <p:nvSpPr>
          <p:cNvPr id="13" name="Text 11"/>
          <p:cNvSpPr/>
          <p:nvPr/>
        </p:nvSpPr>
        <p:spPr>
          <a:xfrm>
            <a:off x="7772400" y="29992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tabs</a:t>
            </a:r>
            <a:endParaRPr lang="en-US" sz="1500" dirty="0"/>
          </a:p>
        </p:txBody>
      </p:sp>
      <p:sp>
        <p:nvSpPr>
          <p:cNvPr id="14" name="Text 12"/>
          <p:cNvSpPr/>
          <p:nvPr/>
        </p:nvSpPr>
        <p:spPr>
          <a:xfrm>
            <a:off x="7772400" y="33467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left to right, in the order you work</a:t>
            </a:r>
            <a:endParaRPr lang="en-US" sz="1150" dirty="0"/>
          </a:p>
        </p:txBody>
      </p:sp>
      <p:sp>
        <p:nvSpPr>
          <p:cNvPr id="15" name="Shape 13"/>
          <p:cNvSpPr/>
          <p:nvPr/>
        </p:nvSpPr>
        <p:spPr>
          <a:xfrm>
            <a:off x="6446520" y="41513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6675120" y="42976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0</a:t>
            </a:r>
            <a:endParaRPr lang="en-US" sz="4000" dirty="0"/>
          </a:p>
        </p:txBody>
      </p:sp>
      <p:sp>
        <p:nvSpPr>
          <p:cNvPr id="17" name="Text 15"/>
          <p:cNvSpPr/>
          <p:nvPr/>
        </p:nvSpPr>
        <p:spPr>
          <a:xfrm>
            <a:off x="7772400" y="43708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manual maths</a:t>
            </a:r>
            <a:endParaRPr lang="en-US" sz="1500" dirty="0"/>
          </a:p>
        </p:txBody>
      </p:sp>
      <p:sp>
        <p:nvSpPr>
          <p:cNvPr id="18" name="Text 16"/>
          <p:cNvSpPr/>
          <p:nvPr/>
        </p:nvSpPr>
        <p:spPr>
          <a:xfrm>
            <a:off x="7772400" y="47183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benefits, OT and margin are computed</a:t>
            </a:r>
            <a:endParaRPr lang="en-US" sz="1150" dirty="0"/>
          </a:p>
        </p:txBody>
      </p:sp>
      <p:sp>
        <p:nvSpPr>
          <p:cNvPr id="19" name="Text 1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0" name="Text 1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ORIENTATION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tabs are the workflow</a:t>
            </a:r>
            <a:endParaRPr lang="en-US" sz="3200" dirty="0"/>
          </a:p>
        </p:txBody>
      </p:sp>
      <p:sp>
        <p:nvSpPr>
          <p:cNvPr id="4" name="Text 2"/>
          <p:cNvSpPr/>
          <p:nvPr/>
        </p:nvSpPr>
        <p:spPr>
          <a:xfrm>
            <a:off x="566928" y="1298448"/>
            <a:ext cx="1088136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Work left to right. You can jump around, but each tab assumes the one before it is filled in.</a:t>
            </a:r>
            <a:endParaRPr lang="en-US" sz="1400" dirty="0"/>
          </a:p>
        </p:txBody>
      </p:sp>
      <p:sp>
        <p:nvSpPr>
          <p:cNvPr id="5" name="Shape 3"/>
          <p:cNvSpPr/>
          <p:nvPr/>
        </p:nvSpPr>
        <p:spPr>
          <a:xfrm>
            <a:off x="566928" y="186537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6" name="Text 4"/>
          <p:cNvSpPr/>
          <p:nvPr/>
        </p:nvSpPr>
        <p:spPr>
          <a:xfrm>
            <a:off x="566928"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7" name="Text 5"/>
          <p:cNvSpPr/>
          <p:nvPr/>
        </p:nvSpPr>
        <p:spPr>
          <a:xfrm>
            <a:off x="1795272"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Shape 14"/>
          <p:cNvSpPr/>
          <p:nvPr/>
        </p:nvSpPr>
        <p:spPr>
          <a:xfrm>
            <a:off x="768096" y="2843784"/>
            <a:ext cx="384048" cy="384048"/>
          </a:xfrm>
          <a:prstGeom prst="ellipse">
            <a:avLst/>
          </a:prstGeom>
          <a:solidFill>
            <a:srgbClr val="F0A429"/>
          </a:solidFill>
          <a:ln w="12700">
            <a:solidFill>
              <a:srgbClr val="F0A429"/>
            </a:solidFill>
            <a:prstDash val="solid"/>
          </a:ln>
        </p:spPr>
        <p:txBody>
          <a:bodyPr/>
          <a:p/>
        </p:txBody>
      </p:sp>
      <p:sp>
        <p:nvSpPr>
          <p:cNvPr id="17" name="Text 15"/>
          <p:cNvSpPr/>
          <p:nvPr/>
        </p:nvSpPr>
        <p:spPr>
          <a:xfrm>
            <a:off x="768096"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8" name="Text 16"/>
          <p:cNvSpPr/>
          <p:nvPr/>
        </p:nvSpPr>
        <p:spPr>
          <a:xfrm>
            <a:off x="1243584"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Project Info</a:t>
            </a:r>
            <a:endParaRPr lang="en-US" sz="1350" dirty="0"/>
          </a:p>
        </p:txBody>
      </p:sp>
      <p:sp>
        <p:nvSpPr>
          <p:cNvPr id="19" name="Text 17"/>
          <p:cNvSpPr/>
          <p:nvPr/>
        </p:nvSpPr>
        <p:spPr>
          <a:xfrm>
            <a:off x="768096"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Who it is for, what it is, how many, how long</a:t>
            </a:r>
            <a:endParaRPr lang="en-US" sz="1100" dirty="0"/>
          </a:p>
        </p:txBody>
      </p:sp>
      <p:sp>
        <p:nvSpPr>
          <p:cNvPr id="20" name="Shape 18"/>
          <p:cNvSpPr/>
          <p:nvPr/>
        </p:nvSpPr>
        <p:spPr>
          <a:xfrm>
            <a:off x="3383280"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1" name="Shape 19"/>
          <p:cNvSpPr/>
          <p:nvPr/>
        </p:nvSpPr>
        <p:spPr>
          <a:xfrm>
            <a:off x="3584448" y="2843784"/>
            <a:ext cx="384048" cy="384048"/>
          </a:xfrm>
          <a:prstGeom prst="ellipse">
            <a:avLst/>
          </a:prstGeom>
          <a:solidFill>
            <a:srgbClr val="F0A429"/>
          </a:solidFill>
          <a:ln w="12700">
            <a:solidFill>
              <a:srgbClr val="F0A429"/>
            </a:solidFill>
            <a:prstDash val="solid"/>
          </a:ln>
        </p:spPr>
        <p:txBody>
          <a:bodyPr/>
          <a:p/>
        </p:txBody>
      </p:sp>
      <p:sp>
        <p:nvSpPr>
          <p:cNvPr id="22" name="Text 20"/>
          <p:cNvSpPr/>
          <p:nvPr/>
        </p:nvSpPr>
        <p:spPr>
          <a:xfrm>
            <a:off x="3584448"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23" name="Text 21"/>
          <p:cNvSpPr/>
          <p:nvPr/>
        </p:nvSpPr>
        <p:spPr>
          <a:xfrm>
            <a:off x="4059936"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Scope of Work</a:t>
            </a:r>
            <a:endParaRPr lang="en-US" sz="1350" dirty="0"/>
          </a:p>
        </p:txBody>
      </p:sp>
      <p:sp>
        <p:nvSpPr>
          <p:cNvPr id="24" name="Text 22"/>
          <p:cNvSpPr/>
          <p:nvPr/>
        </p:nvSpPr>
        <p:spPr>
          <a:xfrm>
            <a:off x="3584448"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numbered steps of the job</a:t>
            </a:r>
            <a:endParaRPr lang="en-US" sz="1100" dirty="0"/>
          </a:p>
        </p:txBody>
      </p:sp>
      <p:sp>
        <p:nvSpPr>
          <p:cNvPr id="25" name="Shape 23"/>
          <p:cNvSpPr/>
          <p:nvPr/>
        </p:nvSpPr>
        <p:spPr>
          <a:xfrm>
            <a:off x="6199632"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6" name="Shape 24"/>
          <p:cNvSpPr/>
          <p:nvPr/>
        </p:nvSpPr>
        <p:spPr>
          <a:xfrm>
            <a:off x="6400800" y="2843784"/>
            <a:ext cx="384048" cy="384048"/>
          </a:xfrm>
          <a:prstGeom prst="ellipse">
            <a:avLst/>
          </a:prstGeom>
          <a:solidFill>
            <a:srgbClr val="F0A429"/>
          </a:solidFill>
          <a:ln w="12700">
            <a:solidFill>
              <a:srgbClr val="F0A429"/>
            </a:solidFill>
            <a:prstDash val="solid"/>
          </a:ln>
        </p:spPr>
        <p:txBody>
          <a:bodyPr/>
          <a:p/>
        </p:txBody>
      </p:sp>
      <p:sp>
        <p:nvSpPr>
          <p:cNvPr id="27" name="Text 25"/>
          <p:cNvSpPr/>
          <p:nvPr/>
        </p:nvSpPr>
        <p:spPr>
          <a:xfrm>
            <a:off x="6400800"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8" name="Text 26"/>
          <p:cNvSpPr/>
          <p:nvPr/>
        </p:nvSpPr>
        <p:spPr>
          <a:xfrm>
            <a:off x="6876288"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SOW Breakdown</a:t>
            </a:r>
            <a:endParaRPr lang="en-US" sz="1350" dirty="0"/>
          </a:p>
        </p:txBody>
      </p:sp>
      <p:sp>
        <p:nvSpPr>
          <p:cNvPr id="29" name="Text 27"/>
          <p:cNvSpPr/>
          <p:nvPr/>
        </p:nvSpPr>
        <p:spPr>
          <a:xfrm>
            <a:off x="6400800"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What each step needs — and what it costs</a:t>
            </a:r>
            <a:endParaRPr lang="en-US" sz="1100" dirty="0"/>
          </a:p>
        </p:txBody>
      </p:sp>
      <p:sp>
        <p:nvSpPr>
          <p:cNvPr id="30" name="Shape 28"/>
          <p:cNvSpPr/>
          <p:nvPr/>
        </p:nvSpPr>
        <p:spPr>
          <a:xfrm>
            <a:off x="9015984"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Shape 29"/>
          <p:cNvSpPr/>
          <p:nvPr/>
        </p:nvSpPr>
        <p:spPr>
          <a:xfrm>
            <a:off x="9217152" y="2843784"/>
            <a:ext cx="384048" cy="384048"/>
          </a:xfrm>
          <a:prstGeom prst="ellipse">
            <a:avLst/>
          </a:prstGeom>
          <a:solidFill>
            <a:srgbClr val="F0A429"/>
          </a:solidFill>
          <a:ln w="12700">
            <a:solidFill>
              <a:srgbClr val="F0A429"/>
            </a:solidFill>
            <a:prstDash val="solid"/>
          </a:ln>
        </p:spPr>
        <p:txBody>
          <a:bodyPr/>
          <a:p/>
        </p:txBody>
      </p:sp>
      <p:sp>
        <p:nvSpPr>
          <p:cNvPr id="32" name="Text 30"/>
          <p:cNvSpPr/>
          <p:nvPr/>
        </p:nvSpPr>
        <p:spPr>
          <a:xfrm>
            <a:off x="9217152"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33" name="Text 31"/>
          <p:cNvSpPr/>
          <p:nvPr/>
        </p:nvSpPr>
        <p:spPr>
          <a:xfrm>
            <a:off x="9692640"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Manpower</a:t>
            </a:r>
            <a:endParaRPr lang="en-US" sz="1350" dirty="0"/>
          </a:p>
        </p:txBody>
      </p:sp>
      <p:sp>
        <p:nvSpPr>
          <p:cNvPr id="34" name="Text 32"/>
          <p:cNvSpPr/>
          <p:nvPr/>
        </p:nvSpPr>
        <p:spPr>
          <a:xfrm>
            <a:off x="9217152"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People, days, shifts, overtime</a:t>
            </a:r>
            <a:endParaRPr lang="en-US" sz="1100" dirty="0"/>
          </a:p>
        </p:txBody>
      </p:sp>
      <p:sp>
        <p:nvSpPr>
          <p:cNvPr id="35" name="Shape 33"/>
          <p:cNvSpPr/>
          <p:nvPr/>
        </p:nvSpPr>
        <p:spPr>
          <a:xfrm>
            <a:off x="566928"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6" name="Shape 34"/>
          <p:cNvSpPr/>
          <p:nvPr/>
        </p:nvSpPr>
        <p:spPr>
          <a:xfrm>
            <a:off x="768096" y="4535424"/>
            <a:ext cx="384048" cy="384048"/>
          </a:xfrm>
          <a:prstGeom prst="ellipse">
            <a:avLst/>
          </a:prstGeom>
          <a:solidFill>
            <a:srgbClr val="F0A429"/>
          </a:solidFill>
          <a:ln w="12700">
            <a:solidFill>
              <a:srgbClr val="F0A429"/>
            </a:solidFill>
            <a:prstDash val="solid"/>
          </a:ln>
        </p:spPr>
        <p:txBody>
          <a:bodyPr/>
          <a:p/>
        </p:txBody>
      </p:sp>
      <p:sp>
        <p:nvSpPr>
          <p:cNvPr id="37" name="Text 35"/>
          <p:cNvSpPr/>
          <p:nvPr/>
        </p:nvSpPr>
        <p:spPr>
          <a:xfrm>
            <a:off x="768096"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5</a:t>
            </a:r>
            <a:endParaRPr lang="en-US" sz="1300" dirty="0"/>
          </a:p>
        </p:txBody>
      </p:sp>
      <p:sp>
        <p:nvSpPr>
          <p:cNvPr id="38" name="Text 36"/>
          <p:cNvSpPr/>
          <p:nvPr/>
        </p:nvSpPr>
        <p:spPr>
          <a:xfrm>
            <a:off x="1243584"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Resources</a:t>
            </a:r>
            <a:endParaRPr lang="en-US" sz="1350" dirty="0"/>
          </a:p>
        </p:txBody>
      </p:sp>
      <p:sp>
        <p:nvSpPr>
          <p:cNvPr id="39" name="Text 37"/>
          <p:cNvSpPr/>
          <p:nvPr/>
        </p:nvSpPr>
        <p:spPr>
          <a:xfrm>
            <a:off x="768096"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Tools &amp; Equipment, Materials and PPE</a:t>
            </a:r>
            <a:endParaRPr lang="en-US" sz="1100" dirty="0"/>
          </a:p>
        </p:txBody>
      </p:sp>
      <p:sp>
        <p:nvSpPr>
          <p:cNvPr id="40" name="Shape 38"/>
          <p:cNvSpPr/>
          <p:nvPr/>
        </p:nvSpPr>
        <p:spPr>
          <a:xfrm>
            <a:off x="3383280"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1" name="Shape 39"/>
          <p:cNvSpPr/>
          <p:nvPr/>
        </p:nvSpPr>
        <p:spPr>
          <a:xfrm>
            <a:off x="3584448" y="4535424"/>
            <a:ext cx="384048" cy="384048"/>
          </a:xfrm>
          <a:prstGeom prst="ellipse">
            <a:avLst/>
          </a:prstGeom>
          <a:solidFill>
            <a:srgbClr val="F0A429"/>
          </a:solidFill>
          <a:ln w="12700">
            <a:solidFill>
              <a:srgbClr val="F0A429"/>
            </a:solidFill>
            <a:prstDash val="solid"/>
          </a:ln>
        </p:spPr>
        <p:txBody>
          <a:bodyPr/>
          <a:p/>
        </p:txBody>
      </p:sp>
      <p:sp>
        <p:nvSpPr>
          <p:cNvPr id="42" name="Text 40"/>
          <p:cNvSpPr/>
          <p:nvPr/>
        </p:nvSpPr>
        <p:spPr>
          <a:xfrm>
            <a:off x="3584448"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6</a:t>
            </a:r>
            <a:endParaRPr lang="en-US" sz="1300" dirty="0"/>
          </a:p>
        </p:txBody>
      </p:sp>
      <p:sp>
        <p:nvSpPr>
          <p:cNvPr id="43" name="Text 41"/>
          <p:cNvSpPr/>
          <p:nvPr/>
        </p:nvSpPr>
        <p:spPr>
          <a:xfrm>
            <a:off x="4059936"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Miscellaneous</a:t>
            </a:r>
            <a:endParaRPr lang="en-US" sz="1350" dirty="0"/>
          </a:p>
        </p:txBody>
      </p:sp>
      <p:sp>
        <p:nvSpPr>
          <p:cNvPr id="44" name="Text 42"/>
          <p:cNvSpPr/>
          <p:nvPr/>
        </p:nvSpPr>
        <p:spPr>
          <a:xfrm>
            <a:off x="3584448"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Accommodation, transport, admin, insurance</a:t>
            </a:r>
            <a:endParaRPr lang="en-US" sz="1100" dirty="0"/>
          </a:p>
        </p:txBody>
      </p:sp>
      <p:sp>
        <p:nvSpPr>
          <p:cNvPr id="45" name="Shape 43"/>
          <p:cNvSpPr/>
          <p:nvPr/>
        </p:nvSpPr>
        <p:spPr>
          <a:xfrm>
            <a:off x="6199632"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6" name="Shape 44"/>
          <p:cNvSpPr/>
          <p:nvPr/>
        </p:nvSpPr>
        <p:spPr>
          <a:xfrm>
            <a:off x="6400800" y="4535424"/>
            <a:ext cx="384048" cy="384048"/>
          </a:xfrm>
          <a:prstGeom prst="ellipse">
            <a:avLst/>
          </a:prstGeom>
          <a:solidFill>
            <a:srgbClr val="F0A429"/>
          </a:solidFill>
          <a:ln w="12700">
            <a:solidFill>
              <a:srgbClr val="F0A429"/>
            </a:solidFill>
            <a:prstDash val="solid"/>
          </a:ln>
        </p:spPr>
        <p:txBody>
          <a:bodyPr/>
          <a:p/>
        </p:txBody>
      </p:sp>
      <p:sp>
        <p:nvSpPr>
          <p:cNvPr id="47" name="Text 45"/>
          <p:cNvSpPr/>
          <p:nvPr/>
        </p:nvSpPr>
        <p:spPr>
          <a:xfrm>
            <a:off x="6400800"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7</a:t>
            </a:r>
            <a:endParaRPr lang="en-US" sz="1300" dirty="0"/>
          </a:p>
        </p:txBody>
      </p:sp>
      <p:sp>
        <p:nvSpPr>
          <p:cNvPr id="48" name="Text 46"/>
          <p:cNvSpPr/>
          <p:nvPr/>
        </p:nvSpPr>
        <p:spPr>
          <a:xfrm>
            <a:off x="6876288"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Summary</a:t>
            </a:r>
            <a:endParaRPr lang="en-US" sz="1350" dirty="0"/>
          </a:p>
        </p:txBody>
      </p:sp>
      <p:sp>
        <p:nvSpPr>
          <p:cNvPr id="49" name="Text 47"/>
          <p:cNvSpPr/>
          <p:nvPr/>
        </p:nvSpPr>
        <p:spPr>
          <a:xfrm>
            <a:off x="6400800"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Margin, notes, signatories</a:t>
            </a:r>
            <a:endParaRPr lang="en-US" sz="1100" dirty="0"/>
          </a:p>
        </p:txBody>
      </p:sp>
      <p:sp>
        <p:nvSpPr>
          <p:cNvPr id="50" name="Shape 48"/>
          <p:cNvSpPr/>
          <p:nvPr/>
        </p:nvSpPr>
        <p:spPr>
          <a:xfrm>
            <a:off x="9015984"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1" name="Shape 49"/>
          <p:cNvSpPr/>
          <p:nvPr/>
        </p:nvSpPr>
        <p:spPr>
          <a:xfrm>
            <a:off x="9217152" y="4535424"/>
            <a:ext cx="384048" cy="384048"/>
          </a:xfrm>
          <a:prstGeom prst="ellipse">
            <a:avLst/>
          </a:prstGeom>
          <a:solidFill>
            <a:srgbClr val="F0A429"/>
          </a:solidFill>
          <a:ln w="12700">
            <a:solidFill>
              <a:srgbClr val="F0A429"/>
            </a:solidFill>
            <a:prstDash val="solid"/>
          </a:ln>
        </p:spPr>
        <p:txBody>
          <a:bodyPr/>
          <a:p/>
        </p:txBody>
      </p:sp>
      <p:sp>
        <p:nvSpPr>
          <p:cNvPr id="52" name="Text 50"/>
          <p:cNvSpPr/>
          <p:nvPr/>
        </p:nvSpPr>
        <p:spPr>
          <a:xfrm>
            <a:off x="9217152"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8</a:t>
            </a:r>
            <a:endParaRPr lang="en-US" sz="1300" dirty="0"/>
          </a:p>
        </p:txBody>
      </p:sp>
      <p:sp>
        <p:nvSpPr>
          <p:cNvPr id="53" name="Text 51"/>
          <p:cNvSpPr/>
          <p:nvPr/>
        </p:nvSpPr>
        <p:spPr>
          <a:xfrm>
            <a:off x="9692640"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Save &amp; Generate</a:t>
            </a:r>
            <a:endParaRPr lang="en-US" sz="1350" dirty="0"/>
          </a:p>
        </p:txBody>
      </p:sp>
      <p:sp>
        <p:nvSpPr>
          <p:cNvPr id="54" name="Text 52"/>
          <p:cNvSpPr/>
          <p:nvPr/>
        </p:nvSpPr>
        <p:spPr>
          <a:xfrm>
            <a:off x="9217152"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Check CE, save, print the form</a:t>
            </a:r>
            <a:endParaRPr lang="en-US" sz="1100" dirty="0"/>
          </a:p>
        </p:txBody>
      </p:sp>
      <p:sp>
        <p:nvSpPr>
          <p:cNvPr id="55" name="Text 53"/>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6" name="Text 54"/>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BEFORE YOU START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Getting in</a:t>
            </a:r>
            <a:endParaRPr lang="en-US" sz="3200" dirty="0"/>
          </a:p>
        </p:txBody>
      </p:sp>
      <p:sp>
        <p:nvSpPr>
          <p:cNvPr id="4" name="Shape 2"/>
          <p:cNvSpPr/>
          <p:nvPr/>
        </p:nvSpPr>
        <p:spPr>
          <a:xfrm>
            <a:off x="566928" y="1408176"/>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Shape 3"/>
          <p:cNvSpPr/>
          <p:nvPr/>
        </p:nvSpPr>
        <p:spPr>
          <a:xfrm>
            <a:off x="786384" y="1664208"/>
            <a:ext cx="402336" cy="402336"/>
          </a:xfrm>
          <a:prstGeom prst="ellipse">
            <a:avLst/>
          </a:prstGeom>
          <a:solidFill>
            <a:srgbClr val="F0A429"/>
          </a:solidFill>
          <a:ln w="12700">
            <a:solidFill>
              <a:srgbClr val="F0A429"/>
            </a:solidFill>
            <a:prstDash val="solid"/>
          </a:ln>
        </p:spPr>
        <p:txBody>
          <a:bodyPr/>
          <a:p/>
        </p:txBody>
      </p:sp>
      <p:sp>
        <p:nvSpPr>
          <p:cNvPr id="6" name="Text 4"/>
          <p:cNvSpPr/>
          <p:nvPr/>
        </p:nvSpPr>
        <p:spPr>
          <a:xfrm>
            <a:off x="786384" y="1664208"/>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7" name="Text 5"/>
          <p:cNvSpPr/>
          <p:nvPr/>
        </p:nvSpPr>
        <p:spPr>
          <a:xfrm>
            <a:off x="1353312" y="1527048"/>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Request access</a:t>
            </a:r>
            <a:endParaRPr lang="en-US" sz="1450" dirty="0"/>
          </a:p>
        </p:txBody>
      </p:sp>
      <p:sp>
        <p:nvSpPr>
          <p:cNvPr id="8" name="Text 6"/>
          <p:cNvSpPr/>
          <p:nvPr/>
        </p:nvSpPr>
        <p:spPr>
          <a:xfrm>
            <a:off x="1353312" y="1837944"/>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On the sign-in page choose Request Access. Fill in your name, a username and a password.</a:t>
            </a:r>
            <a:endParaRPr lang="en-US" sz="1150" dirty="0"/>
          </a:p>
        </p:txBody>
      </p:sp>
      <p:sp>
        <p:nvSpPr>
          <p:cNvPr id="9" name="Shape 7"/>
          <p:cNvSpPr/>
          <p:nvPr/>
        </p:nvSpPr>
        <p:spPr>
          <a:xfrm>
            <a:off x="566928" y="2450592"/>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0" name="Shape 8"/>
          <p:cNvSpPr/>
          <p:nvPr/>
        </p:nvSpPr>
        <p:spPr>
          <a:xfrm>
            <a:off x="786384" y="2706624"/>
            <a:ext cx="402336" cy="402336"/>
          </a:xfrm>
          <a:prstGeom prst="ellipse">
            <a:avLst/>
          </a:prstGeom>
          <a:solidFill>
            <a:srgbClr val="F0A429"/>
          </a:solidFill>
          <a:ln w="12700">
            <a:solidFill>
              <a:srgbClr val="F0A429"/>
            </a:solidFill>
            <a:prstDash val="solid"/>
          </a:ln>
        </p:spPr>
        <p:txBody>
          <a:bodyPr/>
          <a:p/>
        </p:txBody>
      </p:sp>
      <p:sp>
        <p:nvSpPr>
          <p:cNvPr id="11" name="Text 9"/>
          <p:cNvSpPr/>
          <p:nvPr/>
        </p:nvSpPr>
        <p:spPr>
          <a:xfrm>
            <a:off x="786384" y="270662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2" name="Text 10"/>
          <p:cNvSpPr/>
          <p:nvPr/>
        </p:nvSpPr>
        <p:spPr>
          <a:xfrm>
            <a:off x="1353312" y="2569464"/>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Wait for approval</a:t>
            </a:r>
            <a:endParaRPr lang="en-US" sz="1450" dirty="0"/>
          </a:p>
        </p:txBody>
      </p:sp>
      <p:sp>
        <p:nvSpPr>
          <p:cNvPr id="13" name="Text 11"/>
          <p:cNvSpPr/>
          <p:nvPr/>
        </p:nvSpPr>
        <p:spPr>
          <a:xfrm>
            <a:off x="1353312" y="2880360"/>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An admin approves your account. You cannot sign in until they do — the app will say "pending".</a:t>
            </a:r>
            <a:endParaRPr lang="en-US" sz="1150" dirty="0"/>
          </a:p>
        </p:txBody>
      </p:sp>
      <p:sp>
        <p:nvSpPr>
          <p:cNvPr id="14" name="Shape 12"/>
          <p:cNvSpPr/>
          <p:nvPr/>
        </p:nvSpPr>
        <p:spPr>
          <a:xfrm>
            <a:off x="566928" y="3493008"/>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5" name="Shape 13"/>
          <p:cNvSpPr/>
          <p:nvPr/>
        </p:nvSpPr>
        <p:spPr>
          <a:xfrm>
            <a:off x="786384" y="3749040"/>
            <a:ext cx="402336" cy="402336"/>
          </a:xfrm>
          <a:prstGeom prst="ellipse">
            <a:avLst/>
          </a:prstGeom>
          <a:solidFill>
            <a:srgbClr val="F0A429"/>
          </a:solidFill>
          <a:ln w="12700">
            <a:solidFill>
              <a:srgbClr val="F0A429"/>
            </a:solidFill>
            <a:prstDash val="solid"/>
          </a:ln>
        </p:spPr>
        <p:txBody>
          <a:bodyPr/>
          <a:p/>
        </p:txBody>
      </p:sp>
      <p:sp>
        <p:nvSpPr>
          <p:cNvPr id="16" name="Text 14"/>
          <p:cNvSpPr/>
          <p:nvPr/>
        </p:nvSpPr>
        <p:spPr>
          <a:xfrm>
            <a:off x="786384" y="3749040"/>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7" name="Text 15"/>
          <p:cNvSpPr/>
          <p:nvPr/>
        </p:nvSpPr>
        <p:spPr>
          <a:xfrm>
            <a:off x="1353312" y="3611880"/>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Sign in</a:t>
            </a:r>
            <a:endParaRPr lang="en-US" sz="1450" dirty="0"/>
          </a:p>
        </p:txBody>
      </p:sp>
      <p:sp>
        <p:nvSpPr>
          <p:cNvPr id="18" name="Text 16"/>
          <p:cNvSpPr/>
          <p:nvPr/>
        </p:nvSpPr>
        <p:spPr>
          <a:xfrm>
            <a:off x="1353312" y="3922776"/>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Use the username you chose, not your email address.</a:t>
            </a:r>
            <a:endParaRPr lang="en-US" sz="1150" dirty="0"/>
          </a:p>
        </p:txBody>
      </p:sp>
      <p:sp>
        <p:nvSpPr>
          <p:cNvPr id="19" name="Shape 17"/>
          <p:cNvSpPr/>
          <p:nvPr/>
        </p:nvSpPr>
        <p:spPr>
          <a:xfrm>
            <a:off x="566928" y="4535424"/>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0" name="Shape 18"/>
          <p:cNvSpPr/>
          <p:nvPr/>
        </p:nvSpPr>
        <p:spPr>
          <a:xfrm>
            <a:off x="786384" y="4791456"/>
            <a:ext cx="402336" cy="402336"/>
          </a:xfrm>
          <a:prstGeom prst="ellipse">
            <a:avLst/>
          </a:prstGeom>
          <a:solidFill>
            <a:srgbClr val="58A6FF"/>
          </a:solidFill>
          <a:ln w="12700">
            <a:solidFill>
              <a:srgbClr val="58A6FF"/>
            </a:solidFill>
            <a:prstDash val="solid"/>
          </a:ln>
        </p:spPr>
        <p:txBody>
          <a:bodyPr/>
          <a:p/>
        </p:txBody>
      </p:sp>
      <p:sp>
        <p:nvSpPr>
          <p:cNvPr id="21" name="Text 19"/>
          <p:cNvSpPr/>
          <p:nvPr/>
        </p:nvSpPr>
        <p:spPr>
          <a:xfrm>
            <a:off x="786384" y="4791456"/>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2" name="Text 20"/>
          <p:cNvSpPr/>
          <p:nvPr/>
        </p:nvSpPr>
        <p:spPr>
          <a:xfrm>
            <a:off x="1353312" y="4654296"/>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Change your password</a:t>
            </a:r>
            <a:endParaRPr lang="en-US" sz="1450" dirty="0"/>
          </a:p>
        </p:txBody>
      </p:sp>
      <p:sp>
        <p:nvSpPr>
          <p:cNvPr id="23" name="Text 21"/>
          <p:cNvSpPr/>
          <p:nvPr/>
        </p:nvSpPr>
        <p:spPr>
          <a:xfrm>
            <a:off x="1353312" y="4965192"/>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Use the Password button in the top bar. This needs a connection — it cannot be done offline.</a:t>
            </a:r>
            <a:endParaRPr lang="en-US" sz="1150" dirty="0"/>
          </a:p>
        </p:txBody>
      </p:sp>
      <p:sp>
        <p:nvSpPr>
          <p:cNvPr id="24" name="Shape 22"/>
          <p:cNvSpPr/>
          <p:nvPr/>
        </p:nvSpPr>
        <p:spPr>
          <a:xfrm>
            <a:off x="7772400" y="1408176"/>
            <a:ext cx="3840480" cy="2880360"/>
          </a:xfrm>
          <a:prstGeom prst="roundRect">
            <a:avLst>
              <a:gd name="adj" fmla="val 254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01000" y="1609344"/>
            <a:ext cx="3383280" cy="320040"/>
          </a:xfrm>
          <a:prstGeom prst="rect">
            <a:avLst/>
          </a:prstGeom>
          <a:noFill/>
          <a:ln/>
        </p:spPr>
        <p:txBody>
          <a:bodyPr wrap="square" lIns="0" tIns="0" rIns="0" bIns="0" rtlCol="0" anchor="ctr"/>
          <a:lstStyle/>
          <a:p>
            <a:pPr indent="0" marL="0">
              <a:buNone/>
            </a:pPr>
            <a:r>
              <a:rPr lang="en-US" sz="1500" b="1" dirty="0">
                <a:solidFill>
                  <a:srgbClr val="F85149"/>
                </a:solidFill>
                <a:latin typeface="Arial" pitchFamily="34" charset="0"/>
                <a:ea typeface="Arial" pitchFamily="34" charset="-122"/>
                <a:cs typeface="Arial" pitchFamily="34" charset="-120"/>
              </a:rPr>
              <a:t>If sign-in fails</a:t>
            </a:r>
            <a:endParaRPr lang="en-US" sz="1500" dirty="0"/>
          </a:p>
        </p:txBody>
      </p:sp>
      <p:sp>
        <p:nvSpPr>
          <p:cNvPr id="26" name="Text 24"/>
          <p:cNvSpPr/>
          <p:nvPr/>
        </p:nvSpPr>
        <p:spPr>
          <a:xfrm>
            <a:off x="8001000" y="2029968"/>
            <a:ext cx="3383280" cy="2103120"/>
          </a:xfrm>
          <a:prstGeom prst="rect">
            <a:avLst/>
          </a:prstGeom>
          <a:noFill/>
          <a:ln/>
        </p:spPr>
        <p:txBody>
          <a:bodyPr wrap="square" lIns="0" tIns="0" rIns="0" bIns="0" rtlCol="0" anchor="t"/>
          <a:lstStyle/>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"Account not found" while offline means this browser has not seen your account before — connect once first</a:t>
            </a:r>
            <a:endParaRPr lang="en-US" sz="1150" dirty="0"/>
          </a:p>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Too many wrong passwords locks the account briefly; wait it out</a:t>
            </a:r>
            <a:endParaRPr lang="en-US" sz="1150" dirty="0"/>
          </a:p>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Still stuck? An admin can reset your password from the Users tab</a:t>
            </a:r>
            <a:endParaRPr lang="en-US" sz="1150" dirty="0"/>
          </a:p>
        </p:txBody>
      </p:sp>
      <p:sp>
        <p:nvSpPr>
          <p:cNvPr id="27" name="Shape 25"/>
          <p:cNvSpPr/>
          <p:nvPr/>
        </p:nvSpPr>
        <p:spPr>
          <a:xfrm>
            <a:off x="7772400" y="4471416"/>
            <a:ext cx="3840480" cy="1005840"/>
          </a:xfrm>
          <a:prstGeom prst="roundRect">
            <a:avLst>
              <a:gd name="adj" fmla="val 727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8001000" y="4608576"/>
            <a:ext cx="338328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Your account is yours</a:t>
            </a:r>
            <a:endParaRPr lang="en-US" sz="1350" dirty="0"/>
          </a:p>
        </p:txBody>
      </p:sp>
      <p:sp>
        <p:nvSpPr>
          <p:cNvPr id="29" name="Text 27"/>
          <p:cNvSpPr/>
          <p:nvPr/>
        </p:nvSpPr>
        <p:spPr>
          <a:xfrm>
            <a:off x="8001000" y="4882896"/>
            <a:ext cx="338328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Never share it. Every CE records who saved it, and account changes are logged.</a:t>
            </a:r>
            <a:endParaRPr lang="en-US" sz="1100" dirty="0"/>
          </a:p>
        </p:txBody>
      </p:sp>
      <p:sp>
        <p:nvSpPr>
          <p:cNvPr id="30" name="Text 28"/>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1" name="Text 29"/>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1 · PROJECT INFO</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Fill in the header first</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Shape 3"/>
          <p:cNvSpPr/>
          <p:nvPr/>
        </p:nvSpPr>
        <p:spPr>
          <a:xfrm>
            <a:off x="594360"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6" name="Text 4"/>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Project Info</a:t>
            </a:r>
            <a:endParaRPr lang="en-US" sz="900" dirty="0"/>
          </a:p>
        </p:txBody>
      </p:sp>
      <p:sp>
        <p:nvSpPr>
          <p:cNvPr id="7" name="Text 5"/>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786384" y="205740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CE Number</a:t>
            </a:r>
            <a:endParaRPr lang="en-US" sz="1250" dirty="0"/>
          </a:p>
        </p:txBody>
      </p:sp>
      <p:sp>
        <p:nvSpPr>
          <p:cNvPr id="17" name="Text 15"/>
          <p:cNvSpPr/>
          <p:nvPr/>
        </p:nvSpPr>
        <p:spPr>
          <a:xfrm>
            <a:off x="786384" y="231343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Auto-suggested. 2–30 characters, letters, numbers and dashes. Must be unique.</a:t>
            </a:r>
            <a:endParaRPr lang="en-US" sz="1050" dirty="0"/>
          </a:p>
        </p:txBody>
      </p:sp>
      <p:sp>
        <p:nvSpPr>
          <p:cNvPr id="18" name="Shape 16"/>
          <p:cNvSpPr/>
          <p:nvPr/>
        </p:nvSpPr>
        <p:spPr>
          <a:xfrm>
            <a:off x="566928" y="273405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786384" y="278892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Client name</a:t>
            </a:r>
            <a:endParaRPr lang="en-US" sz="1250" dirty="0"/>
          </a:p>
        </p:txBody>
      </p:sp>
      <p:sp>
        <p:nvSpPr>
          <p:cNvPr id="20" name="Text 18"/>
          <p:cNvSpPr/>
          <p:nvPr/>
        </p:nvSpPr>
        <p:spPr>
          <a:xfrm>
            <a:off x="786384" y="304495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Required before you can save.</a:t>
            </a:r>
            <a:endParaRPr lang="en-US" sz="1050" dirty="0"/>
          </a:p>
        </p:txBody>
      </p:sp>
      <p:sp>
        <p:nvSpPr>
          <p:cNvPr id="21" name="Shape 19"/>
          <p:cNvSpPr/>
          <p:nvPr/>
        </p:nvSpPr>
        <p:spPr>
          <a:xfrm>
            <a:off x="566928" y="346557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786384" y="352044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Project description</a:t>
            </a:r>
            <a:endParaRPr lang="en-US" sz="1250" dirty="0"/>
          </a:p>
        </p:txBody>
      </p:sp>
      <p:sp>
        <p:nvSpPr>
          <p:cNvPr id="23" name="Text 21"/>
          <p:cNvSpPr/>
          <p:nvPr/>
        </p:nvSpPr>
        <p:spPr>
          <a:xfrm>
            <a:off x="786384" y="377647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One or two sentences. Printed on the CE.</a:t>
            </a:r>
            <a:endParaRPr lang="en-US" sz="1050" dirty="0"/>
          </a:p>
        </p:txBody>
      </p:sp>
      <p:sp>
        <p:nvSpPr>
          <p:cNvPr id="24" name="Shape 22"/>
          <p:cNvSpPr/>
          <p:nvPr/>
        </p:nvSpPr>
        <p:spPr>
          <a:xfrm>
            <a:off x="566928" y="419709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786384" y="425196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Quantity</a:t>
            </a:r>
            <a:endParaRPr lang="en-US" sz="1250" dirty="0"/>
          </a:p>
        </p:txBody>
      </p:sp>
      <p:sp>
        <p:nvSpPr>
          <p:cNvPr id="26" name="Text 24"/>
          <p:cNvSpPr/>
          <p:nvPr/>
        </p:nvSpPr>
        <p:spPr>
          <a:xfrm>
            <a:off x="786384" y="450799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Divides the total into a unit price. Leave it at 1 for a one-off job.</a:t>
            </a:r>
            <a:endParaRPr lang="en-US" sz="1050" dirty="0"/>
          </a:p>
        </p:txBody>
      </p:sp>
      <p:sp>
        <p:nvSpPr>
          <p:cNvPr id="27" name="Shape 25"/>
          <p:cNvSpPr/>
          <p:nvPr/>
        </p:nvSpPr>
        <p:spPr>
          <a:xfrm>
            <a:off x="566928" y="492861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786384" y="498348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No. of days</a:t>
            </a:r>
            <a:endParaRPr lang="en-US" sz="1250" dirty="0"/>
          </a:p>
        </p:txBody>
      </p:sp>
      <p:sp>
        <p:nvSpPr>
          <p:cNvPr id="29" name="Text 27"/>
          <p:cNvSpPr/>
          <p:nvPr/>
        </p:nvSpPr>
        <p:spPr>
          <a:xfrm>
            <a:off x="786384" y="523951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Becomes the default duration for every manpower row you add.</a:t>
            </a:r>
            <a:endParaRPr lang="en-US" sz="1050" dirty="0"/>
          </a:p>
        </p:txBody>
      </p:sp>
      <p:sp>
        <p:nvSpPr>
          <p:cNvPr id="30" name="Shape 28"/>
          <p:cNvSpPr/>
          <p:nvPr/>
        </p:nvSpPr>
        <p:spPr>
          <a:xfrm>
            <a:off x="566928" y="566013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786384" y="571500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Discipline · Department · Status</a:t>
            </a:r>
            <a:endParaRPr lang="en-US" sz="1250" dirty="0"/>
          </a:p>
        </p:txBody>
      </p:sp>
      <p:sp>
        <p:nvSpPr>
          <p:cNvPr id="32" name="Text 30"/>
          <p:cNvSpPr/>
          <p:nvPr/>
        </p:nvSpPr>
        <p:spPr>
          <a:xfrm>
            <a:off x="786384" y="597103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Appear on the printed form.</a:t>
            </a:r>
            <a:endParaRPr lang="en-US" sz="1050" dirty="0"/>
          </a:p>
        </p:txBody>
      </p:sp>
      <p:sp>
        <p:nvSpPr>
          <p:cNvPr id="33" name="Shape 31"/>
          <p:cNvSpPr/>
          <p:nvPr/>
        </p:nvSpPr>
        <p:spPr>
          <a:xfrm>
            <a:off x="7589520" y="2002536"/>
            <a:ext cx="4023360" cy="2103120"/>
          </a:xfrm>
          <a:prstGeom prst="roundRect">
            <a:avLst>
              <a:gd name="adj" fmla="val 347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7818120" y="2185416"/>
            <a:ext cx="3566160" cy="292608"/>
          </a:xfrm>
          <a:prstGeom prst="rect">
            <a:avLst/>
          </a:prstGeom>
          <a:noFill/>
          <a:ln/>
        </p:spPr>
        <p:txBody>
          <a:bodyPr wrap="square" lIns="0" tIns="0" rIns="0" bIns="0" rtlCol="0" anchor="ctr"/>
          <a:lstStyle/>
          <a:p>
            <a:pPr indent="0" marL="0">
              <a:buNone/>
            </a:pPr>
            <a:r>
              <a:rPr lang="en-US" sz="1400" b="1" dirty="0">
                <a:solidFill>
                  <a:srgbClr val="F0A429"/>
                </a:solidFill>
                <a:latin typeface="Arial" pitchFamily="34" charset="0"/>
                <a:ea typeface="Arial" pitchFamily="34" charset="-122"/>
                <a:cs typeface="Arial" pitchFamily="34" charset="-120"/>
              </a:rPr>
              <a:t>Required to save</a:t>
            </a:r>
            <a:endParaRPr lang="en-US" sz="1400" dirty="0"/>
          </a:p>
        </p:txBody>
      </p:sp>
      <p:sp>
        <p:nvSpPr>
          <p:cNvPr id="35" name="Text 33"/>
          <p:cNvSpPr/>
          <p:nvPr/>
        </p:nvSpPr>
        <p:spPr>
          <a:xfrm>
            <a:off x="7818120" y="2551176"/>
            <a:ext cx="3566160" cy="1371600"/>
          </a:xfrm>
          <a:prstGeom prst="rect">
            <a:avLst/>
          </a:prstGeom>
          <a:noFill/>
          <a:ln/>
        </p:spPr>
        <p:txBody>
          <a:bodyPr wrap="square" lIns="0" tIns="0" rIns="0" bIns="0" rtlCol="0" anchor="t"/>
          <a:lstStyle/>
          <a:p>
            <a:pPr algn="l" indent="0" marL="0">
              <a:lnSpc>
                <a:spcPts val="1700"/>
              </a:lnSpc>
              <a:buNone/>
            </a:pPr>
            <a:r>
              <a:rPr lang="en-US" sz="1200" dirty="0">
                <a:solidFill>
                  <a:srgbClr val="E6EDF3"/>
                </a:solidFill>
                <a:latin typeface="Calibri" pitchFamily="34" charset="0"/>
                <a:ea typeface="Calibri" pitchFamily="34" charset="-122"/>
                <a:cs typeface="Calibri" pitchFamily="34" charset="-120"/>
              </a:rPr>
              <a:t>The app will refuse to save without a CE Number and a Client name. Everything else can be filled in later — but Quantity and No. of days change your numbers, so set them now.</a:t>
            </a:r>
            <a:endParaRPr lang="en-US" sz="1200" dirty="0"/>
          </a:p>
        </p:txBody>
      </p:sp>
      <p:sp>
        <p:nvSpPr>
          <p:cNvPr id="36" name="Shape 34"/>
          <p:cNvSpPr/>
          <p:nvPr/>
        </p:nvSpPr>
        <p:spPr>
          <a:xfrm>
            <a:off x="7589520" y="4288536"/>
            <a:ext cx="4023360" cy="1920240"/>
          </a:xfrm>
          <a:prstGeom prst="roundRect">
            <a:avLst>
              <a:gd name="adj" fmla="val 381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7" name="Text 35"/>
          <p:cNvSpPr/>
          <p:nvPr/>
        </p:nvSpPr>
        <p:spPr>
          <a:xfrm>
            <a:off x="7818120" y="4453128"/>
            <a:ext cx="3566160" cy="274320"/>
          </a:xfrm>
          <a:prstGeom prst="rect">
            <a:avLst/>
          </a:prstGeom>
          <a:noFill/>
          <a:ln/>
        </p:spPr>
        <p:txBody>
          <a:bodyPr wrap="square" lIns="0" tIns="0" rIns="0" bIns="0" rtlCol="0" anchor="ctr"/>
          <a:lstStyle/>
          <a:p>
            <a:pPr indent="0" marL="0">
              <a:buNone/>
            </a:pPr>
            <a:r>
              <a:rPr lang="en-US" sz="1400" b="1" dirty="0">
                <a:solidFill>
                  <a:srgbClr val="58A6FF"/>
                </a:solidFill>
                <a:latin typeface="Arial" pitchFamily="34" charset="0"/>
                <a:ea typeface="Arial" pitchFamily="34" charset="-122"/>
                <a:cs typeface="Arial" pitchFamily="34" charset="-120"/>
              </a:rPr>
              <a:t>Shortcut</a:t>
            </a:r>
            <a:endParaRPr lang="en-US" sz="1400" dirty="0"/>
          </a:p>
        </p:txBody>
      </p:sp>
      <p:sp>
        <p:nvSpPr>
          <p:cNvPr id="38" name="Text 36"/>
          <p:cNvSpPr/>
          <p:nvPr/>
        </p:nvSpPr>
        <p:spPr>
          <a:xfrm>
            <a:off x="7818120" y="4791456"/>
            <a:ext cx="3566160" cy="1280160"/>
          </a:xfrm>
          <a:prstGeom prst="rect">
            <a:avLst/>
          </a:prstGeom>
          <a:noFill/>
          <a:ln/>
        </p:spPr>
        <p:txBody>
          <a:bodyPr wrap="square" lIns="0" tIns="0" rIns="0" bIns="0" rtlCol="0" anchor="t"/>
          <a:lstStyle/>
          <a:p>
            <a:pPr algn="l" indent="0" marL="0">
              <a:lnSpc>
                <a:spcPts val="1700"/>
              </a:lnSpc>
              <a:buNone/>
            </a:pPr>
            <a:r>
              <a:rPr lang="en-US" sz="1200" dirty="0">
                <a:solidFill>
                  <a:srgbClr val="E6EDF3"/>
                </a:solidFill>
                <a:latin typeface="Calibri" pitchFamily="34" charset="0"/>
                <a:ea typeface="Calibri" pitchFamily="34" charset="-122"/>
                <a:cs typeface="Calibri" pitchFamily="34" charset="-120"/>
              </a:rPr>
              <a:t>Drop a client enquiry (PDF, Word, Excel) on the Client Document box and the app will read it and pre-fill what it can.</a:t>
            </a:r>
            <a:endParaRPr lang="en-US" sz="120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1 · SERVICE SCOPE BUILDER</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fastest way to start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Still on Project Info. Pick standard services from the library and the app fills in the scope AND the resources.</a:t>
            </a:r>
            <a:endParaRPr lang="en-US" sz="1400" dirty="0"/>
          </a:p>
        </p:txBody>
      </p:sp>
      <p:sp>
        <p:nvSpPr>
          <p:cNvPr id="5" name="Shape 3"/>
          <p:cNvSpPr/>
          <p:nvPr/>
        </p:nvSpPr>
        <p:spPr>
          <a:xfrm>
            <a:off x="566928"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Shape 4"/>
          <p:cNvSpPr/>
          <p:nvPr/>
        </p:nvSpPr>
        <p:spPr>
          <a:xfrm>
            <a:off x="786384" y="2066544"/>
            <a:ext cx="402336" cy="402336"/>
          </a:xfrm>
          <a:prstGeom prst="ellipse">
            <a:avLst/>
          </a:prstGeom>
          <a:solidFill>
            <a:srgbClr val="F0A429"/>
          </a:solidFill>
          <a:ln w="12700">
            <a:solidFill>
              <a:srgbClr val="F0A429"/>
            </a:solidFill>
            <a:prstDash val="solid"/>
          </a:ln>
        </p:spPr>
        <p:txBody>
          <a:bodyPr/>
          <a:p/>
        </p:txBody>
      </p:sp>
      <p:sp>
        <p:nvSpPr>
          <p:cNvPr id="7" name="Text 5"/>
          <p:cNvSpPr/>
          <p:nvPr/>
        </p:nvSpPr>
        <p:spPr>
          <a:xfrm>
            <a:off x="786384"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8" name="Text 6"/>
          <p:cNvSpPr/>
          <p:nvPr/>
        </p:nvSpPr>
        <p:spPr>
          <a:xfrm>
            <a:off x="786384"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Tick the services</a:t>
            </a:r>
            <a:endParaRPr lang="en-US" sz="1300" dirty="0"/>
          </a:p>
        </p:txBody>
      </p:sp>
      <p:sp>
        <p:nvSpPr>
          <p:cNvPr id="9" name="Text 7"/>
          <p:cNvSpPr/>
          <p:nvPr/>
        </p:nvSpPr>
        <p:spPr>
          <a:xfrm>
            <a:off x="786384"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Search or filter by category, then tick what the job involves.</a:t>
            </a:r>
            <a:endParaRPr lang="en-US" sz="1050" dirty="0"/>
          </a:p>
        </p:txBody>
      </p:sp>
      <p:sp>
        <p:nvSpPr>
          <p:cNvPr id="10" name="Text 8"/>
          <p:cNvSpPr/>
          <p:nvPr/>
        </p:nvSpPr>
        <p:spPr>
          <a:xfrm>
            <a:off x="3218688"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11" name="Shape 9"/>
          <p:cNvSpPr/>
          <p:nvPr/>
        </p:nvSpPr>
        <p:spPr>
          <a:xfrm>
            <a:off x="3410712"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2" name="Shape 10"/>
          <p:cNvSpPr/>
          <p:nvPr/>
        </p:nvSpPr>
        <p:spPr>
          <a:xfrm>
            <a:off x="3630168" y="2066544"/>
            <a:ext cx="402336" cy="402336"/>
          </a:xfrm>
          <a:prstGeom prst="ellipse">
            <a:avLst/>
          </a:prstGeom>
          <a:solidFill>
            <a:srgbClr val="F0A429"/>
          </a:solidFill>
          <a:ln w="12700">
            <a:solidFill>
              <a:srgbClr val="F0A429"/>
            </a:solidFill>
            <a:prstDash val="solid"/>
          </a:ln>
        </p:spPr>
        <p:txBody>
          <a:bodyPr/>
          <a:p/>
        </p:txBody>
      </p:sp>
      <p:sp>
        <p:nvSpPr>
          <p:cNvPr id="13" name="Text 11"/>
          <p:cNvSpPr/>
          <p:nvPr/>
        </p:nvSpPr>
        <p:spPr>
          <a:xfrm>
            <a:off x="3630168"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4" name="Text 12"/>
          <p:cNvSpPr/>
          <p:nvPr/>
        </p:nvSpPr>
        <p:spPr>
          <a:xfrm>
            <a:off x="3630168"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Set the quantity</a:t>
            </a:r>
            <a:endParaRPr lang="en-US" sz="1300" dirty="0"/>
          </a:p>
        </p:txBody>
      </p:sp>
      <p:sp>
        <p:nvSpPr>
          <p:cNvPr id="15" name="Text 13"/>
          <p:cNvSpPr/>
          <p:nvPr/>
        </p:nvSpPr>
        <p:spPr>
          <a:xfrm>
            <a:off x="3630168"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Use +/- if a service happens more than once.</a:t>
            </a:r>
            <a:endParaRPr lang="en-US" sz="1050" dirty="0"/>
          </a:p>
        </p:txBody>
      </p:sp>
      <p:sp>
        <p:nvSpPr>
          <p:cNvPr id="16" name="Text 14"/>
          <p:cNvSpPr/>
          <p:nvPr/>
        </p:nvSpPr>
        <p:spPr>
          <a:xfrm>
            <a:off x="6062472"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17" name="Shape 15"/>
          <p:cNvSpPr/>
          <p:nvPr/>
        </p:nvSpPr>
        <p:spPr>
          <a:xfrm>
            <a:off x="6254496"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8" name="Shape 16"/>
          <p:cNvSpPr/>
          <p:nvPr/>
        </p:nvSpPr>
        <p:spPr>
          <a:xfrm>
            <a:off x="6473952" y="2066544"/>
            <a:ext cx="402336" cy="402336"/>
          </a:xfrm>
          <a:prstGeom prst="ellipse">
            <a:avLst/>
          </a:prstGeom>
          <a:solidFill>
            <a:srgbClr val="F0A429"/>
          </a:solidFill>
          <a:ln w="12700">
            <a:solidFill>
              <a:srgbClr val="F0A429"/>
            </a:solidFill>
            <a:prstDash val="solid"/>
          </a:ln>
        </p:spPr>
        <p:txBody>
          <a:bodyPr/>
          <a:p/>
        </p:txBody>
      </p:sp>
      <p:sp>
        <p:nvSpPr>
          <p:cNvPr id="19" name="Text 17"/>
          <p:cNvSpPr/>
          <p:nvPr/>
        </p:nvSpPr>
        <p:spPr>
          <a:xfrm>
            <a:off x="6473952"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0" name="Text 18"/>
          <p:cNvSpPr/>
          <p:nvPr/>
        </p:nvSpPr>
        <p:spPr>
          <a:xfrm>
            <a:off x="6473952"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Choose Replace or Add</a:t>
            </a:r>
            <a:endParaRPr lang="en-US" sz="1300" dirty="0"/>
          </a:p>
        </p:txBody>
      </p:sp>
      <p:sp>
        <p:nvSpPr>
          <p:cNvPr id="21" name="Text 19"/>
          <p:cNvSpPr/>
          <p:nvPr/>
        </p:nvSpPr>
        <p:spPr>
          <a:xfrm>
            <a:off x="6473952"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Replace clears the CE first. Add merges into what is already there.</a:t>
            </a:r>
            <a:endParaRPr lang="en-US" sz="1050" dirty="0"/>
          </a:p>
        </p:txBody>
      </p:sp>
      <p:sp>
        <p:nvSpPr>
          <p:cNvPr id="22" name="Text 20"/>
          <p:cNvSpPr/>
          <p:nvPr/>
        </p:nvSpPr>
        <p:spPr>
          <a:xfrm>
            <a:off x="8906256"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23" name="Shape 21"/>
          <p:cNvSpPr/>
          <p:nvPr/>
        </p:nvSpPr>
        <p:spPr>
          <a:xfrm>
            <a:off x="9098280"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4" name="Shape 22"/>
          <p:cNvSpPr/>
          <p:nvPr/>
        </p:nvSpPr>
        <p:spPr>
          <a:xfrm>
            <a:off x="9317736" y="2066544"/>
            <a:ext cx="402336" cy="402336"/>
          </a:xfrm>
          <a:prstGeom prst="ellipse">
            <a:avLst/>
          </a:prstGeom>
          <a:solidFill>
            <a:srgbClr val="F0A429"/>
          </a:solidFill>
          <a:ln w="12700">
            <a:solidFill>
              <a:srgbClr val="F0A429"/>
            </a:solidFill>
            <a:prstDash val="solid"/>
          </a:ln>
        </p:spPr>
        <p:txBody>
          <a:bodyPr/>
          <a:p/>
        </p:txBody>
      </p:sp>
      <p:sp>
        <p:nvSpPr>
          <p:cNvPr id="25" name="Text 23"/>
          <p:cNvSpPr/>
          <p:nvPr/>
        </p:nvSpPr>
        <p:spPr>
          <a:xfrm>
            <a:off x="9317736"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6" name="Text 24"/>
          <p:cNvSpPr/>
          <p:nvPr/>
        </p:nvSpPr>
        <p:spPr>
          <a:xfrm>
            <a:off x="9317736"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Press Apply to CE</a:t>
            </a:r>
            <a:endParaRPr lang="en-US" sz="1300" dirty="0"/>
          </a:p>
        </p:txBody>
      </p:sp>
      <p:sp>
        <p:nvSpPr>
          <p:cNvPr id="27" name="Text 25"/>
          <p:cNvSpPr/>
          <p:nvPr/>
        </p:nvSpPr>
        <p:spPr>
          <a:xfrm>
            <a:off x="9317736"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Scope tasks and every resource appear, already filed against the right task.</a:t>
            </a:r>
            <a:endParaRPr lang="en-US" sz="1050" dirty="0"/>
          </a:p>
        </p:txBody>
      </p:sp>
      <p:sp>
        <p:nvSpPr>
          <p:cNvPr id="28" name="Shape 26"/>
          <p:cNvSpPr/>
          <p:nvPr/>
        </p:nvSpPr>
        <p:spPr>
          <a:xfrm>
            <a:off x="566928" y="4014216"/>
            <a:ext cx="557784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9" name="Text 27"/>
          <p:cNvSpPr/>
          <p:nvPr/>
        </p:nvSpPr>
        <p:spPr>
          <a:xfrm>
            <a:off x="822960" y="4197096"/>
            <a:ext cx="5029200" cy="292608"/>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Merge duplicates across services</a:t>
            </a:r>
            <a:endParaRPr lang="en-US" sz="1350" dirty="0"/>
          </a:p>
        </p:txBody>
      </p:sp>
      <p:sp>
        <p:nvSpPr>
          <p:cNvPr id="30" name="Text 28"/>
          <p:cNvSpPr/>
          <p:nvPr/>
        </p:nvSpPr>
        <p:spPr>
          <a:xfrm>
            <a:off x="822960" y="4535424"/>
            <a:ext cx="5074920" cy="109728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Leave this OFF (the default). Each service keeps its own rows, so every scope task shows exactly what it costs. Tick it only if you want one short flat list and do not need per-task totals.</a:t>
            </a:r>
            <a:endParaRPr lang="en-US" sz="1150" dirty="0"/>
          </a:p>
        </p:txBody>
      </p:sp>
      <p:sp>
        <p:nvSpPr>
          <p:cNvPr id="31" name="Shape 29"/>
          <p:cNvSpPr/>
          <p:nvPr/>
        </p:nvSpPr>
        <p:spPr>
          <a:xfrm>
            <a:off x="6446520" y="4014216"/>
            <a:ext cx="5175504" cy="1691640"/>
          </a:xfrm>
          <a:prstGeom prst="roundRect">
            <a:avLst>
              <a:gd name="adj" fmla="val 4324"/>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txBody>
          <a:bodyPr/>
          <a:p/>
        </p:txBody>
      </p:sp>
      <p:sp>
        <p:nvSpPr>
          <p:cNvPr id="32" name="Text 30"/>
          <p:cNvSpPr/>
          <p:nvPr/>
        </p:nvSpPr>
        <p:spPr>
          <a:xfrm>
            <a:off x="6702552" y="4197096"/>
            <a:ext cx="4663440" cy="292608"/>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Adding the same service twice</a:t>
            </a:r>
            <a:endParaRPr lang="en-US" sz="1350" dirty="0"/>
          </a:p>
        </p:txBody>
      </p:sp>
      <p:sp>
        <p:nvSpPr>
          <p:cNvPr id="33" name="Text 31"/>
          <p:cNvSpPr/>
          <p:nvPr/>
        </p:nvSpPr>
        <p:spPr>
          <a:xfrm>
            <a:off x="6702552" y="4535424"/>
            <a:ext cx="4663440" cy="1097280"/>
          </a:xfrm>
          <a:prstGeom prst="rect">
            <a:avLst/>
          </a:prstGeom>
          <a:noFill/>
          <a:ln/>
        </p:spPr>
        <p:txBody>
          <a:bodyPr wrap="square" lIns="0" tIns="0" rIns="0" bIns="0" rtlCol="0" anchor="t"/>
          <a:lstStyle/>
          <a:p>
            <a:pPr algn="l" indent="0" marL="0">
              <a:lnSpc>
                <a:spcPts val="1500"/>
              </a:lnSpc>
              <a:buNone/>
            </a:pPr>
            <a:r>
              <a:rPr lang="en-US" sz="1150" dirty="0">
                <a:solidFill>
                  <a:srgbClr val="E6EDF3"/>
                </a:solidFill>
                <a:latin typeface="Calibri" pitchFamily="34" charset="0"/>
                <a:ea typeface="Calibri" pitchFamily="34" charset="-122"/>
                <a:cs typeface="Calibri" pitchFamily="34" charset="-120"/>
              </a:rPr>
              <a:t>Add to CE is additive — a second press builds a second set of tasks and doubles that cost. The app now asks first. To change what is already there, edit it in SOW Breakdown instead.</a:t>
            </a:r>
            <a:endParaRPr lang="en-US" sz="1150" dirty="0"/>
          </a:p>
        </p:txBody>
      </p:sp>
      <p:sp>
        <p:nvSpPr>
          <p:cNvPr id="34" name="Text 32"/>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5" name="Text 33"/>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2 · SCOPE OF WORK</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Describe the job in steps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Shape 4"/>
          <p:cNvSpPr/>
          <p:nvPr/>
        </p:nvSpPr>
        <p:spPr>
          <a:xfrm>
            <a:off x="1822704"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7" name="Text 5"/>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30936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41248" y="2212848"/>
            <a:ext cx="5669280" cy="310896"/>
          </a:xfrm>
          <a:prstGeom prst="rect">
            <a:avLst/>
          </a:prstGeom>
          <a:noFill/>
          <a:ln/>
        </p:spPr>
        <p:txBody>
          <a:bodyPr wrap="square" lIns="0" tIns="0" rIns="0" bIns="0" rtlCol="0" anchor="ctr"/>
          <a:lstStyle/>
          <a:p>
            <a:pPr indent="0" marL="0">
              <a:buNone/>
            </a:pPr>
            <a:r>
              <a:rPr lang="en-US" sz="1600" b="1" dirty="0">
                <a:solidFill>
                  <a:srgbClr val="F0A429"/>
                </a:solidFill>
                <a:latin typeface="Arial" pitchFamily="34" charset="0"/>
                <a:ea typeface="Arial" pitchFamily="34" charset="-122"/>
                <a:cs typeface="Arial" pitchFamily="34" charset="-120"/>
              </a:rPr>
              <a:t>Main items and sub-steps</a:t>
            </a:r>
            <a:endParaRPr lang="en-US" sz="1600" dirty="0"/>
          </a:p>
        </p:txBody>
      </p:sp>
      <p:sp>
        <p:nvSpPr>
          <p:cNvPr id="17" name="Text 15"/>
          <p:cNvSpPr/>
          <p:nvPr/>
        </p:nvSpPr>
        <p:spPr>
          <a:xfrm>
            <a:off x="841248" y="2642616"/>
            <a:ext cx="502920" cy="384048"/>
          </a:xfrm>
          <a:prstGeom prst="rect">
            <a:avLst/>
          </a:prstGeom>
          <a:noFill/>
          <a:ln/>
        </p:spPr>
        <p:txBody>
          <a:bodyPr wrap="square" lIns="0" tIns="0" rIns="0" bIns="0" rtlCol="0" anchor="ctr"/>
          <a:lstStyle/>
          <a:p>
            <a:pPr indent="0" marL="0">
              <a:buNone/>
            </a:pPr>
            <a:r>
              <a:rPr lang="en-US" sz="1200" b="1" dirty="0">
                <a:solidFill>
                  <a:srgbClr val="F0A429"/>
                </a:solidFill>
                <a:latin typeface="Courier New" pitchFamily="34" charset="0"/>
                <a:ea typeface="Courier New" pitchFamily="34" charset="-122"/>
                <a:cs typeface="Courier New" pitchFamily="34" charset="-120"/>
              </a:rPr>
              <a:t>1.</a:t>
            </a:r>
            <a:endParaRPr lang="en-US" sz="1200" dirty="0"/>
          </a:p>
        </p:txBody>
      </p:sp>
      <p:sp>
        <p:nvSpPr>
          <p:cNvPr id="18" name="Shape 16"/>
          <p:cNvSpPr/>
          <p:nvPr/>
        </p:nvSpPr>
        <p:spPr>
          <a:xfrm>
            <a:off x="1408176" y="2642616"/>
            <a:ext cx="4892040" cy="384048"/>
          </a:xfrm>
          <a:prstGeom prst="roundRect">
            <a:avLst>
              <a:gd name="adj" fmla="val 11905"/>
            </a:avLst>
          </a:prstGeom>
          <a:solidFill>
            <a:srgbClr val="161B22"/>
          </a:solidFill>
          <a:ln w="12700">
            <a:solidFill>
              <a:srgbClr val="30363D"/>
            </a:solidFill>
            <a:prstDash val="solid"/>
          </a:ln>
        </p:spPr>
        <p:txBody>
          <a:bodyPr/>
          <a:p/>
        </p:txBody>
      </p:sp>
      <p:sp>
        <p:nvSpPr>
          <p:cNvPr id="19" name="Text 17"/>
          <p:cNvSpPr/>
          <p:nvPr/>
        </p:nvSpPr>
        <p:spPr>
          <a:xfrm>
            <a:off x="1536192" y="2642616"/>
            <a:ext cx="4572000" cy="384048"/>
          </a:xfrm>
          <a:prstGeom prst="rect">
            <a:avLst/>
          </a:prstGeom>
          <a:noFill/>
          <a:ln/>
        </p:spPr>
        <p:txBody>
          <a:bodyPr wrap="square" lIns="0" tIns="0" rIns="0" bIns="0" rtlCol="0" anchor="ctr"/>
          <a:lstStyle/>
          <a:p>
            <a:pPr indent="0" marL="0">
              <a:buNone/>
            </a:pPr>
            <a:r>
              <a:rPr lang="en-US" sz="1200" b="1" dirty="0">
                <a:solidFill>
                  <a:srgbClr val="E6EDF3"/>
                </a:solidFill>
                <a:latin typeface="Calibri" pitchFamily="34" charset="0"/>
                <a:ea typeface="Calibri" pitchFamily="34" charset="-122"/>
                <a:cs typeface="Calibri" pitchFamily="34" charset="-120"/>
              </a:rPr>
              <a:t>Sand blasting</a:t>
            </a:r>
            <a:endParaRPr lang="en-US" sz="1200" dirty="0"/>
          </a:p>
        </p:txBody>
      </p:sp>
      <p:sp>
        <p:nvSpPr>
          <p:cNvPr id="20" name="Text 18"/>
          <p:cNvSpPr/>
          <p:nvPr/>
        </p:nvSpPr>
        <p:spPr>
          <a:xfrm>
            <a:off x="1133856" y="3127248"/>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1.1</a:t>
            </a:r>
            <a:endParaRPr lang="en-US" sz="1200" dirty="0"/>
          </a:p>
        </p:txBody>
      </p:sp>
      <p:sp>
        <p:nvSpPr>
          <p:cNvPr id="21" name="Shape 19"/>
          <p:cNvSpPr/>
          <p:nvPr/>
        </p:nvSpPr>
        <p:spPr>
          <a:xfrm>
            <a:off x="1700784" y="3127248"/>
            <a:ext cx="4599432" cy="384048"/>
          </a:xfrm>
          <a:prstGeom prst="roundRect">
            <a:avLst>
              <a:gd name="adj" fmla="val 11905"/>
            </a:avLst>
          </a:prstGeom>
          <a:solidFill>
            <a:srgbClr val="141922"/>
          </a:solidFill>
          <a:ln w="12700">
            <a:solidFill>
              <a:srgbClr val="30363D"/>
            </a:solidFill>
            <a:prstDash val="solid"/>
          </a:ln>
        </p:spPr>
        <p:txBody>
          <a:bodyPr/>
          <a:p/>
        </p:txBody>
      </p:sp>
      <p:sp>
        <p:nvSpPr>
          <p:cNvPr id="22" name="Text 20"/>
          <p:cNvSpPr/>
          <p:nvPr/>
        </p:nvSpPr>
        <p:spPr>
          <a:xfrm>
            <a:off x="1828800" y="3127248"/>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HIP — high impact area</a:t>
            </a:r>
            <a:endParaRPr lang="en-US" sz="1200" dirty="0"/>
          </a:p>
        </p:txBody>
      </p:sp>
      <p:sp>
        <p:nvSpPr>
          <p:cNvPr id="23" name="Text 21"/>
          <p:cNvSpPr/>
          <p:nvPr/>
        </p:nvSpPr>
        <p:spPr>
          <a:xfrm>
            <a:off x="1133856" y="3611880"/>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1.2</a:t>
            </a:r>
            <a:endParaRPr lang="en-US" sz="1200" dirty="0"/>
          </a:p>
        </p:txBody>
      </p:sp>
      <p:sp>
        <p:nvSpPr>
          <p:cNvPr id="24" name="Shape 22"/>
          <p:cNvSpPr/>
          <p:nvPr/>
        </p:nvSpPr>
        <p:spPr>
          <a:xfrm>
            <a:off x="1700784" y="3611880"/>
            <a:ext cx="4599432" cy="384048"/>
          </a:xfrm>
          <a:prstGeom prst="roundRect">
            <a:avLst>
              <a:gd name="adj" fmla="val 11905"/>
            </a:avLst>
          </a:prstGeom>
          <a:solidFill>
            <a:srgbClr val="141922"/>
          </a:solidFill>
          <a:ln w="12700">
            <a:solidFill>
              <a:srgbClr val="30363D"/>
            </a:solidFill>
            <a:prstDash val="solid"/>
          </a:ln>
        </p:spPr>
        <p:txBody>
          <a:bodyPr/>
          <a:p/>
        </p:txBody>
      </p:sp>
      <p:sp>
        <p:nvSpPr>
          <p:cNvPr id="25" name="Text 23"/>
          <p:cNvSpPr/>
          <p:nvPr/>
        </p:nvSpPr>
        <p:spPr>
          <a:xfrm>
            <a:off x="1828800" y="3611880"/>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LIP — low impact area</a:t>
            </a:r>
            <a:endParaRPr lang="en-US" sz="1200" dirty="0"/>
          </a:p>
        </p:txBody>
      </p:sp>
      <p:sp>
        <p:nvSpPr>
          <p:cNvPr id="26" name="Text 24"/>
          <p:cNvSpPr/>
          <p:nvPr/>
        </p:nvSpPr>
        <p:spPr>
          <a:xfrm>
            <a:off x="841248" y="4096512"/>
            <a:ext cx="502920" cy="384048"/>
          </a:xfrm>
          <a:prstGeom prst="rect">
            <a:avLst/>
          </a:prstGeom>
          <a:noFill/>
          <a:ln/>
        </p:spPr>
        <p:txBody>
          <a:bodyPr wrap="square" lIns="0" tIns="0" rIns="0" bIns="0" rtlCol="0" anchor="ctr"/>
          <a:lstStyle/>
          <a:p>
            <a:pPr indent="0" marL="0">
              <a:buNone/>
            </a:pPr>
            <a:r>
              <a:rPr lang="en-US" sz="1200" b="1" dirty="0">
                <a:solidFill>
                  <a:srgbClr val="F0A429"/>
                </a:solidFill>
                <a:latin typeface="Courier New" pitchFamily="34" charset="0"/>
                <a:ea typeface="Courier New" pitchFamily="34" charset="-122"/>
                <a:cs typeface="Courier New" pitchFamily="34" charset="-120"/>
              </a:rPr>
              <a:t>2.</a:t>
            </a:r>
            <a:endParaRPr lang="en-US" sz="1200" dirty="0"/>
          </a:p>
        </p:txBody>
      </p:sp>
      <p:sp>
        <p:nvSpPr>
          <p:cNvPr id="27" name="Shape 25"/>
          <p:cNvSpPr/>
          <p:nvPr/>
        </p:nvSpPr>
        <p:spPr>
          <a:xfrm>
            <a:off x="1408176" y="4096512"/>
            <a:ext cx="4892040" cy="384048"/>
          </a:xfrm>
          <a:prstGeom prst="roundRect">
            <a:avLst>
              <a:gd name="adj" fmla="val 11905"/>
            </a:avLst>
          </a:prstGeom>
          <a:solidFill>
            <a:srgbClr val="161B22"/>
          </a:solidFill>
          <a:ln w="12700">
            <a:solidFill>
              <a:srgbClr val="30363D"/>
            </a:solidFill>
            <a:prstDash val="solid"/>
          </a:ln>
        </p:spPr>
        <p:txBody>
          <a:bodyPr/>
          <a:p/>
        </p:txBody>
      </p:sp>
      <p:sp>
        <p:nvSpPr>
          <p:cNvPr id="28" name="Text 26"/>
          <p:cNvSpPr/>
          <p:nvPr/>
        </p:nvSpPr>
        <p:spPr>
          <a:xfrm>
            <a:off x="1536192" y="4096512"/>
            <a:ext cx="4572000" cy="384048"/>
          </a:xfrm>
          <a:prstGeom prst="rect">
            <a:avLst/>
          </a:prstGeom>
          <a:noFill/>
          <a:ln/>
        </p:spPr>
        <p:txBody>
          <a:bodyPr wrap="square" lIns="0" tIns="0" rIns="0" bIns="0" rtlCol="0" anchor="ctr"/>
          <a:lstStyle/>
          <a:p>
            <a:pPr indent="0" marL="0">
              <a:buNone/>
            </a:pPr>
            <a:r>
              <a:rPr lang="en-US" sz="1200" b="1" dirty="0">
                <a:solidFill>
                  <a:srgbClr val="E6EDF3"/>
                </a:solidFill>
                <a:latin typeface="Calibri" pitchFamily="34" charset="0"/>
                <a:ea typeface="Calibri" pitchFamily="34" charset="-122"/>
                <a:cs typeface="Calibri" pitchFamily="34" charset="-120"/>
              </a:rPr>
              <a:t>Rebabbitting of plain bearing</a:t>
            </a:r>
            <a:endParaRPr lang="en-US" sz="1200" dirty="0"/>
          </a:p>
        </p:txBody>
      </p:sp>
      <p:sp>
        <p:nvSpPr>
          <p:cNvPr id="29" name="Text 27"/>
          <p:cNvSpPr/>
          <p:nvPr/>
        </p:nvSpPr>
        <p:spPr>
          <a:xfrm>
            <a:off x="1133856" y="4581144"/>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2.1</a:t>
            </a:r>
            <a:endParaRPr lang="en-US" sz="1200" dirty="0"/>
          </a:p>
        </p:txBody>
      </p:sp>
      <p:sp>
        <p:nvSpPr>
          <p:cNvPr id="30" name="Shape 28"/>
          <p:cNvSpPr/>
          <p:nvPr/>
        </p:nvSpPr>
        <p:spPr>
          <a:xfrm>
            <a:off x="1700784" y="4581144"/>
            <a:ext cx="4599432" cy="384048"/>
          </a:xfrm>
          <a:prstGeom prst="roundRect">
            <a:avLst>
              <a:gd name="adj" fmla="val 11905"/>
            </a:avLst>
          </a:prstGeom>
          <a:solidFill>
            <a:srgbClr val="141922"/>
          </a:solidFill>
          <a:ln w="12700">
            <a:solidFill>
              <a:srgbClr val="30363D"/>
            </a:solidFill>
            <a:prstDash val="solid"/>
          </a:ln>
        </p:spPr>
        <p:txBody>
          <a:bodyPr/>
          <a:p/>
        </p:txBody>
      </p:sp>
      <p:sp>
        <p:nvSpPr>
          <p:cNvPr id="31" name="Text 29"/>
          <p:cNvSpPr/>
          <p:nvPr/>
        </p:nvSpPr>
        <p:spPr>
          <a:xfrm>
            <a:off x="1828800" y="4581144"/>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Disassembly and inspection</a:t>
            </a:r>
            <a:endParaRPr lang="en-US" sz="1200" dirty="0"/>
          </a:p>
        </p:txBody>
      </p:sp>
      <p:sp>
        <p:nvSpPr>
          <p:cNvPr id="32" name="Text 30"/>
          <p:cNvSpPr/>
          <p:nvPr/>
        </p:nvSpPr>
        <p:spPr>
          <a:xfrm>
            <a:off x="841248" y="5065776"/>
            <a:ext cx="566928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Use + Main Item for a numbered step, + Sub Item for detail under it. Reorder with the arrows.</a:t>
            </a:r>
            <a:endParaRPr lang="en-US" sz="1100" dirty="0"/>
          </a:p>
        </p:txBody>
      </p:sp>
      <p:sp>
        <p:nvSpPr>
          <p:cNvPr id="33" name="Shape 31"/>
          <p:cNvSpPr/>
          <p:nvPr/>
        </p:nvSpPr>
        <p:spPr>
          <a:xfrm>
            <a:off x="7086600" y="2002536"/>
            <a:ext cx="452628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7315200" y="2185416"/>
            <a:ext cx="4023360" cy="292608"/>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Why it matters</a:t>
            </a:r>
            <a:endParaRPr lang="en-US" sz="1450" dirty="0"/>
          </a:p>
        </p:txBody>
      </p:sp>
      <p:sp>
        <p:nvSpPr>
          <p:cNvPr id="35" name="Text 33"/>
          <p:cNvSpPr/>
          <p:nvPr/>
        </p:nvSpPr>
        <p:spPr>
          <a:xfrm>
            <a:off x="7315200" y="2542032"/>
            <a:ext cx="4069080" cy="1097280"/>
          </a:xfrm>
          <a:prstGeom prst="rect">
            <a:avLst/>
          </a:prstGeom>
          <a:noFill/>
          <a:ln/>
        </p:spPr>
        <p:txBody>
          <a:bodyPr wrap="square" lIns="0" tIns="0" rIns="0" bIns="0" rtlCol="0" anchor="t"/>
          <a:lstStyle/>
          <a:p>
            <a:pPr algn="l" indent="0" marL="0">
              <a:lnSpc>
                <a:spcPts val="1600"/>
              </a:lnSpc>
              <a:buNone/>
            </a:pPr>
            <a:r>
              <a:rPr lang="en-US" sz="1200" dirty="0">
                <a:solidFill>
                  <a:srgbClr val="9AA4AF"/>
                </a:solidFill>
                <a:latin typeface="Calibri" pitchFamily="34" charset="0"/>
                <a:ea typeface="Calibri" pitchFamily="34" charset="-122"/>
                <a:cs typeface="Calibri" pitchFamily="34" charset="-120"/>
              </a:rPr>
              <a:t>These steps become the tasks in SOW Breakdown. Every resource you add is filed against one of them, so the scope you write here decides how the cost is grouped.</a:t>
            </a:r>
            <a:endParaRPr lang="en-US" sz="1200" dirty="0"/>
          </a:p>
        </p:txBody>
      </p:sp>
      <p:sp>
        <p:nvSpPr>
          <p:cNvPr id="36" name="Shape 34"/>
          <p:cNvSpPr/>
          <p:nvPr/>
        </p:nvSpPr>
        <p:spPr>
          <a:xfrm>
            <a:off x="7086600" y="3877056"/>
            <a:ext cx="452628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7" name="Text 35"/>
          <p:cNvSpPr/>
          <p:nvPr/>
        </p:nvSpPr>
        <p:spPr>
          <a:xfrm>
            <a:off x="7315200" y="4059936"/>
            <a:ext cx="4023360" cy="292608"/>
          </a:xfrm>
          <a:prstGeom prst="rect">
            <a:avLst/>
          </a:prstGeom>
          <a:noFill/>
          <a:ln/>
        </p:spPr>
        <p:txBody>
          <a:bodyPr wrap="square" lIns="0" tIns="0" rIns="0" bIns="0" rtlCol="0" anchor="ctr"/>
          <a:lstStyle/>
          <a:p>
            <a:pPr indent="0" marL="0">
              <a:buNone/>
            </a:pPr>
            <a:r>
              <a:rPr lang="en-US" sz="1450" b="1" dirty="0">
                <a:solidFill>
                  <a:srgbClr val="F85149"/>
                </a:solidFill>
                <a:latin typeface="Arial" pitchFamily="34" charset="0"/>
                <a:ea typeface="Arial" pitchFamily="34" charset="-122"/>
                <a:cs typeface="Arial" pitchFamily="34" charset="-120"/>
              </a:rPr>
              <a:t>Deleting a step</a:t>
            </a:r>
            <a:endParaRPr lang="en-US" sz="1450" dirty="0"/>
          </a:p>
        </p:txBody>
      </p:sp>
      <p:sp>
        <p:nvSpPr>
          <p:cNvPr id="38" name="Text 36"/>
          <p:cNvSpPr/>
          <p:nvPr/>
        </p:nvSpPr>
        <p:spPr>
          <a:xfrm>
            <a:off x="7315200" y="4416552"/>
            <a:ext cx="4069080" cy="1097280"/>
          </a:xfrm>
          <a:prstGeom prst="rect">
            <a:avLst/>
          </a:prstGeom>
          <a:noFill/>
          <a:ln/>
        </p:spPr>
        <p:txBody>
          <a:bodyPr wrap="square" lIns="0" tIns="0" rIns="0" bIns="0" rtlCol="0" anchor="t"/>
          <a:lstStyle/>
          <a:p>
            <a:pPr algn="l" indent="0" marL="0">
              <a:lnSpc>
                <a:spcPts val="1600"/>
              </a:lnSpc>
              <a:buNone/>
            </a:pPr>
            <a:r>
              <a:rPr lang="en-US" sz="1200" dirty="0">
                <a:solidFill>
                  <a:srgbClr val="9AA4AF"/>
                </a:solidFill>
                <a:latin typeface="Calibri" pitchFamily="34" charset="0"/>
                <a:ea typeface="Calibri" pitchFamily="34" charset="-122"/>
                <a:cs typeface="Calibri" pitchFamily="34" charset="-120"/>
              </a:rPr>
              <a:t>Any step can be put back: a main item, a sub-step, or Clear All. A main item takes its sub-steps and their resources with it, and the app says how many. You have 20 seconds to undo.</a:t>
            </a:r>
            <a:endParaRPr lang="en-US" sz="120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3 · SOW BREAKDOWN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each step needs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Shape 5"/>
          <p:cNvSpPr/>
          <p:nvPr/>
        </p:nvSpPr>
        <p:spPr>
          <a:xfrm>
            <a:off x="3051048"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858000" cy="2286000"/>
          </a:xfrm>
          <a:prstGeom prst="roundRect">
            <a:avLst>
              <a:gd name="adj" fmla="val 32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795528" y="2157984"/>
            <a:ext cx="3291840" cy="329184"/>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  1   Sand Blasting</a:t>
            </a:r>
            <a:endParaRPr lang="en-US" sz="1400" dirty="0"/>
          </a:p>
        </p:txBody>
      </p:sp>
      <p:sp>
        <p:nvSpPr>
          <p:cNvPr id="17" name="Text 15"/>
          <p:cNvSpPr/>
          <p:nvPr/>
        </p:nvSpPr>
        <p:spPr>
          <a:xfrm>
            <a:off x="4133088" y="2157984"/>
            <a:ext cx="1371600" cy="329184"/>
          </a:xfrm>
          <a:prstGeom prst="rect">
            <a:avLst/>
          </a:prstGeom>
          <a:noFill/>
          <a:ln/>
        </p:spPr>
        <p:txBody>
          <a:bodyPr wrap="square" lIns="0" tIns="0" rIns="0" bIns="0" rtlCol="0" anchor="ctr"/>
          <a:lstStyle/>
          <a:p>
            <a:pPr algn="r" indent="0" marL="0">
              <a:buNone/>
            </a:pPr>
            <a:r>
              <a:rPr lang="en-US" sz="1300" b="1" dirty="0">
                <a:solidFill>
                  <a:srgbClr val="F0A429"/>
                </a:solidFill>
                <a:latin typeface="Courier New" pitchFamily="34" charset="0"/>
                <a:ea typeface="Courier New" pitchFamily="34" charset="-122"/>
                <a:cs typeface="Courier New" pitchFamily="34" charset="-120"/>
              </a:rPr>
              <a:t>₱6,072.16</a:t>
            </a:r>
            <a:endParaRPr lang="en-US" sz="1300" dirty="0"/>
          </a:p>
        </p:txBody>
      </p:sp>
      <p:sp>
        <p:nvSpPr>
          <p:cNvPr id="18" name="Shape 16"/>
          <p:cNvSpPr/>
          <p:nvPr/>
        </p:nvSpPr>
        <p:spPr>
          <a:xfrm>
            <a:off x="5641848" y="2194560"/>
            <a:ext cx="1572768" cy="265176"/>
          </a:xfrm>
          <a:prstGeom prst="roundRect">
            <a:avLst>
              <a:gd name="adj" fmla="val 48276"/>
            </a:avLst>
          </a:prstGeom>
          <a:solidFill>
            <a:srgbClr val="13301C"/>
          </a:solidFill>
          <a:ln w="12700">
            <a:solidFill>
              <a:srgbClr val="13301C"/>
            </a:solidFill>
            <a:prstDash val="solid"/>
          </a:ln>
        </p:spPr>
        <p:txBody>
          <a:bodyPr/>
          <a:p/>
        </p:txBody>
      </p:sp>
      <p:sp>
        <p:nvSpPr>
          <p:cNvPr id="19" name="Text 17"/>
          <p:cNvSpPr/>
          <p:nvPr/>
        </p:nvSpPr>
        <p:spPr>
          <a:xfrm>
            <a:off x="5641848" y="2194560"/>
            <a:ext cx="1572768" cy="265176"/>
          </a:xfrm>
          <a:prstGeom prst="rect">
            <a:avLst/>
          </a:prstGeom>
          <a:noFill/>
          <a:ln/>
        </p:spPr>
        <p:txBody>
          <a:bodyPr wrap="square" lIns="0" tIns="0" rIns="0" bIns="0" rtlCol="0" anchor="ctr"/>
          <a:lstStyle/>
          <a:p>
            <a:pPr algn="ctr" indent="0" marL="0">
              <a:buNone/>
            </a:pPr>
            <a:r>
              <a:rPr lang="en-US" sz="950" dirty="0">
                <a:solidFill>
                  <a:srgbClr val="3FB950"/>
                </a:solidFill>
                <a:latin typeface="Calibri" pitchFamily="34" charset="0"/>
                <a:ea typeface="Calibri" pitchFamily="34" charset="-122"/>
                <a:cs typeface="Calibri" pitchFamily="34" charset="-120"/>
              </a:rPr>
              <a:t>5 resources</a:t>
            </a:r>
            <a:endParaRPr lang="en-US" sz="950" dirty="0"/>
          </a:p>
        </p:txBody>
      </p:sp>
      <p:sp>
        <p:nvSpPr>
          <p:cNvPr id="20" name="Shape 18"/>
          <p:cNvSpPr/>
          <p:nvPr/>
        </p:nvSpPr>
        <p:spPr>
          <a:xfrm>
            <a:off x="978408" y="2642616"/>
            <a:ext cx="6217920" cy="420624"/>
          </a:xfrm>
          <a:prstGeom prst="roundRect">
            <a:avLst>
              <a:gd name="adj" fmla="val 10870"/>
            </a:avLst>
          </a:prstGeom>
          <a:solidFill>
            <a:srgbClr val="161B22"/>
          </a:solidFill>
          <a:ln w="12700">
            <a:solidFill>
              <a:srgbClr val="30363D"/>
            </a:solidFill>
            <a:prstDash val="solid"/>
          </a:ln>
        </p:spPr>
        <p:txBody>
          <a:bodyPr/>
          <a:p/>
        </p:txBody>
      </p:sp>
      <p:sp>
        <p:nvSpPr>
          <p:cNvPr id="21" name="Text 19"/>
          <p:cNvSpPr/>
          <p:nvPr/>
        </p:nvSpPr>
        <p:spPr>
          <a:xfrm>
            <a:off x="1133856" y="2642616"/>
            <a:ext cx="2926080" cy="420624"/>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  1.1   HIP</a:t>
            </a:r>
            <a:endParaRPr lang="en-US" sz="1200" dirty="0"/>
          </a:p>
        </p:txBody>
      </p:sp>
      <p:sp>
        <p:nvSpPr>
          <p:cNvPr id="22" name="Text 20"/>
          <p:cNvSpPr/>
          <p:nvPr/>
        </p:nvSpPr>
        <p:spPr>
          <a:xfrm>
            <a:off x="5321808" y="2642616"/>
            <a:ext cx="1691640" cy="420624"/>
          </a:xfrm>
          <a:prstGeom prst="rect">
            <a:avLst/>
          </a:prstGeom>
          <a:noFill/>
          <a:ln/>
        </p:spPr>
        <p:txBody>
          <a:bodyPr wrap="square" lIns="0" tIns="0" rIns="0" bIns="0" rtlCol="0" anchor="ctr"/>
          <a:lstStyle/>
          <a:p>
            <a:pPr algn="r" indent="0" marL="0">
              <a:buNone/>
            </a:pPr>
            <a:r>
              <a:rPr lang="en-US" sz="1150" dirty="0">
                <a:solidFill>
                  <a:srgbClr val="F0A429"/>
                </a:solidFill>
                <a:latin typeface="Courier New" pitchFamily="34" charset="0"/>
                <a:ea typeface="Courier New" pitchFamily="34" charset="-122"/>
                <a:cs typeface="Courier New" pitchFamily="34" charset="-120"/>
              </a:rPr>
              <a:t>₱4,872.16</a:t>
            </a:r>
            <a:endParaRPr lang="en-US" sz="1150" dirty="0"/>
          </a:p>
        </p:txBody>
      </p:sp>
      <p:sp>
        <p:nvSpPr>
          <p:cNvPr id="23" name="Shape 21"/>
          <p:cNvSpPr/>
          <p:nvPr/>
        </p:nvSpPr>
        <p:spPr>
          <a:xfrm>
            <a:off x="978408" y="3154680"/>
            <a:ext cx="6217920" cy="420624"/>
          </a:xfrm>
          <a:prstGeom prst="roundRect">
            <a:avLst>
              <a:gd name="adj" fmla="val 10870"/>
            </a:avLst>
          </a:prstGeom>
          <a:solidFill>
            <a:srgbClr val="161B22"/>
          </a:solidFill>
          <a:ln w="12700">
            <a:solidFill>
              <a:srgbClr val="30363D"/>
            </a:solidFill>
            <a:prstDash val="solid"/>
          </a:ln>
        </p:spPr>
        <p:txBody>
          <a:bodyPr/>
          <a:p/>
        </p:txBody>
      </p:sp>
      <p:sp>
        <p:nvSpPr>
          <p:cNvPr id="24" name="Text 22"/>
          <p:cNvSpPr/>
          <p:nvPr/>
        </p:nvSpPr>
        <p:spPr>
          <a:xfrm>
            <a:off x="1133856" y="3154680"/>
            <a:ext cx="2926080" cy="420624"/>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  1.2   LIP</a:t>
            </a:r>
            <a:endParaRPr lang="en-US" sz="1200" dirty="0"/>
          </a:p>
        </p:txBody>
      </p:sp>
      <p:sp>
        <p:nvSpPr>
          <p:cNvPr id="25" name="Text 23"/>
          <p:cNvSpPr/>
          <p:nvPr/>
        </p:nvSpPr>
        <p:spPr>
          <a:xfrm>
            <a:off x="5321808" y="3154680"/>
            <a:ext cx="1691640" cy="420624"/>
          </a:xfrm>
          <a:prstGeom prst="rect">
            <a:avLst/>
          </a:prstGeom>
          <a:noFill/>
          <a:ln/>
        </p:spPr>
        <p:txBody>
          <a:bodyPr wrap="square" lIns="0" tIns="0" rIns="0" bIns="0" rtlCol="0" anchor="ctr"/>
          <a:lstStyle/>
          <a:p>
            <a:pPr algn="r" indent="0" marL="0">
              <a:buNone/>
            </a:pPr>
            <a:r>
              <a:rPr lang="en-US" sz="1150" dirty="0">
                <a:solidFill>
                  <a:srgbClr val="F0A429"/>
                </a:solidFill>
                <a:latin typeface="Courier New" pitchFamily="34" charset="0"/>
                <a:ea typeface="Courier New" pitchFamily="34" charset="-122"/>
                <a:cs typeface="Courier New" pitchFamily="34" charset="-120"/>
              </a:rPr>
              <a:t>₱1,200.00</a:t>
            </a:r>
            <a:endParaRPr lang="en-US" sz="1150" dirty="0"/>
          </a:p>
        </p:txBody>
      </p:sp>
      <p:sp>
        <p:nvSpPr>
          <p:cNvPr id="26" name="Text 24"/>
          <p:cNvSpPr/>
          <p:nvPr/>
        </p:nvSpPr>
        <p:spPr>
          <a:xfrm>
            <a:off x="795528" y="3694176"/>
            <a:ext cx="6400800" cy="5029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parent shows the total of everything beneath it. Open a task to add Manpower, Tools &amp; Equipment, Consumables, PPE or Miscellaneous to that step alone.</a:t>
            </a:r>
            <a:endParaRPr lang="en-US" sz="1100" dirty="0"/>
          </a:p>
        </p:txBody>
      </p:sp>
      <p:sp>
        <p:nvSpPr>
          <p:cNvPr id="27" name="Shape 25"/>
          <p:cNvSpPr/>
          <p:nvPr/>
        </p:nvSpPr>
        <p:spPr>
          <a:xfrm>
            <a:off x="7635240" y="2002536"/>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7863840" y="2130552"/>
            <a:ext cx="3566160" cy="274320"/>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Unassigned resources</a:t>
            </a:r>
            <a:endParaRPr lang="en-US" sz="1350" dirty="0"/>
          </a:p>
        </p:txBody>
      </p:sp>
      <p:sp>
        <p:nvSpPr>
          <p:cNvPr id="29" name="Text 27"/>
          <p:cNvSpPr/>
          <p:nvPr/>
        </p:nvSpPr>
        <p:spPr>
          <a:xfrm>
            <a:off x="7863840" y="2441448"/>
            <a:ext cx="356616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Rows not linked to a step appear in an amber panel below. Tick several and file them at once.</a:t>
            </a:r>
            <a:endParaRPr lang="en-US" sz="1100" dirty="0"/>
          </a:p>
        </p:txBody>
      </p:sp>
      <p:sp>
        <p:nvSpPr>
          <p:cNvPr id="30" name="Shape 28"/>
          <p:cNvSpPr/>
          <p:nvPr/>
        </p:nvSpPr>
        <p:spPr>
          <a:xfrm>
            <a:off x="7635240" y="3209544"/>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7863840" y="3337560"/>
            <a:ext cx="3566160" cy="274320"/>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Shared crew</a:t>
            </a:r>
            <a:endParaRPr lang="en-US" sz="1350" dirty="0"/>
          </a:p>
        </p:txBody>
      </p:sp>
      <p:sp>
        <p:nvSpPr>
          <p:cNvPr id="32" name="Text 30"/>
          <p:cNvSpPr/>
          <p:nvPr/>
        </p:nvSpPr>
        <p:spPr>
          <a:xfrm>
            <a:off x="7863840" y="3648456"/>
            <a:ext cx="356616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After consolidating, one row serves several tasks, listed under each with its cost split in proportion.</a:t>
            </a:r>
            <a:endParaRPr lang="en-US" sz="1100" dirty="0"/>
          </a:p>
        </p:txBody>
      </p:sp>
      <p:sp>
        <p:nvSpPr>
          <p:cNvPr id="33" name="Shape 31"/>
          <p:cNvSpPr/>
          <p:nvPr/>
        </p:nvSpPr>
        <p:spPr>
          <a:xfrm>
            <a:off x="7635240" y="4416552"/>
            <a:ext cx="3977640" cy="1152144"/>
          </a:xfrm>
          <a:prstGeom prst="roundRect">
            <a:avLst>
              <a:gd name="adj" fmla="val 6349"/>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7863840" y="4553712"/>
            <a:ext cx="356616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This is the same data</a:t>
            </a:r>
            <a:endParaRPr lang="en-US" sz="1350" dirty="0"/>
          </a:p>
        </p:txBody>
      </p:sp>
      <p:sp>
        <p:nvSpPr>
          <p:cNvPr id="35" name="Text 33"/>
          <p:cNvSpPr/>
          <p:nvPr/>
        </p:nvSpPr>
        <p:spPr>
          <a:xfrm>
            <a:off x="7863840" y="4864608"/>
            <a:ext cx="356616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Anything you change here changes the Manpower, Tools, Materials, PPE and Miscellaneous tabs too. It is one set of rows, grouped two ways.</a:t>
            </a:r>
            <a:endParaRPr lang="en-US" sz="1100" dirty="0"/>
          </a:p>
        </p:txBody>
      </p:sp>
      <p:sp>
        <p:nvSpPr>
          <p:cNvPr id="36" name="Shape 34"/>
          <p:cNvSpPr/>
          <p:nvPr/>
        </p:nvSpPr>
        <p:spPr>
          <a:xfrm>
            <a:off x="566928" y="4425696"/>
            <a:ext cx="6858000" cy="1143000"/>
          </a:xfrm>
          <a:prstGeom prst="roundRect">
            <a:avLst>
              <a:gd name="adj" fmla="val 64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7" name="Text 35"/>
          <p:cNvSpPr/>
          <p:nvPr/>
        </p:nvSpPr>
        <p:spPr>
          <a:xfrm>
            <a:off x="822960" y="4572000"/>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Two shortcuts worth knowing</a:t>
            </a:r>
            <a:endParaRPr lang="en-US" sz="1400" dirty="0"/>
          </a:p>
        </p:txBody>
      </p:sp>
      <p:sp>
        <p:nvSpPr>
          <p:cNvPr id="38" name="Text 36"/>
          <p:cNvSpPr/>
          <p:nvPr/>
        </p:nvSpPr>
        <p:spPr>
          <a:xfrm>
            <a:off x="822960" y="4882896"/>
            <a:ext cx="6309360" cy="621792"/>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copy from… clones every resource on another task into this one — ideal when step 1.2 mirrors 1.1. Collapse all turns a long CE into a one-screen summary of what each step costs.</a:t>
            </a:r>
            <a:endParaRPr lang="en-US" sz="115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MANPOWER</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People, days and overtime</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Shape 6"/>
          <p:cNvSpPr/>
          <p:nvPr/>
        </p:nvSpPr>
        <p:spPr>
          <a:xfrm>
            <a:off x="4279392"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Text 13"/>
          <p:cNvSpPr/>
          <p:nvPr/>
        </p:nvSpPr>
        <p:spPr>
          <a:xfrm>
            <a:off x="566928" y="2048256"/>
            <a:ext cx="2415886"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ROLE / POSITION</a:t>
            </a:r>
            <a:endParaRPr lang="en-US" sz="850" dirty="0"/>
          </a:p>
        </p:txBody>
      </p:sp>
      <p:sp>
        <p:nvSpPr>
          <p:cNvPr id="16" name="Text 14"/>
          <p:cNvSpPr/>
          <p:nvPr/>
        </p:nvSpPr>
        <p:spPr>
          <a:xfrm>
            <a:off x="2982814" y="2048256"/>
            <a:ext cx="623455"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PAX</a:t>
            </a:r>
            <a:endParaRPr lang="en-US" sz="850" dirty="0"/>
          </a:p>
        </p:txBody>
      </p:sp>
      <p:sp>
        <p:nvSpPr>
          <p:cNvPr id="17" name="Text 15"/>
          <p:cNvSpPr/>
          <p:nvPr/>
        </p:nvSpPr>
        <p:spPr>
          <a:xfrm>
            <a:off x="3606269" y="2048256"/>
            <a:ext cx="701386"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DAYS</a:t>
            </a:r>
            <a:endParaRPr lang="en-US" sz="850" dirty="0"/>
          </a:p>
        </p:txBody>
      </p:sp>
      <p:sp>
        <p:nvSpPr>
          <p:cNvPr id="18" name="Text 16"/>
          <p:cNvSpPr/>
          <p:nvPr/>
        </p:nvSpPr>
        <p:spPr>
          <a:xfrm>
            <a:off x="4307655" y="2048256"/>
            <a:ext cx="1013114"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OT HRS/DAY</a:t>
            </a:r>
            <a:endParaRPr lang="en-US" sz="850" dirty="0"/>
          </a:p>
        </p:txBody>
      </p:sp>
      <p:sp>
        <p:nvSpPr>
          <p:cNvPr id="19" name="Text 17"/>
          <p:cNvSpPr/>
          <p:nvPr/>
        </p:nvSpPr>
        <p:spPr>
          <a:xfrm>
            <a:off x="5320769" y="2048256"/>
            <a:ext cx="935182"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DAY RATE</a:t>
            </a:r>
            <a:endParaRPr lang="en-US" sz="850" dirty="0"/>
          </a:p>
        </p:txBody>
      </p:sp>
      <p:sp>
        <p:nvSpPr>
          <p:cNvPr id="20" name="Text 18"/>
          <p:cNvSpPr/>
          <p:nvPr/>
        </p:nvSpPr>
        <p:spPr>
          <a:xfrm>
            <a:off x="6255951" y="2048256"/>
            <a:ext cx="1168977"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ROW TOTAL</a:t>
            </a:r>
            <a:endParaRPr lang="en-US" sz="850" dirty="0"/>
          </a:p>
        </p:txBody>
      </p:sp>
      <p:sp>
        <p:nvSpPr>
          <p:cNvPr id="21" name="Shape 19"/>
          <p:cNvSpPr/>
          <p:nvPr/>
        </p:nvSpPr>
        <p:spPr>
          <a:xfrm>
            <a:off x="566928" y="2322576"/>
            <a:ext cx="6858000" cy="292608"/>
          </a:xfrm>
          <a:prstGeom prst="rect">
            <a:avLst/>
          </a:prstGeom>
          <a:solidFill>
            <a:srgbClr val="1C2128"/>
          </a:solidFill>
          <a:ln w="6350">
            <a:solidFill>
              <a:srgbClr val="30363D"/>
            </a:solidFill>
            <a:prstDash val="solid"/>
          </a:ln>
        </p:spPr>
        <p:txBody>
          <a:bodyPr/>
          <a:p/>
        </p:txBody>
      </p:sp>
      <p:sp>
        <p:nvSpPr>
          <p:cNvPr id="22" name="Text 20"/>
          <p:cNvSpPr/>
          <p:nvPr/>
        </p:nvSpPr>
        <p:spPr>
          <a:xfrm>
            <a:off x="621792" y="2322576"/>
            <a:ext cx="2306158" cy="292608"/>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Welder</a:t>
            </a:r>
            <a:endParaRPr lang="en-US" sz="1050" dirty="0"/>
          </a:p>
        </p:txBody>
      </p:sp>
      <p:sp>
        <p:nvSpPr>
          <p:cNvPr id="23" name="Text 21"/>
          <p:cNvSpPr/>
          <p:nvPr/>
        </p:nvSpPr>
        <p:spPr>
          <a:xfrm>
            <a:off x="3037678" y="2322576"/>
            <a:ext cx="513727"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2</a:t>
            </a:r>
            <a:endParaRPr lang="en-US" sz="1050" dirty="0"/>
          </a:p>
        </p:txBody>
      </p:sp>
      <p:sp>
        <p:nvSpPr>
          <p:cNvPr id="24" name="Text 22"/>
          <p:cNvSpPr/>
          <p:nvPr/>
        </p:nvSpPr>
        <p:spPr>
          <a:xfrm>
            <a:off x="3661133" y="2322576"/>
            <a:ext cx="591658"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10</a:t>
            </a:r>
            <a:endParaRPr lang="en-US" sz="1050" dirty="0"/>
          </a:p>
        </p:txBody>
      </p:sp>
      <p:sp>
        <p:nvSpPr>
          <p:cNvPr id="25" name="Text 23"/>
          <p:cNvSpPr/>
          <p:nvPr/>
        </p:nvSpPr>
        <p:spPr>
          <a:xfrm>
            <a:off x="4362519" y="2322576"/>
            <a:ext cx="903386" cy="292608"/>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3</a:t>
            </a:r>
            <a:endParaRPr lang="en-US" sz="1050" dirty="0"/>
          </a:p>
        </p:txBody>
      </p:sp>
      <p:sp>
        <p:nvSpPr>
          <p:cNvPr id="26" name="Text 24"/>
          <p:cNvSpPr/>
          <p:nvPr/>
        </p:nvSpPr>
        <p:spPr>
          <a:xfrm>
            <a:off x="5375633" y="2322576"/>
            <a:ext cx="825454" cy="292608"/>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950.00</a:t>
            </a:r>
            <a:endParaRPr lang="en-US" sz="1050" dirty="0"/>
          </a:p>
        </p:txBody>
      </p:sp>
      <p:sp>
        <p:nvSpPr>
          <p:cNvPr id="27" name="Text 25"/>
          <p:cNvSpPr/>
          <p:nvPr/>
        </p:nvSpPr>
        <p:spPr>
          <a:xfrm>
            <a:off x="6310815" y="2322576"/>
            <a:ext cx="1059249" cy="292608"/>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₱27,906</a:t>
            </a:r>
            <a:endParaRPr lang="en-US" sz="1050" dirty="0"/>
          </a:p>
        </p:txBody>
      </p:sp>
      <p:sp>
        <p:nvSpPr>
          <p:cNvPr id="28" name="Shape 26"/>
          <p:cNvSpPr/>
          <p:nvPr/>
        </p:nvSpPr>
        <p:spPr>
          <a:xfrm>
            <a:off x="566928" y="2615184"/>
            <a:ext cx="6858000" cy="292608"/>
          </a:xfrm>
          <a:prstGeom prst="rect">
            <a:avLst/>
          </a:prstGeom>
          <a:solidFill>
            <a:srgbClr val="161B22"/>
          </a:solidFill>
          <a:ln w="6350">
            <a:solidFill>
              <a:srgbClr val="30363D"/>
            </a:solidFill>
            <a:prstDash val="solid"/>
          </a:ln>
        </p:spPr>
        <p:txBody>
          <a:bodyPr/>
          <a:p/>
        </p:txBody>
      </p:sp>
      <p:sp>
        <p:nvSpPr>
          <p:cNvPr id="29" name="Text 27"/>
          <p:cNvSpPr/>
          <p:nvPr/>
        </p:nvSpPr>
        <p:spPr>
          <a:xfrm>
            <a:off x="621792" y="2615184"/>
            <a:ext cx="2306158" cy="292608"/>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Machinist</a:t>
            </a:r>
            <a:endParaRPr lang="en-US" sz="1050" dirty="0"/>
          </a:p>
        </p:txBody>
      </p:sp>
      <p:sp>
        <p:nvSpPr>
          <p:cNvPr id="30" name="Text 28"/>
          <p:cNvSpPr/>
          <p:nvPr/>
        </p:nvSpPr>
        <p:spPr>
          <a:xfrm>
            <a:off x="3037678" y="2615184"/>
            <a:ext cx="513727"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a:t>
            </a:r>
            <a:endParaRPr lang="en-US" sz="1050" dirty="0"/>
          </a:p>
        </p:txBody>
      </p:sp>
      <p:sp>
        <p:nvSpPr>
          <p:cNvPr id="31" name="Text 29"/>
          <p:cNvSpPr/>
          <p:nvPr/>
        </p:nvSpPr>
        <p:spPr>
          <a:xfrm>
            <a:off x="3661133" y="2615184"/>
            <a:ext cx="591658"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10</a:t>
            </a:r>
            <a:endParaRPr lang="en-US" sz="1050" dirty="0"/>
          </a:p>
        </p:txBody>
      </p:sp>
      <p:sp>
        <p:nvSpPr>
          <p:cNvPr id="32" name="Text 30"/>
          <p:cNvSpPr/>
          <p:nvPr/>
        </p:nvSpPr>
        <p:spPr>
          <a:xfrm>
            <a:off x="4362519" y="2615184"/>
            <a:ext cx="903386"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0</a:t>
            </a:r>
            <a:endParaRPr lang="en-US" sz="1050" dirty="0"/>
          </a:p>
        </p:txBody>
      </p:sp>
      <p:sp>
        <p:nvSpPr>
          <p:cNvPr id="33" name="Text 31"/>
          <p:cNvSpPr/>
          <p:nvPr/>
        </p:nvSpPr>
        <p:spPr>
          <a:xfrm>
            <a:off x="5375633" y="2615184"/>
            <a:ext cx="825454" cy="292608"/>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1,050.00</a:t>
            </a:r>
            <a:endParaRPr lang="en-US" sz="1050" dirty="0"/>
          </a:p>
        </p:txBody>
      </p:sp>
      <p:sp>
        <p:nvSpPr>
          <p:cNvPr id="34" name="Text 32"/>
          <p:cNvSpPr/>
          <p:nvPr/>
        </p:nvSpPr>
        <p:spPr>
          <a:xfrm>
            <a:off x="6310815" y="2615184"/>
            <a:ext cx="1059249" cy="292608"/>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₱10,500</a:t>
            </a:r>
            <a:endParaRPr lang="en-US" sz="1050" dirty="0"/>
          </a:p>
        </p:txBody>
      </p:sp>
      <p:sp>
        <p:nvSpPr>
          <p:cNvPr id="35" name="Shape 33"/>
          <p:cNvSpPr/>
          <p:nvPr/>
        </p:nvSpPr>
        <p:spPr>
          <a:xfrm>
            <a:off x="566928" y="3136392"/>
            <a:ext cx="6858000" cy="1371600"/>
          </a:xfrm>
          <a:prstGeom prst="roundRect">
            <a:avLst>
              <a:gd name="adj" fmla="val 5333"/>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36" name="Text 34"/>
          <p:cNvSpPr/>
          <p:nvPr/>
        </p:nvSpPr>
        <p:spPr>
          <a:xfrm>
            <a:off x="822960" y="3291840"/>
            <a:ext cx="63093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OT hours are PER DAY</a:t>
            </a:r>
            <a:endParaRPr lang="en-US" sz="1450" dirty="0"/>
          </a:p>
        </p:txBody>
      </p:sp>
      <p:sp>
        <p:nvSpPr>
          <p:cNvPr id="37" name="Text 35"/>
          <p:cNvSpPr/>
          <p:nvPr/>
        </p:nvSpPr>
        <p:spPr>
          <a:xfrm>
            <a:off x="822960" y="3639312"/>
            <a:ext cx="6309360" cy="777240"/>
          </a:xfrm>
          <a:prstGeom prst="rect">
            <a:avLst/>
          </a:prstGeom>
          <a:noFill/>
          <a:ln/>
        </p:spPr>
        <p:txBody>
          <a:bodyPr wrap="square" lIns="0" tIns="0" rIns="0" bIns="0" rtlCol="0" anchor="t"/>
          <a:lstStyle/>
          <a:p>
            <a:pPr algn="l" indent="0" marL="0">
              <a:lnSpc>
                <a:spcPts val="1600"/>
              </a:lnSpc>
              <a:buNone/>
            </a:pPr>
            <a:r>
              <a:rPr lang="en-US" sz="1200" dirty="0">
                <a:solidFill>
                  <a:srgbClr val="E6EDF3"/>
                </a:solidFill>
                <a:latin typeface="Calibri" pitchFamily="34" charset="0"/>
                <a:ea typeface="Calibri" pitchFamily="34" charset="-122"/>
                <a:cs typeface="Calibri" pitchFamily="34" charset="-120"/>
              </a:rPr>
              <a:t>3 hours over 10 days is charged as 30 hours, matching the OT HRS column on our own manpower loading sheet. Overtime is paid at 1.25 × the hourly rate (day rate ÷ 8) unless you change the OT rate on this CE.</a:t>
            </a:r>
            <a:endParaRPr lang="en-US" sz="1200" dirty="0"/>
          </a:p>
        </p:txBody>
      </p:sp>
      <p:sp>
        <p:nvSpPr>
          <p:cNvPr id="38" name="Shape 36"/>
          <p:cNvSpPr/>
          <p:nvPr/>
        </p:nvSpPr>
        <p:spPr>
          <a:xfrm>
            <a:off x="566928" y="4690872"/>
            <a:ext cx="6858000" cy="1371600"/>
          </a:xfrm>
          <a:prstGeom prst="roundRect">
            <a:avLst>
              <a:gd name="adj" fmla="val 533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9" name="Text 37"/>
          <p:cNvSpPr/>
          <p:nvPr/>
        </p:nvSpPr>
        <p:spPr>
          <a:xfrm>
            <a:off x="822960" y="4846320"/>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The Scope Task column</a:t>
            </a:r>
            <a:endParaRPr lang="en-US" sz="1400" dirty="0"/>
          </a:p>
        </p:txBody>
      </p:sp>
      <p:sp>
        <p:nvSpPr>
          <p:cNvPr id="40" name="Text 38"/>
          <p:cNvSpPr/>
          <p:nvPr/>
        </p:nvSpPr>
        <p:spPr>
          <a:xfrm>
            <a:off x="822960" y="5175504"/>
            <a:ext cx="6309360" cy="82296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Every row shows which scope task it belongs to, so two rows for one role are explained. Rows are numbered; each shift ends with SUB TOTAL (×multiplier), pax and cost. Row Total is pay plus overtime; benefits land in the grand total.</a:t>
            </a:r>
            <a:endParaRPr lang="en-US" sz="1150" dirty="0"/>
          </a:p>
        </p:txBody>
      </p:sp>
      <p:sp>
        <p:nvSpPr>
          <p:cNvPr id="41" name="Shape 39"/>
          <p:cNvSpPr/>
          <p:nvPr/>
        </p:nvSpPr>
        <p:spPr>
          <a:xfrm>
            <a:off x="7635240" y="20482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2" name="Text 40"/>
          <p:cNvSpPr/>
          <p:nvPr/>
        </p:nvSpPr>
        <p:spPr>
          <a:xfrm>
            <a:off x="7863840" y="21945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Shifts — and their multipliers</a:t>
            </a:r>
            <a:endParaRPr lang="en-US" sz="1400" dirty="0"/>
          </a:p>
        </p:txBody>
      </p:sp>
      <p:sp>
        <p:nvSpPr>
          <p:cNvPr id="43" name="Text 41"/>
          <p:cNvSpPr/>
          <p:nvPr/>
        </p:nvSpPr>
        <p:spPr>
          <a:xfrm>
            <a:off x="7863840" y="25054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New CEs start on the company standard (Admin → Shift Multipliers). Edit a box to change this CE only; ● marks one off the standard.</a:t>
            </a:r>
            <a:endParaRPr lang="en-US" sz="1100" dirty="0"/>
          </a:p>
        </p:txBody>
      </p:sp>
      <p:sp>
        <p:nvSpPr>
          <p:cNvPr id="44" name="Shape 42"/>
          <p:cNvSpPr/>
          <p:nvPr/>
        </p:nvSpPr>
        <p:spPr>
          <a:xfrm>
            <a:off x="7635240" y="34198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5" name="Text 43"/>
          <p:cNvSpPr/>
          <p:nvPr/>
        </p:nvSpPr>
        <p:spPr>
          <a:xfrm>
            <a:off x="7863840" y="35661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Benefits</a:t>
            </a:r>
            <a:endParaRPr lang="en-US" sz="1400" dirty="0"/>
          </a:p>
        </p:txBody>
      </p:sp>
      <p:sp>
        <p:nvSpPr>
          <p:cNvPr id="46" name="Text 44"/>
          <p:cNvSpPr/>
          <p:nvPr/>
        </p:nvSpPr>
        <p:spPr>
          <a:xfrm>
            <a:off x="7863840" y="38770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13th month, SSS, HDMF/PHIC and SIL are added automatically, per role, in C.7. The next slide shows how to read it.</a:t>
            </a:r>
            <a:endParaRPr lang="en-US" sz="1100" dirty="0"/>
          </a:p>
        </p:txBody>
      </p:sp>
      <p:sp>
        <p:nvSpPr>
          <p:cNvPr id="47" name="Shape 45"/>
          <p:cNvSpPr/>
          <p:nvPr/>
        </p:nvSpPr>
        <p:spPr>
          <a:xfrm>
            <a:off x="7635240" y="47914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8" name="Text 46"/>
          <p:cNvSpPr/>
          <p:nvPr/>
        </p:nvSpPr>
        <p:spPr>
          <a:xfrm>
            <a:off x="7863840" y="49377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Incentive</a:t>
            </a:r>
            <a:endParaRPr lang="en-US" sz="1400" dirty="0"/>
          </a:p>
        </p:txBody>
      </p:sp>
      <p:sp>
        <p:nvSpPr>
          <p:cNvPr id="49" name="Text 47"/>
          <p:cNvSpPr/>
          <p:nvPr/>
        </p:nvSpPr>
        <p:spPr>
          <a:xfrm>
            <a:off x="7863840" y="52486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Per person, per day, from the Masterlist. Charged in C.7 Benefits. Not charged on ShopWorks.</a:t>
            </a:r>
            <a:endParaRPr lang="en-US" sz="1100" dirty="0"/>
          </a:p>
        </p:txBody>
      </p:sp>
      <p:sp>
        <p:nvSpPr>
          <p:cNvPr id="50" name="Text 48"/>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1" name="Text 49"/>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BENEFITS &amp; OTHERS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Reading C.7, and the Incentive</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Benefits are calculated for you. This is how the table on the Manpower tab and the printed CE lays them out.</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One line per role, shifts under it</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role on more than one shift shows a subtotal line, with each shift listed under it by name: Regular Day, Sunday Day…</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QTY: the same person works the regular, Sunday and holiday days, so those do not add. Day and night crews are different people — 1 on days + 1 on nights is 2</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DAYS is the man-days divided by QTY. Hover it to see each shift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ECC is ₱30 per person per month (26 working days, rounded up), shared across the role’s shifts — hover SIL &amp; ECC to see it. Older CEs keep ₱30 per shift line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last row gives Total manpower — the headcount</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Incentive</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Per person, per day, added in C.7. It used to be called Per diem</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Comes from the Masterlist when you pick or type the role; Sync Rates brings it up to date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If the Masterlist now says something different, an "ML ₱200" button beside it adopts the new figure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ShopWorks CEs charge no Incentive, and the column is hidden</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CONSOLIDATE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One crew, several tasks</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same electrician appears under every task that needs one. Combine them into the crew you actually mobilise.</a:t>
            </a:r>
            <a:endParaRPr lang="en-US" sz="1400" dirty="0"/>
          </a:p>
        </p:txBody>
      </p:sp>
      <p:sp>
        <p:nvSpPr>
          <p:cNvPr id="5" name="Text 3"/>
          <p:cNvSpPr/>
          <p:nvPr/>
        </p:nvSpPr>
        <p:spPr>
          <a:xfrm>
            <a:off x="566928" y="1911096"/>
            <a:ext cx="2743200" cy="256032"/>
          </a:xfrm>
          <a:prstGeom prst="rect">
            <a:avLst/>
          </a:prstGeom>
          <a:noFill/>
          <a:ln/>
        </p:spPr>
        <p:txBody>
          <a:bodyPr wrap="square" lIns="0" tIns="0" rIns="0" bIns="0" rtlCol="0" anchor="ctr"/>
          <a:lstStyle/>
          <a:p>
            <a:pPr algn="l" indent="0" marL="0">
              <a:buNone/>
            </a:pPr>
            <a:endParaRPr lang="en-US" sz="850" dirty="0"/>
          </a:p>
        </p:txBody>
      </p:sp>
      <p:sp>
        <p:nvSpPr>
          <p:cNvPr id="6" name="Text 4"/>
          <p:cNvSpPr/>
          <p:nvPr/>
        </p:nvSpPr>
        <p:spPr>
          <a:xfrm>
            <a:off x="3310128" y="1911096"/>
            <a:ext cx="1143000"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PAX</a:t>
            </a:r>
            <a:endParaRPr lang="en-US" sz="850" dirty="0"/>
          </a:p>
        </p:txBody>
      </p:sp>
      <p:sp>
        <p:nvSpPr>
          <p:cNvPr id="7" name="Text 5"/>
          <p:cNvSpPr/>
          <p:nvPr/>
        </p:nvSpPr>
        <p:spPr>
          <a:xfrm>
            <a:off x="4453128" y="1911096"/>
            <a:ext cx="1143000"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DAYS</a:t>
            </a:r>
            <a:endParaRPr lang="en-US" sz="850" dirty="0"/>
          </a:p>
        </p:txBody>
      </p:sp>
      <p:sp>
        <p:nvSpPr>
          <p:cNvPr id="8" name="Text 6"/>
          <p:cNvSpPr/>
          <p:nvPr/>
        </p:nvSpPr>
        <p:spPr>
          <a:xfrm>
            <a:off x="5596128" y="1911096"/>
            <a:ext cx="1828800"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COST</a:t>
            </a:r>
            <a:endParaRPr lang="en-US" sz="850" dirty="0"/>
          </a:p>
        </p:txBody>
      </p:sp>
      <p:sp>
        <p:nvSpPr>
          <p:cNvPr id="9" name="Shape 7"/>
          <p:cNvSpPr/>
          <p:nvPr/>
        </p:nvSpPr>
        <p:spPr>
          <a:xfrm>
            <a:off x="566928" y="2185416"/>
            <a:ext cx="6858000" cy="347472"/>
          </a:xfrm>
          <a:prstGeom prst="rect">
            <a:avLst/>
          </a:prstGeom>
          <a:solidFill>
            <a:srgbClr val="1C2128"/>
          </a:solidFill>
          <a:ln w="6350">
            <a:solidFill>
              <a:srgbClr val="30363D"/>
            </a:solidFill>
            <a:prstDash val="solid"/>
          </a:ln>
        </p:spPr>
        <p:txBody>
          <a:bodyPr/>
          <a:p/>
        </p:txBody>
      </p:sp>
      <p:sp>
        <p:nvSpPr>
          <p:cNvPr id="10" name="Text 8"/>
          <p:cNvSpPr/>
          <p:nvPr/>
        </p:nvSpPr>
        <p:spPr>
          <a:xfrm>
            <a:off x="621792" y="2185416"/>
            <a:ext cx="2633472" cy="347472"/>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Task 1  Cut and prep</a:t>
            </a:r>
            <a:endParaRPr lang="en-US" sz="1050" dirty="0"/>
          </a:p>
        </p:txBody>
      </p:sp>
      <p:sp>
        <p:nvSpPr>
          <p:cNvPr id="11" name="Text 9"/>
          <p:cNvSpPr/>
          <p:nvPr/>
        </p:nvSpPr>
        <p:spPr>
          <a:xfrm>
            <a:off x="3364992" y="2185416"/>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a:t>
            </a:r>
            <a:endParaRPr lang="en-US" sz="1050" dirty="0"/>
          </a:p>
        </p:txBody>
      </p:sp>
      <p:sp>
        <p:nvSpPr>
          <p:cNvPr id="12" name="Text 10"/>
          <p:cNvSpPr/>
          <p:nvPr/>
        </p:nvSpPr>
        <p:spPr>
          <a:xfrm>
            <a:off x="4507992" y="2185416"/>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2</a:t>
            </a:r>
            <a:endParaRPr lang="en-US" sz="1050" dirty="0"/>
          </a:p>
        </p:txBody>
      </p:sp>
      <p:sp>
        <p:nvSpPr>
          <p:cNvPr id="13" name="Text 11"/>
          <p:cNvSpPr/>
          <p:nvPr/>
        </p:nvSpPr>
        <p:spPr>
          <a:xfrm>
            <a:off x="5650992" y="2185416"/>
            <a:ext cx="1719072" cy="347472"/>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₱1,700</a:t>
            </a:r>
            <a:endParaRPr lang="en-US" sz="1050" dirty="0"/>
          </a:p>
        </p:txBody>
      </p:sp>
      <p:sp>
        <p:nvSpPr>
          <p:cNvPr id="14" name="Shape 12"/>
          <p:cNvSpPr/>
          <p:nvPr/>
        </p:nvSpPr>
        <p:spPr>
          <a:xfrm>
            <a:off x="566928" y="2532888"/>
            <a:ext cx="6858000" cy="347472"/>
          </a:xfrm>
          <a:prstGeom prst="rect">
            <a:avLst/>
          </a:prstGeom>
          <a:solidFill>
            <a:srgbClr val="161B22"/>
          </a:solidFill>
          <a:ln w="6350">
            <a:solidFill>
              <a:srgbClr val="30363D"/>
            </a:solidFill>
            <a:prstDash val="solid"/>
          </a:ln>
        </p:spPr>
        <p:txBody>
          <a:bodyPr/>
          <a:p/>
        </p:txBody>
      </p:sp>
      <p:sp>
        <p:nvSpPr>
          <p:cNvPr id="15" name="Text 13"/>
          <p:cNvSpPr/>
          <p:nvPr/>
        </p:nvSpPr>
        <p:spPr>
          <a:xfrm>
            <a:off x="621792" y="2532888"/>
            <a:ext cx="2633472" cy="347472"/>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Task 2  Final machining</a:t>
            </a:r>
            <a:endParaRPr lang="en-US" sz="1050" dirty="0"/>
          </a:p>
        </p:txBody>
      </p:sp>
      <p:sp>
        <p:nvSpPr>
          <p:cNvPr id="16" name="Text 14"/>
          <p:cNvSpPr/>
          <p:nvPr/>
        </p:nvSpPr>
        <p:spPr>
          <a:xfrm>
            <a:off x="3364992" y="2532888"/>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3</a:t>
            </a:r>
            <a:endParaRPr lang="en-US" sz="1050" dirty="0"/>
          </a:p>
        </p:txBody>
      </p:sp>
      <p:sp>
        <p:nvSpPr>
          <p:cNvPr id="17" name="Text 15"/>
          <p:cNvSpPr/>
          <p:nvPr/>
        </p:nvSpPr>
        <p:spPr>
          <a:xfrm>
            <a:off x="4507992" y="2532888"/>
            <a:ext cx="1033272" cy="347472"/>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5</a:t>
            </a:r>
            <a:endParaRPr lang="en-US" sz="1050" dirty="0"/>
          </a:p>
        </p:txBody>
      </p:sp>
      <p:sp>
        <p:nvSpPr>
          <p:cNvPr id="18" name="Text 16"/>
          <p:cNvSpPr/>
          <p:nvPr/>
        </p:nvSpPr>
        <p:spPr>
          <a:xfrm>
            <a:off x="5650992" y="2532888"/>
            <a:ext cx="1719072" cy="347472"/>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₱12,750</a:t>
            </a:r>
            <a:endParaRPr lang="en-US" sz="1050" dirty="0"/>
          </a:p>
        </p:txBody>
      </p:sp>
      <p:sp>
        <p:nvSpPr>
          <p:cNvPr id="19" name="Shape 17"/>
          <p:cNvSpPr/>
          <p:nvPr/>
        </p:nvSpPr>
        <p:spPr>
          <a:xfrm>
            <a:off x="566928" y="2880360"/>
            <a:ext cx="6858000" cy="347472"/>
          </a:xfrm>
          <a:prstGeom prst="rect">
            <a:avLst/>
          </a:prstGeom>
          <a:solidFill>
            <a:srgbClr val="1C2128"/>
          </a:solidFill>
          <a:ln w="6350">
            <a:solidFill>
              <a:srgbClr val="30363D"/>
            </a:solidFill>
            <a:prstDash val="solid"/>
          </a:ln>
        </p:spPr>
        <p:txBody>
          <a:bodyPr/>
          <a:p/>
        </p:txBody>
      </p:sp>
      <p:sp>
        <p:nvSpPr>
          <p:cNvPr id="20" name="Text 18"/>
          <p:cNvSpPr/>
          <p:nvPr/>
        </p:nvSpPr>
        <p:spPr>
          <a:xfrm>
            <a:off x="621792" y="2880360"/>
            <a:ext cx="2633472" cy="347472"/>
          </a:xfrm>
          <a:prstGeom prst="rect">
            <a:avLst/>
          </a:prstGeom>
          <a:noFill/>
          <a:ln/>
        </p:spPr>
        <p:txBody>
          <a:bodyPr wrap="square" lIns="0" tIns="0" rIns="0" bIns="0" rtlCol="0" anchor="ctr"/>
          <a:lstStyle/>
          <a:p>
            <a:pPr algn="l" indent="0" marL="0">
              <a:buNone/>
            </a:pPr>
            <a:r>
              <a:rPr lang="en-US" sz="1050" dirty="0">
                <a:solidFill>
                  <a:srgbClr val="9AA4AF"/>
                </a:solidFill>
                <a:latin typeface="Calibri" pitchFamily="34" charset="0"/>
                <a:ea typeface="Calibri" pitchFamily="34" charset="-122"/>
                <a:cs typeface="Calibri" pitchFamily="34" charset="-120"/>
              </a:rPr>
              <a:t>Rows added up</a:t>
            </a:r>
            <a:endParaRPr lang="en-US" sz="1050" dirty="0"/>
          </a:p>
        </p:txBody>
      </p:sp>
      <p:sp>
        <p:nvSpPr>
          <p:cNvPr id="21" name="Text 19"/>
          <p:cNvSpPr/>
          <p:nvPr/>
        </p:nvSpPr>
        <p:spPr>
          <a:xfrm>
            <a:off x="3364992" y="2880360"/>
            <a:ext cx="1033272" cy="347472"/>
          </a:xfrm>
          <a:prstGeom prst="rect">
            <a:avLst/>
          </a:prstGeom>
          <a:noFill/>
          <a:ln/>
        </p:spPr>
        <p:txBody>
          <a:bodyPr wrap="square" lIns="0" tIns="0" rIns="0" bIns="0" rtlCol="0" anchor="ctr"/>
          <a:lstStyle/>
          <a:p>
            <a:pPr algn="ctr" indent="0" marL="0">
              <a:buNone/>
            </a:pPr>
            <a:endParaRPr lang="en-US" sz="1050" dirty="0"/>
          </a:p>
        </p:txBody>
      </p:sp>
      <p:sp>
        <p:nvSpPr>
          <p:cNvPr id="22" name="Text 20"/>
          <p:cNvSpPr/>
          <p:nvPr/>
        </p:nvSpPr>
        <p:spPr>
          <a:xfrm>
            <a:off x="4507992" y="2880360"/>
            <a:ext cx="1033272" cy="347472"/>
          </a:xfrm>
          <a:prstGeom prst="rect">
            <a:avLst/>
          </a:prstGeom>
          <a:noFill/>
          <a:ln/>
        </p:spPr>
        <p:txBody>
          <a:bodyPr wrap="square" lIns="0" tIns="0" rIns="0" bIns="0" rtlCol="0" anchor="ctr"/>
          <a:lstStyle/>
          <a:p>
            <a:pPr algn="ctr" indent="0" marL="0">
              <a:buNone/>
            </a:pPr>
            <a:endParaRPr lang="en-US" sz="1050" dirty="0"/>
          </a:p>
        </p:txBody>
      </p:sp>
      <p:sp>
        <p:nvSpPr>
          <p:cNvPr id="23" name="Text 21"/>
          <p:cNvSpPr/>
          <p:nvPr/>
        </p:nvSpPr>
        <p:spPr>
          <a:xfrm>
            <a:off x="5650992" y="2880360"/>
            <a:ext cx="1719072" cy="347472"/>
          </a:xfrm>
          <a:prstGeom prst="rect">
            <a:avLst/>
          </a:prstGeom>
          <a:noFill/>
          <a:ln/>
        </p:spPr>
        <p:txBody>
          <a:bodyPr wrap="square" lIns="0" tIns="0" rIns="0" bIns="0" rtlCol="0" anchor="ctr"/>
          <a:lstStyle/>
          <a:p>
            <a:pPr algn="r" indent="0" marL="0">
              <a:buNone/>
            </a:pPr>
            <a:r>
              <a:rPr lang="en-US" sz="1050" dirty="0">
                <a:solidFill>
                  <a:srgbClr val="9AA4AF"/>
                </a:solidFill>
                <a:latin typeface="Calibri" pitchFamily="34" charset="0"/>
                <a:ea typeface="Calibri" pitchFamily="34" charset="-122"/>
                <a:cs typeface="Calibri" pitchFamily="34" charset="-120"/>
              </a:rPr>
              <a:t>₱14,450</a:t>
            </a:r>
            <a:endParaRPr lang="en-US" sz="1050" dirty="0"/>
          </a:p>
        </p:txBody>
      </p:sp>
      <p:sp>
        <p:nvSpPr>
          <p:cNvPr id="24" name="Shape 22"/>
          <p:cNvSpPr/>
          <p:nvPr/>
        </p:nvSpPr>
        <p:spPr>
          <a:xfrm>
            <a:off x="566928" y="3227832"/>
            <a:ext cx="6858000" cy="347472"/>
          </a:xfrm>
          <a:prstGeom prst="rect">
            <a:avLst/>
          </a:prstGeom>
          <a:solidFill>
            <a:srgbClr val="161B22"/>
          </a:solidFill>
          <a:ln w="6350">
            <a:solidFill>
              <a:srgbClr val="30363D"/>
            </a:solidFill>
            <a:prstDash val="solid"/>
          </a:ln>
        </p:spPr>
        <p:txBody>
          <a:bodyPr/>
          <a:p/>
        </p:txBody>
      </p:sp>
      <p:sp>
        <p:nvSpPr>
          <p:cNvPr id="25" name="Text 23"/>
          <p:cNvSpPr/>
          <p:nvPr/>
        </p:nvSpPr>
        <p:spPr>
          <a:xfrm>
            <a:off x="621792" y="3227832"/>
            <a:ext cx="2633472" cy="347472"/>
          </a:xfrm>
          <a:prstGeom prst="rect">
            <a:avLst/>
          </a:prstGeom>
          <a:noFill/>
          <a:ln/>
        </p:spPr>
        <p:txBody>
          <a:bodyPr wrap="square" lIns="0" tIns="0" rIns="0" bIns="0" rtlCol="0" anchor="ctr"/>
          <a:lstStyle/>
          <a:p>
            <a:pPr algn="l" indent="0" marL="0">
              <a:buNone/>
            </a:pPr>
            <a:r>
              <a:rPr lang="en-US" sz="1050" b="1" dirty="0">
                <a:solidFill>
                  <a:srgbClr val="F0A429"/>
                </a:solidFill>
                <a:latin typeface="Calibri" pitchFamily="34" charset="0"/>
                <a:ea typeface="Calibri" pitchFamily="34" charset="-122"/>
                <a:cs typeface="Calibri" pitchFamily="34" charset="-120"/>
              </a:rPr>
              <a:t>CONSOLIDATED CREW</a:t>
            </a:r>
            <a:endParaRPr lang="en-US" sz="1050" dirty="0"/>
          </a:p>
        </p:txBody>
      </p:sp>
      <p:sp>
        <p:nvSpPr>
          <p:cNvPr id="26" name="Text 24"/>
          <p:cNvSpPr/>
          <p:nvPr/>
        </p:nvSpPr>
        <p:spPr>
          <a:xfrm>
            <a:off x="3364992" y="3227832"/>
            <a:ext cx="1033272" cy="347472"/>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3</a:t>
            </a:r>
            <a:endParaRPr lang="en-US" sz="1050" dirty="0"/>
          </a:p>
        </p:txBody>
      </p:sp>
      <p:sp>
        <p:nvSpPr>
          <p:cNvPr id="27" name="Text 25"/>
          <p:cNvSpPr/>
          <p:nvPr/>
        </p:nvSpPr>
        <p:spPr>
          <a:xfrm>
            <a:off x="4507992" y="3227832"/>
            <a:ext cx="1033272" cy="347472"/>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7</a:t>
            </a:r>
            <a:endParaRPr lang="en-US" sz="1050" dirty="0"/>
          </a:p>
        </p:txBody>
      </p:sp>
      <p:sp>
        <p:nvSpPr>
          <p:cNvPr id="28" name="Text 26"/>
          <p:cNvSpPr/>
          <p:nvPr/>
        </p:nvSpPr>
        <p:spPr>
          <a:xfrm>
            <a:off x="5650992" y="3227832"/>
            <a:ext cx="1719072" cy="347472"/>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₱17,850</a:t>
            </a:r>
            <a:endParaRPr lang="en-US" sz="1050" dirty="0"/>
          </a:p>
        </p:txBody>
      </p:sp>
      <p:sp>
        <p:nvSpPr>
          <p:cNvPr id="29" name="Shape 27"/>
          <p:cNvSpPr/>
          <p:nvPr/>
        </p:nvSpPr>
        <p:spPr>
          <a:xfrm>
            <a:off x="566928" y="3849624"/>
            <a:ext cx="6858000" cy="1371600"/>
          </a:xfrm>
          <a:prstGeom prst="roundRect">
            <a:avLst>
              <a:gd name="adj" fmla="val 5333"/>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30" name="Text 28"/>
          <p:cNvSpPr/>
          <p:nvPr/>
        </p:nvSpPr>
        <p:spPr>
          <a:xfrm>
            <a:off x="822960" y="4014216"/>
            <a:ext cx="63093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The largest PAX, for the total days</a:t>
            </a:r>
            <a:endParaRPr lang="en-US" sz="1450" dirty="0"/>
          </a:p>
        </p:txBody>
      </p:sp>
      <p:sp>
        <p:nvSpPr>
          <p:cNvPr id="31" name="Text 29"/>
          <p:cNvSpPr/>
          <p:nvPr/>
        </p:nvSpPr>
        <p:spPr>
          <a:xfrm>
            <a:off x="822960" y="4361688"/>
            <a:ext cx="6309360" cy="777240"/>
          </a:xfrm>
          <a:prstGeom prst="rect">
            <a:avLst/>
          </a:prstGeom>
          <a:noFill/>
          <a:ln/>
        </p:spPr>
        <p:txBody>
          <a:bodyPr wrap="square" lIns="0" tIns="0" rIns="0" bIns="0" rtlCol="0" anchor="t"/>
          <a:lstStyle/>
          <a:p>
            <a:pPr algn="l" indent="0" marL="0">
              <a:lnSpc>
                <a:spcPts val="1600"/>
              </a:lnSpc>
              <a:buNone/>
            </a:pPr>
            <a:r>
              <a:rPr lang="en-US" sz="1200" dirty="0">
                <a:solidFill>
                  <a:srgbClr val="E6EDF3"/>
                </a:solidFill>
                <a:latin typeface="Calibri" pitchFamily="34" charset="0"/>
                <a:ea typeface="Calibri" pitchFamily="34" charset="-122"/>
                <a:cs typeface="Calibri" pitchFamily="34" charset="-120"/>
              </a:rPr>
              <a:t>You mobilise 3 electricians for the whole 7 days and pay them whether or not task 1 needs all three. That is why consolidating COSTS MORE than adding the rows up — and why the higher figure is the right one.</a:t>
            </a:r>
            <a:endParaRPr lang="en-US" sz="1200" dirty="0"/>
          </a:p>
        </p:txBody>
      </p:sp>
      <p:sp>
        <p:nvSpPr>
          <p:cNvPr id="32" name="Shape 30"/>
          <p:cNvSpPr/>
          <p:nvPr/>
        </p:nvSpPr>
        <p:spPr>
          <a:xfrm>
            <a:off x="7635240" y="1911096"/>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3" name="Text 31"/>
          <p:cNvSpPr/>
          <p:nvPr/>
        </p:nvSpPr>
        <p:spPr>
          <a:xfrm>
            <a:off x="7863840" y="2029968"/>
            <a:ext cx="3566160" cy="274320"/>
          </a:xfrm>
          <a:prstGeom prst="rect">
            <a:avLst/>
          </a:prstGeom>
          <a:noFill/>
          <a:ln/>
        </p:spPr>
        <p:txBody>
          <a:bodyPr wrap="square" lIns="0" tIns="0" rIns="0" bIns="0" rtlCol="0" anchor="ctr"/>
          <a:lstStyle/>
          <a:p>
            <a:pPr indent="0" marL="0">
              <a:buNone/>
            </a:pPr>
            <a:r>
              <a:rPr lang="en-US" sz="1300" b="1" dirty="0">
                <a:solidFill>
                  <a:srgbClr val="F0A429"/>
                </a:solidFill>
                <a:latin typeface="Arial" pitchFamily="34" charset="0"/>
                <a:ea typeface="Arial" pitchFamily="34" charset="-122"/>
                <a:cs typeface="Arial" pitchFamily="34" charset="-120"/>
              </a:rPr>
              <a:t>⇊ Consolidate crew</a:t>
            </a:r>
            <a:endParaRPr lang="en-US" sz="1300" dirty="0"/>
          </a:p>
        </p:txBody>
      </p:sp>
      <p:sp>
        <p:nvSpPr>
          <p:cNvPr id="34" name="Text 32"/>
          <p:cNvSpPr/>
          <p:nvPr/>
        </p:nvSpPr>
        <p:spPr>
          <a:xfrm>
            <a:off x="7863840" y="2322576"/>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On the Manpower tab, under each shift. It shows the arithmetic and warns that the cost will rise before it changes anything.</a:t>
            </a:r>
            <a:endParaRPr lang="en-US" sz="1050" dirty="0"/>
          </a:p>
        </p:txBody>
      </p:sp>
      <p:sp>
        <p:nvSpPr>
          <p:cNvPr id="35" name="Shape 33"/>
          <p:cNvSpPr/>
          <p:nvPr/>
        </p:nvSpPr>
        <p:spPr>
          <a:xfrm>
            <a:off x="7635240" y="3118104"/>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6" name="Text 34"/>
          <p:cNvSpPr/>
          <p:nvPr/>
        </p:nvSpPr>
        <p:spPr>
          <a:xfrm>
            <a:off x="7863840" y="3236976"/>
            <a:ext cx="3566160" cy="274320"/>
          </a:xfrm>
          <a:prstGeom prst="rect">
            <a:avLst/>
          </a:prstGeom>
          <a:noFill/>
          <a:ln/>
        </p:spPr>
        <p:txBody>
          <a:bodyPr wrap="square" lIns="0" tIns="0" rIns="0" bIns="0" rtlCol="0" anchor="ctr"/>
          <a:lstStyle/>
          <a:p>
            <a:pPr indent="0" marL="0">
              <a:buNone/>
            </a:pPr>
            <a:r>
              <a:rPr lang="en-US" sz="1300" b="1" dirty="0">
                <a:solidFill>
                  <a:srgbClr val="58A6FF"/>
                </a:solidFill>
                <a:latin typeface="Arial" pitchFamily="34" charset="0"/>
                <a:ea typeface="Arial" pitchFamily="34" charset="-122"/>
                <a:cs typeface="Arial" pitchFamily="34" charset="-120"/>
              </a:rPr>
              <a:t>Tools &amp; Equipment</a:t>
            </a:r>
            <a:endParaRPr lang="en-US" sz="1300" dirty="0"/>
          </a:p>
        </p:txBody>
      </p:sp>
      <p:sp>
        <p:nvSpPr>
          <p:cNvPr id="37" name="Text 35"/>
          <p:cNvSpPr/>
          <p:nvPr/>
        </p:nvSpPr>
        <p:spPr>
          <a:xfrm>
            <a:off x="7863840" y="3529584"/>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Same rule — one compressor covers both tasks. Use ⇊ Combine on that tab.</a:t>
            </a:r>
            <a:endParaRPr lang="en-US" sz="1050" dirty="0"/>
          </a:p>
        </p:txBody>
      </p:sp>
      <p:sp>
        <p:nvSpPr>
          <p:cNvPr id="38" name="Shape 36"/>
          <p:cNvSpPr/>
          <p:nvPr/>
        </p:nvSpPr>
        <p:spPr>
          <a:xfrm>
            <a:off x="7635240" y="4325112"/>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9" name="Text 37"/>
          <p:cNvSpPr/>
          <p:nvPr/>
        </p:nvSpPr>
        <p:spPr>
          <a:xfrm>
            <a:off x="7863840" y="4443984"/>
            <a:ext cx="3566160" cy="274320"/>
          </a:xfrm>
          <a:prstGeom prst="rect">
            <a:avLst/>
          </a:prstGeom>
          <a:noFill/>
          <a:ln/>
        </p:spPr>
        <p:txBody>
          <a:bodyPr wrap="square" lIns="0" tIns="0" rIns="0" bIns="0" rtlCol="0" anchor="ctr"/>
          <a:lstStyle/>
          <a:p>
            <a:pPr indent="0" marL="0">
              <a:buNone/>
            </a:pPr>
            <a:r>
              <a:rPr lang="en-US" sz="1300" b="1" dirty="0">
                <a:solidFill>
                  <a:srgbClr val="3FB950"/>
                </a:solidFill>
                <a:latin typeface="Arial" pitchFamily="34" charset="0"/>
                <a:ea typeface="Arial" pitchFamily="34" charset="-122"/>
                <a:cs typeface="Arial" pitchFamily="34" charset="-120"/>
              </a:rPr>
              <a:t>Materials · PPE · Misc.</a:t>
            </a:r>
            <a:endParaRPr lang="en-US" sz="1300" dirty="0"/>
          </a:p>
        </p:txBody>
      </p:sp>
      <p:sp>
        <p:nvSpPr>
          <p:cNvPr id="40" name="Text 38"/>
          <p:cNvSpPr/>
          <p:nvPr/>
        </p:nvSpPr>
        <p:spPr>
          <a:xfrm>
            <a:off x="7863840" y="4736592"/>
            <a:ext cx="3566160" cy="603504"/>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The opposite: consumables are used up, so 5 L + 8 L = 13 L and the total does not change.</a:t>
            </a:r>
            <a:endParaRPr lang="en-US" sz="1050" dirty="0"/>
          </a:p>
        </p:txBody>
      </p:sp>
      <p:sp>
        <p:nvSpPr>
          <p:cNvPr id="41" name="Shape 39"/>
          <p:cNvSpPr/>
          <p:nvPr/>
        </p:nvSpPr>
        <p:spPr>
          <a:xfrm>
            <a:off x="7635240" y="5522976"/>
            <a:ext cx="3977640" cy="868680"/>
          </a:xfrm>
          <a:prstGeom prst="roundRect">
            <a:avLst>
              <a:gd name="adj" fmla="val 842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2" name="Text 40"/>
          <p:cNvSpPr/>
          <p:nvPr/>
        </p:nvSpPr>
        <p:spPr>
          <a:xfrm>
            <a:off x="7863840" y="5632704"/>
            <a:ext cx="3566160" cy="274320"/>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Your tasks keep their costs</a:t>
            </a:r>
            <a:endParaRPr lang="en-US" sz="1300" dirty="0"/>
          </a:p>
        </p:txBody>
      </p:sp>
      <p:sp>
        <p:nvSpPr>
          <p:cNvPr id="43" name="Text 41"/>
          <p:cNvSpPr/>
          <p:nvPr/>
        </p:nvSpPr>
        <p:spPr>
          <a:xfrm>
            <a:off x="7863840" y="5925312"/>
            <a:ext cx="3566160" cy="41148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A consolidated row still appears under every task it serves, split in proportion.</a:t>
            </a:r>
            <a:endParaRPr lang="en-US" sz="1050" dirty="0"/>
          </a:p>
        </p:txBody>
      </p:sp>
      <p:sp>
        <p:nvSpPr>
          <p:cNvPr id="44" name="Shape 42"/>
          <p:cNvSpPr/>
          <p:nvPr/>
        </p:nvSpPr>
        <p:spPr>
          <a:xfrm>
            <a:off x="566928" y="5312664"/>
            <a:ext cx="6858000" cy="896112"/>
          </a:xfrm>
          <a:prstGeom prst="roundRect">
            <a:avLst>
              <a:gd name="adj" fmla="val 816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5" name="Text 43"/>
          <p:cNvSpPr/>
          <p:nvPr/>
        </p:nvSpPr>
        <p:spPr>
          <a:xfrm>
            <a:off x="822960" y="5440680"/>
            <a:ext cx="630936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Do it once, at the end</a:t>
            </a:r>
            <a:endParaRPr lang="en-US" sz="1350" dirty="0"/>
          </a:p>
        </p:txBody>
      </p:sp>
      <p:sp>
        <p:nvSpPr>
          <p:cNvPr id="46" name="Text 44"/>
          <p:cNvSpPr/>
          <p:nvPr/>
        </p:nvSpPr>
        <p:spPr>
          <a:xfrm>
            <a:off x="822960" y="5733288"/>
            <a:ext cx="6309360" cy="457200"/>
          </a:xfrm>
          <a:prstGeom prst="rect">
            <a:avLst/>
          </a:prstGeom>
          <a:noFill/>
          <a:ln/>
        </p:spPr>
        <p:txBody>
          <a:bodyPr wrap="square" lIns="0" tIns="0" rIns="0" bIns="0" rtlCol="0" anchor="t"/>
          <a:lstStyle/>
          <a:p>
            <a:pPr algn="l" indent="0" marL="0">
              <a:lnSpc>
                <a:spcPts val="1400"/>
              </a:lnSpc>
              <a:buNone/>
            </a:pPr>
            <a:r>
              <a:rPr lang="en-US" sz="1100" dirty="0">
                <a:solidFill>
                  <a:srgbClr val="9AA4AF"/>
                </a:solidFill>
                <a:latin typeface="Calibri" pitchFamily="34" charset="0"/>
                <a:ea typeface="Calibri" pitchFamily="34" charset="-122"/>
                <a:cs typeface="Calibri" pitchFamily="34" charset="-120"/>
              </a:rPr>
              <a:t>Plan per task in SOW Breakdown first, then consolidate just before you generate the CE. The printed form shows whatever rows exist when you press Generate.</a:t>
            </a:r>
            <a:endParaRPr lang="en-US" sz="1100" dirty="0"/>
          </a:p>
        </p:txBody>
      </p:sp>
      <p:sp>
        <p:nvSpPr>
          <p:cNvPr id="47" name="Text 45"/>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8" name="Text 46"/>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MOBILIZATION &amp; DEMOBILIZATION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crew that travels, and what it costs</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On-site CEs have two cards at the top of the Manpower tab. Each has a manpower table, then its expense lines.</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Manpower, linked to the SOW Breakdown</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Crew from SOW Breakdown adds one SOW-tagged line per role and keeps it in step with the Manpower tab</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PAX is the most on any day shift plus any night shift — 4 welders on two tasks is 4, not 8</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Type over Pax or Rate if travel differs (orange box); ↺ follows the crew again. Days and OT are yours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Add Manpower for anyone who is not on the Manpower tab</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 Demobilization, ⧉ Copy from Mobilization copies the charges you tick; (MOB) becomes (DEMOB). Food allowance and SOW crew are not copied</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On the printed CE</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MOBILIZATION and DEMOBILIZATION are rows A and B of the cost summary</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Their section prints first: manpower with a SUB TOTAL of pax, then the charges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Every manpower SUB TOTAL shows pax; C.7 ends with TOTAL MANPOWER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Both Excel exports carry a Mobilization sheet</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FOOD ALLOWANCE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rates, counted from the crew</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Project manager, admin and skilled manpower are paid different meal allowances. The app counts heads for each rate.</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Where it is counted</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Mob / Demob: added with the crew — the pax who travel × the travel days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Accommodation: 🍽 Food allowance from crew — each role and shift a sub-item, pax × days worked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Lines tagged CREW follow the Manpower; delete them to stop</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Each role’s rate is set in the Masterlist Food Allowance column; Auto guesses from the name</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Keeping the rates right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Rates are the Masterlist → Miscellaneous items MEAL ALLOWANCE (PM), (ADMIN), (SKILLED MANPOWER)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new line takes today’s rate; a saved CE keeps what it was quoted at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Sync meal rates moves every meal line on the open CE to the current rate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Food Allowance column is in the Masterlist template and import</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TOOLS · MATERIALS · PPE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Equipment and consumables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Tools &amp; Equipment</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Charged on a tier: per project, per day, or per hour used. Tier 2 — per day — is the default. On a Shopworks CE each row also carries the power it draws.</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Materials</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Consumables and spare parts. Charged qty × unit cost.</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PPE</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Personal protective equipment, charged the same way.</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From Masterlist</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Pick an item and its rate and unit come with it. Not on it yet? ＋ Add to Masterlist under the row (or ＋ Masterlist in the header) adds it for everyone.</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 Sync Rates</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Re-prices every matching row from the Masterlist, tier figures included. Also on the Summary tab, where it covers the whole CE at once — tools, materials and PPE together.</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 Combine</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Equipment: largest quantity any task needs, for the total days. Consumables: quantities simply add.</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Unit of measure</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62 units grouped by kind — Pcs, Box, Gallon, Kg and more. ↺ Sync UOM sets each row to the Masterlist item’s unit; costs do not change.</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TIER PRICING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ways to charge a tool</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Tier 1 · per project</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 flat share of what the tool costs to own for a year, whatever the duration. Two days and sixty days cost the same. Days and Hours grey out.</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Tier 2 · per day  (default)</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Qty × Days × the daily rate — exactly what the app has always done. A row that names no tier is Tier 2, so nothing already quoted has moved.</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Tier 3 · per hour used</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Qty × Hours × the hourly rate. Type the hours the tool is really used. This is the tier for a short job on expensive equipment.</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Why Tier 3 exists</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high-value tool billed at a minimum day loses small jobs. A van on a 3-day job used 8 hours a day costs ₱1,479 on Tier 2 and ₱493 on Tier 3 — the same money, counted by the hour.</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Setting the tier</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Each row has a Tier box; the toolbar sets which tier NEW rows start on. Pick tools From Masterlist so the tier figures come with them. A Tier 1 or 3 row missing them shows a ⚠.</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On the printed CE</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DAYS column is now BASIS, and reads "per project", "5 days" or "24 hrs" — so the client can see what they are being charged for.</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Judgement still required</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Tier 3 recovers about a sixth of what a tool costs to own per year, against half on Tier 2. It is a deliberate discount to win small work. On a long shutdown, use Tier 2 or 1.</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POWER USAGE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Electricity the shop pays for</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Shopworks only</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An onsite job runs on the client’s supply, so nothing is charged for power there. The three power columns appear on a Shopworks CE and nowhere else.</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kW comes from the Masterlist</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Every tool can carry a power rating. Pick the item from the Masterlist and the rating arrives with the rate. Type it on the row for anything not in the list.</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Running hrs — what it actually draws</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Hours the tool is really running, not how long it is on the floor. A grinder on site for five days does not draw for 120 hours. Independent of the tier.</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The electricity rate</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Pesos per kWh, in the Tools &amp; Equipment header. Starts at ₱12.00. It belongs to THIS CE, so a utility increase never reprices an estimate already sent out.</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What it costs</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Qty × kW × running hrs × ₱/kWh. It shows in its own Power column and is added to the row total on top of the rental.</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Charging no power at all</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Set the rate to 0. The kW and running hours stay on the rows and nothing is billed — useful when power is inside an agreed shop rate.</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On the printed CE</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POWER column sits beside BASIS, so the client can see why a machine costs what it does. A row with no rating shows a dash.</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6 · MISCELLANEOUS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Everything else the job carries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Text 7"/>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0" name="Text 8"/>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1" name="Text 9"/>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2" name="Shape 10"/>
          <p:cNvSpPr/>
          <p:nvPr/>
        </p:nvSpPr>
        <p:spPr>
          <a:xfrm>
            <a:off x="9192768"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Text 14"/>
          <p:cNvSpPr/>
          <p:nvPr/>
        </p:nvSpPr>
        <p:spPr>
          <a:xfrm>
            <a:off x="804672"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Accommodation</a:t>
            </a:r>
            <a:endParaRPr lang="en-US" sz="1350" dirty="0"/>
          </a:p>
        </p:txBody>
      </p:sp>
      <p:sp>
        <p:nvSpPr>
          <p:cNvPr id="17" name="Text 15"/>
          <p:cNvSpPr/>
          <p:nvPr/>
        </p:nvSpPr>
        <p:spPr>
          <a:xfrm>
            <a:off x="804672"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Lodging for the crew</a:t>
            </a:r>
            <a:endParaRPr lang="en-US" sz="1100" dirty="0"/>
          </a:p>
        </p:txBody>
      </p:sp>
      <p:sp>
        <p:nvSpPr>
          <p:cNvPr id="18" name="Shape 16"/>
          <p:cNvSpPr/>
          <p:nvPr/>
        </p:nvSpPr>
        <p:spPr>
          <a:xfrm>
            <a:off x="4352544"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4590288"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Transportation</a:t>
            </a:r>
            <a:endParaRPr lang="en-US" sz="1350" dirty="0"/>
          </a:p>
        </p:txBody>
      </p:sp>
      <p:sp>
        <p:nvSpPr>
          <p:cNvPr id="20" name="Text 18"/>
          <p:cNvSpPr/>
          <p:nvPr/>
        </p:nvSpPr>
        <p:spPr>
          <a:xfrm>
            <a:off x="4590288"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Getting people and equipment to site</a:t>
            </a:r>
            <a:endParaRPr lang="en-US" sz="1100" dirty="0"/>
          </a:p>
        </p:txBody>
      </p:sp>
      <p:sp>
        <p:nvSpPr>
          <p:cNvPr id="21" name="Shape 19"/>
          <p:cNvSpPr/>
          <p:nvPr/>
        </p:nvSpPr>
        <p:spPr>
          <a:xfrm>
            <a:off x="8138160"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Text 20"/>
          <p:cNvSpPr/>
          <p:nvPr/>
        </p:nvSpPr>
        <p:spPr>
          <a:xfrm>
            <a:off x="8375904"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Requirements</a:t>
            </a:r>
            <a:endParaRPr lang="en-US" sz="1350" dirty="0"/>
          </a:p>
        </p:txBody>
      </p:sp>
      <p:sp>
        <p:nvSpPr>
          <p:cNvPr id="23" name="Text 21"/>
          <p:cNvSpPr/>
          <p:nvPr/>
        </p:nvSpPr>
        <p:spPr>
          <a:xfrm>
            <a:off x="8375904"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Permits, clearances, site requirements</a:t>
            </a:r>
            <a:endParaRPr lang="en-US" sz="1100" dirty="0"/>
          </a:p>
        </p:txBody>
      </p:sp>
      <p:sp>
        <p:nvSpPr>
          <p:cNvPr id="24" name="Shape 22"/>
          <p:cNvSpPr/>
          <p:nvPr/>
        </p:nvSpPr>
        <p:spPr>
          <a:xfrm>
            <a:off x="566928"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804672"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Admin Cost</a:t>
            </a:r>
            <a:endParaRPr lang="en-US" sz="1350" dirty="0"/>
          </a:p>
        </p:txBody>
      </p:sp>
      <p:sp>
        <p:nvSpPr>
          <p:cNvPr id="26" name="Text 24"/>
          <p:cNvSpPr/>
          <p:nvPr/>
        </p:nvSpPr>
        <p:spPr>
          <a:xfrm>
            <a:off x="804672"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Documentation and coordination</a:t>
            </a:r>
            <a:endParaRPr lang="en-US" sz="1100" dirty="0"/>
          </a:p>
        </p:txBody>
      </p:sp>
      <p:sp>
        <p:nvSpPr>
          <p:cNvPr id="27" name="Shape 25"/>
          <p:cNvSpPr/>
          <p:nvPr/>
        </p:nvSpPr>
        <p:spPr>
          <a:xfrm>
            <a:off x="4352544"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8" name="Text 26"/>
          <p:cNvSpPr/>
          <p:nvPr/>
        </p:nvSpPr>
        <p:spPr>
          <a:xfrm>
            <a:off x="4590288"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Third Party</a:t>
            </a:r>
            <a:endParaRPr lang="en-US" sz="1350" dirty="0"/>
          </a:p>
        </p:txBody>
      </p:sp>
      <p:sp>
        <p:nvSpPr>
          <p:cNvPr id="29" name="Text 27"/>
          <p:cNvSpPr/>
          <p:nvPr/>
        </p:nvSpPr>
        <p:spPr>
          <a:xfrm>
            <a:off x="4590288"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Subcontracted or specialist services</a:t>
            </a:r>
            <a:endParaRPr lang="en-US" sz="1100" dirty="0"/>
          </a:p>
        </p:txBody>
      </p:sp>
      <p:sp>
        <p:nvSpPr>
          <p:cNvPr id="30" name="Shape 28"/>
          <p:cNvSpPr/>
          <p:nvPr/>
        </p:nvSpPr>
        <p:spPr>
          <a:xfrm>
            <a:off x="8138160"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1" name="Text 29"/>
          <p:cNvSpPr/>
          <p:nvPr/>
        </p:nvSpPr>
        <p:spPr>
          <a:xfrm>
            <a:off x="8375904"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Insurances</a:t>
            </a:r>
            <a:endParaRPr lang="en-US" sz="1350" dirty="0"/>
          </a:p>
        </p:txBody>
      </p:sp>
      <p:sp>
        <p:nvSpPr>
          <p:cNvPr id="32" name="Text 30"/>
          <p:cNvSpPr/>
          <p:nvPr/>
        </p:nvSpPr>
        <p:spPr>
          <a:xfrm>
            <a:off x="8375904"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Cover required for the works</a:t>
            </a:r>
            <a:endParaRPr lang="en-US" sz="1100" dirty="0"/>
          </a:p>
        </p:txBody>
      </p:sp>
      <p:sp>
        <p:nvSpPr>
          <p:cNvPr id="33" name="Shape 31"/>
          <p:cNvSpPr/>
          <p:nvPr/>
        </p:nvSpPr>
        <p:spPr>
          <a:xfrm>
            <a:off x="566928" y="4608576"/>
            <a:ext cx="11055096" cy="1051560"/>
          </a:xfrm>
          <a:prstGeom prst="roundRect">
            <a:avLst>
              <a:gd name="adj" fmla="val 6957"/>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4" name="Text 32"/>
          <p:cNvSpPr/>
          <p:nvPr/>
        </p:nvSpPr>
        <p:spPr>
          <a:xfrm>
            <a:off x="841248" y="4754880"/>
            <a:ext cx="7315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Add as many lines as you need under each heading</a:t>
            </a:r>
            <a:endParaRPr lang="en-US" sz="1350" dirty="0"/>
          </a:p>
        </p:txBody>
      </p:sp>
      <p:sp>
        <p:nvSpPr>
          <p:cNvPr id="35" name="Text 33"/>
          <p:cNvSpPr/>
          <p:nvPr/>
        </p:nvSpPr>
        <p:spPr>
          <a:xfrm>
            <a:off x="841248" y="5056632"/>
            <a:ext cx="10515600" cy="45720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Each line takes a description, quantity, unit, days and cost — blank days counts as 1. Food allowance for the stay can be counted from the crew (see Food allowance). Mobilisation and demobilisation are at the top of the Manpower tab.</a:t>
            </a:r>
            <a:endParaRPr lang="en-US" sz="115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7 · SUMMARY</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Price it and sign it</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txBody>
          <a:bodyPr/>
          <a:p/>
        </p:txBody>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Text 7"/>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0" name="Text 8"/>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1" name="Text 9"/>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2" name="Text 10"/>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3" name="Shape 11"/>
          <p:cNvSpPr/>
          <p:nvPr/>
        </p:nvSpPr>
        <p:spPr>
          <a:xfrm>
            <a:off x="10421112" y="1408176"/>
            <a:ext cx="1173480" cy="329184"/>
          </a:xfrm>
          <a:prstGeom prst="roundRect">
            <a:avLst>
              <a:gd name="adj" fmla="val 13889"/>
            </a:avLst>
          </a:prstGeom>
          <a:solidFill>
            <a:srgbClr val="F0A429"/>
          </a:solidFill>
          <a:ln w="12700">
            <a:solidFill>
              <a:srgbClr val="F0A429"/>
            </a:solidFill>
            <a:prstDash val="solid"/>
          </a:ln>
        </p:spPr>
        <p:txBody>
          <a:bodyPr/>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Summary</a:t>
            </a:r>
            <a:endParaRPr lang="en-US" sz="900" dirty="0"/>
          </a:p>
        </p:txBody>
      </p:sp>
      <p:sp>
        <p:nvSpPr>
          <p:cNvPr id="15" name="Text 13"/>
          <p:cNvSpPr/>
          <p:nvPr/>
        </p:nvSpPr>
        <p:spPr>
          <a:xfrm>
            <a:off x="566928" y="2048256"/>
            <a:ext cx="3945699"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SECTION</a:t>
            </a:r>
            <a:endParaRPr lang="en-US" sz="850" dirty="0"/>
          </a:p>
        </p:txBody>
      </p:sp>
      <p:sp>
        <p:nvSpPr>
          <p:cNvPr id="16" name="Text 14"/>
          <p:cNvSpPr/>
          <p:nvPr/>
        </p:nvSpPr>
        <p:spPr>
          <a:xfrm>
            <a:off x="4512627" y="2048256"/>
            <a:ext cx="1784959"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AMOUNT</a:t>
            </a:r>
            <a:endParaRPr lang="en-US" sz="850" dirty="0"/>
          </a:p>
        </p:txBody>
      </p:sp>
      <p:sp>
        <p:nvSpPr>
          <p:cNvPr id="17" name="Text 15"/>
          <p:cNvSpPr/>
          <p:nvPr/>
        </p:nvSpPr>
        <p:spPr>
          <a:xfrm>
            <a:off x="6297586" y="2048256"/>
            <a:ext cx="1127342"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SHARE</a:t>
            </a:r>
            <a:endParaRPr lang="en-US" sz="850" dirty="0"/>
          </a:p>
        </p:txBody>
      </p:sp>
      <p:sp>
        <p:nvSpPr>
          <p:cNvPr id="18" name="Shape 16"/>
          <p:cNvSpPr/>
          <p:nvPr/>
        </p:nvSpPr>
        <p:spPr>
          <a:xfrm>
            <a:off x="566928" y="2322576"/>
            <a:ext cx="6858000" cy="310896"/>
          </a:xfrm>
          <a:prstGeom prst="rect">
            <a:avLst/>
          </a:prstGeom>
          <a:solidFill>
            <a:srgbClr val="1C2128"/>
          </a:solidFill>
          <a:ln w="6350">
            <a:solidFill>
              <a:srgbClr val="30363D"/>
            </a:solidFill>
            <a:prstDash val="solid"/>
          </a:ln>
        </p:spPr>
        <p:txBody>
          <a:bodyPr/>
          <a:p/>
        </p:txBody>
      </p:sp>
      <p:sp>
        <p:nvSpPr>
          <p:cNvPr id="19" name="Text 17"/>
          <p:cNvSpPr/>
          <p:nvPr/>
        </p:nvSpPr>
        <p:spPr>
          <a:xfrm>
            <a:off x="621792" y="2322576"/>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Manpower</a:t>
            </a:r>
            <a:endParaRPr lang="en-US" sz="1050" dirty="0"/>
          </a:p>
        </p:txBody>
      </p:sp>
      <p:sp>
        <p:nvSpPr>
          <p:cNvPr id="20" name="Text 18"/>
          <p:cNvSpPr/>
          <p:nvPr/>
        </p:nvSpPr>
        <p:spPr>
          <a:xfrm>
            <a:off x="4567491" y="2322576"/>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₱38,217.00</a:t>
            </a:r>
            <a:endParaRPr lang="en-US" sz="1050" dirty="0"/>
          </a:p>
        </p:txBody>
      </p:sp>
      <p:sp>
        <p:nvSpPr>
          <p:cNvPr id="21" name="Text 19"/>
          <p:cNvSpPr/>
          <p:nvPr/>
        </p:nvSpPr>
        <p:spPr>
          <a:xfrm>
            <a:off x="6352450" y="2322576"/>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72.6%</a:t>
            </a:r>
            <a:endParaRPr lang="en-US" sz="1050" dirty="0"/>
          </a:p>
        </p:txBody>
      </p:sp>
      <p:sp>
        <p:nvSpPr>
          <p:cNvPr id="22" name="Shape 20"/>
          <p:cNvSpPr/>
          <p:nvPr/>
        </p:nvSpPr>
        <p:spPr>
          <a:xfrm>
            <a:off x="566928" y="2633472"/>
            <a:ext cx="6858000" cy="310896"/>
          </a:xfrm>
          <a:prstGeom prst="rect">
            <a:avLst/>
          </a:prstGeom>
          <a:solidFill>
            <a:srgbClr val="161B22"/>
          </a:solidFill>
          <a:ln w="6350">
            <a:solidFill>
              <a:srgbClr val="30363D"/>
            </a:solidFill>
            <a:prstDash val="solid"/>
          </a:ln>
        </p:spPr>
        <p:txBody>
          <a:bodyPr/>
          <a:p/>
        </p:txBody>
      </p:sp>
      <p:sp>
        <p:nvSpPr>
          <p:cNvPr id="23" name="Text 21"/>
          <p:cNvSpPr/>
          <p:nvPr/>
        </p:nvSpPr>
        <p:spPr>
          <a:xfrm>
            <a:off x="621792" y="2633472"/>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Tools &amp; Equipment</a:t>
            </a:r>
            <a:endParaRPr lang="en-US" sz="1050" dirty="0"/>
          </a:p>
        </p:txBody>
      </p:sp>
      <p:sp>
        <p:nvSpPr>
          <p:cNvPr id="24" name="Text 22"/>
          <p:cNvSpPr/>
          <p:nvPr/>
        </p:nvSpPr>
        <p:spPr>
          <a:xfrm>
            <a:off x="4567491" y="2633472"/>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₱8,400.00</a:t>
            </a:r>
            <a:endParaRPr lang="en-US" sz="1050" dirty="0"/>
          </a:p>
        </p:txBody>
      </p:sp>
      <p:sp>
        <p:nvSpPr>
          <p:cNvPr id="25" name="Text 23"/>
          <p:cNvSpPr/>
          <p:nvPr/>
        </p:nvSpPr>
        <p:spPr>
          <a:xfrm>
            <a:off x="6352450" y="2633472"/>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16.0%</a:t>
            </a:r>
            <a:endParaRPr lang="en-US" sz="1050" dirty="0"/>
          </a:p>
        </p:txBody>
      </p:sp>
      <p:sp>
        <p:nvSpPr>
          <p:cNvPr id="26" name="Shape 24"/>
          <p:cNvSpPr/>
          <p:nvPr/>
        </p:nvSpPr>
        <p:spPr>
          <a:xfrm>
            <a:off x="566928" y="2944368"/>
            <a:ext cx="6858000" cy="310896"/>
          </a:xfrm>
          <a:prstGeom prst="rect">
            <a:avLst/>
          </a:prstGeom>
          <a:solidFill>
            <a:srgbClr val="1C2128"/>
          </a:solidFill>
          <a:ln w="6350">
            <a:solidFill>
              <a:srgbClr val="30363D"/>
            </a:solidFill>
            <a:prstDash val="solid"/>
          </a:ln>
        </p:spPr>
        <p:txBody>
          <a:bodyPr/>
          <a:p/>
        </p:txBody>
      </p:sp>
      <p:sp>
        <p:nvSpPr>
          <p:cNvPr id="27" name="Text 25"/>
          <p:cNvSpPr/>
          <p:nvPr/>
        </p:nvSpPr>
        <p:spPr>
          <a:xfrm>
            <a:off x="621792" y="2944368"/>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Materials · PPE · Misc.</a:t>
            </a:r>
            <a:endParaRPr lang="en-US" sz="1050" dirty="0"/>
          </a:p>
        </p:txBody>
      </p:sp>
      <p:sp>
        <p:nvSpPr>
          <p:cNvPr id="28" name="Text 26"/>
          <p:cNvSpPr/>
          <p:nvPr/>
        </p:nvSpPr>
        <p:spPr>
          <a:xfrm>
            <a:off x="4567491" y="2944368"/>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₱6,000.00</a:t>
            </a:r>
            <a:endParaRPr lang="en-US" sz="1050" dirty="0"/>
          </a:p>
        </p:txBody>
      </p:sp>
      <p:sp>
        <p:nvSpPr>
          <p:cNvPr id="29" name="Text 27"/>
          <p:cNvSpPr/>
          <p:nvPr/>
        </p:nvSpPr>
        <p:spPr>
          <a:xfrm>
            <a:off x="6352450" y="2944368"/>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11.4%</a:t>
            </a:r>
            <a:endParaRPr lang="en-US" sz="1050" dirty="0"/>
          </a:p>
        </p:txBody>
      </p:sp>
      <p:sp>
        <p:nvSpPr>
          <p:cNvPr id="30" name="Shape 28"/>
          <p:cNvSpPr/>
          <p:nvPr/>
        </p:nvSpPr>
        <p:spPr>
          <a:xfrm>
            <a:off x="566928" y="3255264"/>
            <a:ext cx="6858000" cy="310896"/>
          </a:xfrm>
          <a:prstGeom prst="rect">
            <a:avLst/>
          </a:prstGeom>
          <a:solidFill>
            <a:srgbClr val="161B22"/>
          </a:solidFill>
          <a:ln w="6350">
            <a:solidFill>
              <a:srgbClr val="30363D"/>
            </a:solidFill>
            <a:prstDash val="solid"/>
          </a:ln>
        </p:spPr>
        <p:txBody>
          <a:bodyPr/>
          <a:p/>
        </p:txBody>
      </p:sp>
      <p:sp>
        <p:nvSpPr>
          <p:cNvPr id="31" name="Text 29"/>
          <p:cNvSpPr/>
          <p:nvPr/>
        </p:nvSpPr>
        <p:spPr>
          <a:xfrm>
            <a:off x="621792" y="3255264"/>
            <a:ext cx="3835971" cy="310896"/>
          </a:xfrm>
          <a:prstGeom prst="rect">
            <a:avLst/>
          </a:prstGeom>
          <a:noFill/>
          <a:ln/>
        </p:spPr>
        <p:txBody>
          <a:bodyPr wrap="square" lIns="0" tIns="0" rIns="0" bIns="0" rtlCol="0" anchor="ctr"/>
          <a:lstStyle/>
          <a:p>
            <a:pPr algn="l" indent="0" marL="0">
              <a:buNone/>
            </a:pPr>
            <a:r>
              <a:rPr lang="en-US" sz="1050" b="1" dirty="0">
                <a:solidFill>
                  <a:srgbClr val="E6EDF3"/>
                </a:solidFill>
                <a:latin typeface="Calibri" pitchFamily="34" charset="0"/>
                <a:ea typeface="Calibri" pitchFamily="34" charset="-122"/>
                <a:cs typeface="Calibri" pitchFamily="34" charset="-120"/>
              </a:rPr>
              <a:t>TOTAL AMOUNT</a:t>
            </a:r>
            <a:endParaRPr lang="en-US" sz="1050" dirty="0"/>
          </a:p>
        </p:txBody>
      </p:sp>
      <p:sp>
        <p:nvSpPr>
          <p:cNvPr id="32" name="Text 30"/>
          <p:cNvSpPr/>
          <p:nvPr/>
        </p:nvSpPr>
        <p:spPr>
          <a:xfrm>
            <a:off x="4567491" y="3255264"/>
            <a:ext cx="1675231" cy="310896"/>
          </a:xfrm>
          <a:prstGeom prst="rect">
            <a:avLst/>
          </a:prstGeom>
          <a:noFill/>
          <a:ln/>
        </p:spPr>
        <p:txBody>
          <a:bodyPr wrap="square" lIns="0" tIns="0" rIns="0" bIns="0" rtlCol="0" anchor="ctr"/>
          <a:lstStyle/>
          <a:p>
            <a:pPr algn="r" indent="0" marL="0">
              <a:buNone/>
            </a:pPr>
            <a:r>
              <a:rPr lang="en-US" sz="1050" b="1" dirty="0">
                <a:solidFill>
                  <a:srgbClr val="E6EDF3"/>
                </a:solidFill>
                <a:latin typeface="Calibri" pitchFamily="34" charset="0"/>
                <a:ea typeface="Calibri" pitchFamily="34" charset="-122"/>
                <a:cs typeface="Calibri" pitchFamily="34" charset="-120"/>
              </a:rPr>
              <a:t>₱52,617.00</a:t>
            </a:r>
            <a:endParaRPr lang="en-US" sz="1050" dirty="0"/>
          </a:p>
        </p:txBody>
      </p:sp>
      <p:sp>
        <p:nvSpPr>
          <p:cNvPr id="33" name="Text 31"/>
          <p:cNvSpPr/>
          <p:nvPr/>
        </p:nvSpPr>
        <p:spPr>
          <a:xfrm>
            <a:off x="6352450" y="3255264"/>
            <a:ext cx="1017614" cy="310896"/>
          </a:xfrm>
          <a:prstGeom prst="rect">
            <a:avLst/>
          </a:prstGeom>
          <a:noFill/>
          <a:ln/>
        </p:spPr>
        <p:txBody>
          <a:bodyPr wrap="square" lIns="0" tIns="0" rIns="0" bIns="0" rtlCol="0" anchor="ctr"/>
          <a:lstStyle/>
          <a:p>
            <a:pPr algn="r" indent="0" marL="0">
              <a:buNone/>
            </a:pPr>
            <a:r>
              <a:rPr lang="en-US" sz="1050" b="1" dirty="0">
                <a:solidFill>
                  <a:srgbClr val="E6EDF3"/>
                </a:solidFill>
                <a:latin typeface="Calibri" pitchFamily="34" charset="0"/>
                <a:ea typeface="Calibri" pitchFamily="34" charset="-122"/>
                <a:cs typeface="Calibri" pitchFamily="34" charset="-120"/>
              </a:rPr>
              <a:t>100%</a:t>
            </a:r>
            <a:endParaRPr lang="en-US" sz="1050" dirty="0"/>
          </a:p>
        </p:txBody>
      </p:sp>
      <p:sp>
        <p:nvSpPr>
          <p:cNvPr id="34" name="Shape 32"/>
          <p:cNvSpPr/>
          <p:nvPr/>
        </p:nvSpPr>
        <p:spPr>
          <a:xfrm>
            <a:off x="566928" y="3566160"/>
            <a:ext cx="6858000" cy="310896"/>
          </a:xfrm>
          <a:prstGeom prst="rect">
            <a:avLst/>
          </a:prstGeom>
          <a:solidFill>
            <a:srgbClr val="1C2128"/>
          </a:solidFill>
          <a:ln w="6350">
            <a:solidFill>
              <a:srgbClr val="30363D"/>
            </a:solidFill>
            <a:prstDash val="solid"/>
          </a:ln>
        </p:spPr>
        <p:txBody>
          <a:bodyPr/>
          <a:p/>
        </p:txBody>
      </p:sp>
      <p:sp>
        <p:nvSpPr>
          <p:cNvPr id="35" name="Text 33"/>
          <p:cNvSpPr/>
          <p:nvPr/>
        </p:nvSpPr>
        <p:spPr>
          <a:xfrm>
            <a:off x="621792" y="3566160"/>
            <a:ext cx="3835971" cy="310896"/>
          </a:xfrm>
          <a:prstGeom prst="rect">
            <a:avLst/>
          </a:prstGeom>
          <a:noFill/>
          <a:ln/>
        </p:spPr>
        <p:txBody>
          <a:bodyPr wrap="square" lIns="0" tIns="0" rIns="0" bIns="0" rtlCol="0" anchor="ctr"/>
          <a:lstStyle/>
          <a:p>
            <a:pPr algn="l" indent="0" marL="0">
              <a:buNone/>
            </a:pPr>
            <a:r>
              <a:rPr lang="en-US" sz="1050" b="1" dirty="0">
                <a:solidFill>
                  <a:srgbClr val="3FB950"/>
                </a:solidFill>
                <a:latin typeface="Calibri" pitchFamily="34" charset="0"/>
                <a:ea typeface="Calibri" pitchFamily="34" charset="-122"/>
                <a:cs typeface="Calibri" pitchFamily="34" charset="-120"/>
              </a:rPr>
              <a:t>SELLING PRICE  (+15% margin)</a:t>
            </a:r>
            <a:endParaRPr lang="en-US" sz="1050" dirty="0"/>
          </a:p>
        </p:txBody>
      </p:sp>
      <p:sp>
        <p:nvSpPr>
          <p:cNvPr id="36" name="Text 34"/>
          <p:cNvSpPr/>
          <p:nvPr/>
        </p:nvSpPr>
        <p:spPr>
          <a:xfrm>
            <a:off x="4567491" y="3566160"/>
            <a:ext cx="1675231" cy="310896"/>
          </a:xfrm>
          <a:prstGeom prst="rect">
            <a:avLst/>
          </a:prstGeom>
          <a:noFill/>
          <a:ln/>
        </p:spPr>
        <p:txBody>
          <a:bodyPr wrap="square" lIns="0" tIns="0" rIns="0" bIns="0" rtlCol="0" anchor="ctr"/>
          <a:lstStyle/>
          <a:p>
            <a:pPr algn="r" indent="0" marL="0">
              <a:buNone/>
            </a:pPr>
            <a:r>
              <a:rPr lang="en-US" sz="1050" b="1" dirty="0">
                <a:solidFill>
                  <a:srgbClr val="3FB950"/>
                </a:solidFill>
                <a:latin typeface="Calibri" pitchFamily="34" charset="0"/>
                <a:ea typeface="Calibri" pitchFamily="34" charset="-122"/>
                <a:cs typeface="Calibri" pitchFamily="34" charset="-120"/>
              </a:rPr>
              <a:t>₱60,509.55</a:t>
            </a:r>
            <a:endParaRPr lang="en-US" sz="1050" dirty="0"/>
          </a:p>
        </p:txBody>
      </p:sp>
      <p:sp>
        <p:nvSpPr>
          <p:cNvPr id="37" name="Text 35"/>
          <p:cNvSpPr/>
          <p:nvPr/>
        </p:nvSpPr>
        <p:spPr>
          <a:xfrm>
            <a:off x="6352450" y="3566160"/>
            <a:ext cx="1017614" cy="310896"/>
          </a:xfrm>
          <a:prstGeom prst="rect">
            <a:avLst/>
          </a:prstGeom>
          <a:noFill/>
          <a:ln/>
        </p:spPr>
        <p:txBody>
          <a:bodyPr wrap="square" lIns="0" tIns="0" rIns="0" bIns="0" rtlCol="0" anchor="ctr"/>
          <a:lstStyle/>
          <a:p>
            <a:pPr algn="r" indent="0" marL="0">
              <a:buNone/>
            </a:pPr>
            <a:endParaRPr lang="en-US" sz="1050" dirty="0"/>
          </a:p>
        </p:txBody>
      </p:sp>
      <p:sp>
        <p:nvSpPr>
          <p:cNvPr id="38" name="Shape 36"/>
          <p:cNvSpPr/>
          <p:nvPr/>
        </p:nvSpPr>
        <p:spPr>
          <a:xfrm>
            <a:off x="7635240" y="20482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9" name="Text 37"/>
          <p:cNvSpPr/>
          <p:nvPr/>
        </p:nvSpPr>
        <p:spPr>
          <a:xfrm>
            <a:off x="7863840" y="2176272"/>
            <a:ext cx="3566160" cy="274320"/>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Margin %</a:t>
            </a:r>
            <a:endParaRPr lang="en-US" sz="1350" dirty="0"/>
          </a:p>
        </p:txBody>
      </p:sp>
      <p:sp>
        <p:nvSpPr>
          <p:cNvPr id="40" name="Text 38"/>
          <p:cNvSpPr/>
          <p:nvPr/>
        </p:nvSpPr>
        <p:spPr>
          <a:xfrm>
            <a:off x="7863840" y="24871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Sets the selling price. Leave it at 0 and the CE prints at cost — Check CE will warn you.</a:t>
            </a:r>
            <a:endParaRPr lang="en-US" sz="1100" dirty="0"/>
          </a:p>
        </p:txBody>
      </p:sp>
      <p:sp>
        <p:nvSpPr>
          <p:cNvPr id="41" name="Shape 39"/>
          <p:cNvSpPr/>
          <p:nvPr/>
        </p:nvSpPr>
        <p:spPr>
          <a:xfrm>
            <a:off x="7635240" y="34198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2" name="Text 40"/>
          <p:cNvSpPr/>
          <p:nvPr/>
        </p:nvSpPr>
        <p:spPr>
          <a:xfrm>
            <a:off x="7863840" y="3547872"/>
            <a:ext cx="3566160" cy="274320"/>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Notes / Remarks</a:t>
            </a:r>
            <a:endParaRPr lang="en-US" sz="1350" dirty="0"/>
          </a:p>
        </p:txBody>
      </p:sp>
      <p:sp>
        <p:nvSpPr>
          <p:cNvPr id="43" name="Text 41"/>
          <p:cNvSpPr/>
          <p:nvPr/>
        </p:nvSpPr>
        <p:spPr>
          <a:xfrm>
            <a:off x="7863840" y="38587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Assumptions, exclusions, validity. Printed as a numbered NOTE list. Breakdown notes from SOW Breakdown join them automatically.</a:t>
            </a:r>
            <a:endParaRPr lang="en-US" sz="1100" dirty="0"/>
          </a:p>
        </p:txBody>
      </p:sp>
      <p:sp>
        <p:nvSpPr>
          <p:cNvPr id="44" name="Shape 42"/>
          <p:cNvSpPr/>
          <p:nvPr/>
        </p:nvSpPr>
        <p:spPr>
          <a:xfrm>
            <a:off x="7635240" y="47914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5" name="Text 43"/>
          <p:cNvSpPr/>
          <p:nvPr/>
        </p:nvSpPr>
        <p:spPr>
          <a:xfrm>
            <a:off x="7863840" y="4919472"/>
            <a:ext cx="3566160" cy="274320"/>
          </a:xfrm>
          <a:prstGeom prst="rect">
            <a:avLst/>
          </a:prstGeom>
          <a:noFill/>
          <a:ln/>
        </p:spPr>
        <p:txBody>
          <a:bodyPr wrap="square" lIns="0" tIns="0" rIns="0" bIns="0" rtlCol="0" anchor="ctr"/>
          <a:lstStyle/>
          <a:p>
            <a:pPr indent="0" marL="0">
              <a:buNone/>
            </a:pPr>
            <a:r>
              <a:rPr lang="en-US" sz="1350" b="1" dirty="0">
                <a:solidFill>
                  <a:srgbClr val="A78BFA"/>
                </a:solidFill>
                <a:latin typeface="Arial" pitchFamily="34" charset="0"/>
                <a:ea typeface="Arial" pitchFamily="34" charset="-122"/>
                <a:cs typeface="Arial" pitchFamily="34" charset="-120"/>
              </a:rPr>
              <a:t>Signatories</a:t>
            </a:r>
            <a:endParaRPr lang="en-US" sz="1350" dirty="0"/>
          </a:p>
        </p:txBody>
      </p:sp>
      <p:sp>
        <p:nvSpPr>
          <p:cNvPr id="46" name="Text 44"/>
          <p:cNvSpPr/>
          <p:nvPr/>
        </p:nvSpPr>
        <p:spPr>
          <a:xfrm>
            <a:off x="7863840" y="52303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Filled from the CE Defaults preset for this CE type and discipline, with your name in Prepared By. A signature drawn on screen is saved with the CE.</a:t>
            </a:r>
            <a:endParaRPr lang="en-US" sz="1100" dirty="0"/>
          </a:p>
        </p:txBody>
      </p:sp>
      <p:sp>
        <p:nvSpPr>
          <p:cNvPr id="47" name="Text 45"/>
          <p:cNvSpPr/>
          <p:nvPr/>
        </p:nvSpPr>
        <p:spPr>
          <a:xfrm>
            <a:off x="566928" y="4059936"/>
            <a:ext cx="6858000" cy="292608"/>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Unit price = total ÷ the Quantity you set on Project Info.</a:t>
            </a:r>
            <a:endParaRPr lang="en-US" sz="1150" dirty="0"/>
          </a:p>
        </p:txBody>
      </p:sp>
      <p:sp>
        <p:nvSpPr>
          <p:cNvPr id="48" name="Shape 46"/>
          <p:cNvSpPr/>
          <p:nvPr/>
        </p:nvSpPr>
        <p:spPr>
          <a:xfrm>
            <a:off x="566928" y="4443984"/>
            <a:ext cx="6858000" cy="1591056"/>
          </a:xfrm>
          <a:prstGeom prst="roundRect">
            <a:avLst>
              <a:gd name="adj" fmla="val 459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9" name="Text 47"/>
          <p:cNvSpPr/>
          <p:nvPr/>
        </p:nvSpPr>
        <p:spPr>
          <a:xfrm>
            <a:off x="822960" y="4608576"/>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Also on this tab</a:t>
            </a:r>
            <a:endParaRPr lang="en-US" sz="1400" dirty="0"/>
          </a:p>
        </p:txBody>
      </p:sp>
      <p:sp>
        <p:nvSpPr>
          <p:cNvPr id="50" name="Text 48"/>
          <p:cNvSpPr/>
          <p:nvPr/>
        </p:nvSpPr>
        <p:spPr>
          <a:xfrm>
            <a:off x="822960" y="4919472"/>
            <a:ext cx="6309360" cy="1005840"/>
          </a:xfrm>
          <a:prstGeom prst="rect">
            <a:avLst/>
          </a:prstGeom>
          <a:noFill/>
          <a:ln/>
        </p:spPr>
        <p:txBody>
          <a:bodyPr wrap="square" lIns="0" tIns="0" rIns="0" bIns="0" rtlCol="0" anchor="t"/>
          <a:lstStyle/>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Highlighted costs — show one line, or several added up, separately on the printed CE</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Services summary — restate the total by service (next slide)</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 Sync Rates — re-price the whole CE from the Masterlist before requoting</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Internal Verification Notes — your own note against each cost group; typed, never generated</a:t>
            </a:r>
            <a:endParaRPr lang="en-US" sz="1150" dirty="0"/>
          </a:p>
        </p:txBody>
      </p:sp>
      <p:sp>
        <p:nvSpPr>
          <p:cNvPr id="51" name="Text 4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2" name="Text 5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7 · SERVICES SUMMARY</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Restate the total by service</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For clients who want SAND BLASTING WORKS, WELDING WORKS… listed under the cost total. Off unless you turn it on.</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Setting it up</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 the Summary tab, tick Services summary on this CE. The card previews exactly what will print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 SOW Breakdown, type a Service group on each main scope item — e.g. WELDING WORKS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Items with the same group print as one line; sub-items go with their main item</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Only resources filed against a scope item count toward its group</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What prints</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SERVICES block under the total: one line per group, then Other misc. to the project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Other misc. is everything no group carries — mob/demob, unlinked rows, items with no group</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So the services total always equals the total amount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If the services add up to more, a cost is counted twice: the card turns red and the block does not print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Both Excel exports carry the same block</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QUALITY GATE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Check CE before you save</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panel on the right of the Summary tab lists everything worth a second look. Click Go → on any line to jump straight to it.</a:t>
            </a:r>
            <a:endParaRPr lang="en-US" sz="1400" dirty="0"/>
          </a:p>
        </p:txBody>
      </p:sp>
      <p:sp>
        <p:nvSpPr>
          <p:cNvPr id="5" name="Shape 3"/>
          <p:cNvSpPr/>
          <p:nvPr/>
        </p:nvSpPr>
        <p:spPr>
          <a:xfrm>
            <a:off x="566928" y="1911096"/>
            <a:ext cx="5532120" cy="2148840"/>
          </a:xfrm>
          <a:prstGeom prst="roundRect">
            <a:avLst>
              <a:gd name="adj" fmla="val 3404"/>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093976"/>
            <a:ext cx="2743200" cy="292608"/>
          </a:xfrm>
          <a:prstGeom prst="rect">
            <a:avLst/>
          </a:prstGeom>
          <a:noFill/>
          <a:ln/>
        </p:spPr>
        <p:txBody>
          <a:bodyPr wrap="square" lIns="0" tIns="0" rIns="0" bIns="0" rtlCol="0" anchor="ctr"/>
          <a:lstStyle/>
          <a:p>
            <a:pPr indent="0" marL="0">
              <a:buNone/>
            </a:pPr>
            <a:r>
              <a:rPr lang="en-US" sz="1500" b="1" dirty="0">
                <a:solidFill>
                  <a:srgbClr val="F85149"/>
                </a:solidFill>
                <a:latin typeface="Arial" pitchFamily="34" charset="0"/>
                <a:ea typeface="Arial" pitchFamily="34" charset="-122"/>
                <a:cs typeface="Arial" pitchFamily="34" charset="-120"/>
              </a:rPr>
              <a:t>To fix</a:t>
            </a:r>
            <a:endParaRPr lang="en-US" sz="1500" dirty="0"/>
          </a:p>
        </p:txBody>
      </p:sp>
      <p:sp>
        <p:nvSpPr>
          <p:cNvPr id="7" name="Text 5"/>
          <p:cNvSpPr/>
          <p:nvPr/>
        </p:nvSpPr>
        <p:spPr>
          <a:xfrm>
            <a:off x="841248" y="2487168"/>
            <a:ext cx="5029200" cy="146304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Grand total is ₱0.00</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A line item priced at ₱0.00</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No client name or project description</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A highlighted cost pointing at something deleted</a:t>
            </a:r>
            <a:endParaRPr lang="en-US" sz="1200" dirty="0"/>
          </a:p>
        </p:txBody>
      </p:sp>
      <p:sp>
        <p:nvSpPr>
          <p:cNvPr id="8" name="Shape 6"/>
          <p:cNvSpPr/>
          <p:nvPr/>
        </p:nvSpPr>
        <p:spPr>
          <a:xfrm>
            <a:off x="6400800" y="1911096"/>
            <a:ext cx="5221224" cy="2148840"/>
          </a:xfrm>
          <a:prstGeom prst="roundRect">
            <a:avLst>
              <a:gd name="adj" fmla="val 3404"/>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093976"/>
            <a:ext cx="2743200" cy="292608"/>
          </a:xfrm>
          <a:prstGeom prst="rect">
            <a:avLst/>
          </a:prstGeom>
          <a:noFill/>
          <a:ln/>
        </p:spPr>
        <p:txBody>
          <a:bodyPr wrap="square" lIns="0" tIns="0" rIns="0" bIns="0" rtlCol="0" anchor="ctr"/>
          <a:lstStyle/>
          <a:p>
            <a:pPr indent="0" marL="0">
              <a:buNone/>
            </a:pPr>
            <a:r>
              <a:rPr lang="en-US" sz="1500" b="1" dirty="0">
                <a:solidFill>
                  <a:srgbClr val="F0A429"/>
                </a:solidFill>
                <a:latin typeface="Arial" pitchFamily="34" charset="0"/>
                <a:ea typeface="Arial" pitchFamily="34" charset="-122"/>
                <a:cs typeface="Arial" pitchFamily="34" charset="-120"/>
              </a:rPr>
              <a:t>To review</a:t>
            </a:r>
            <a:endParaRPr lang="en-US" sz="1500" dirty="0"/>
          </a:p>
        </p:txBody>
      </p:sp>
      <p:sp>
        <p:nvSpPr>
          <p:cNvPr id="10" name="Text 8"/>
          <p:cNvSpPr/>
          <p:nvPr/>
        </p:nvSpPr>
        <p:spPr>
          <a:xfrm>
            <a:off x="6675120" y="2487168"/>
            <a:ext cx="4709160" cy="1463040"/>
          </a:xfrm>
          <a:prstGeom prst="rect">
            <a:avLst/>
          </a:prstGeom>
          <a:noFill/>
          <a:ln/>
        </p:spPr>
        <p:txBody>
          <a:bodyPr wrap="square" lIns="0" tIns="0" rIns="0" bIns="0" rtlCol="0" anchor="t"/>
          <a:lstStyle/>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Margin is 0% — selling price equals cost</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Quantity is blank, so unit price falls back to 1</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Resource rows not assigned to a scope task</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No Scope of Work items</a:t>
            </a:r>
            <a:endParaRPr lang="en-US" sz="1200" dirty="0"/>
          </a:p>
        </p:txBody>
      </p:sp>
      <p:sp>
        <p:nvSpPr>
          <p:cNvPr id="11" name="Shape 9"/>
          <p:cNvSpPr/>
          <p:nvPr/>
        </p:nvSpPr>
        <p:spPr>
          <a:xfrm>
            <a:off x="566928" y="4242816"/>
            <a:ext cx="11055096" cy="1234440"/>
          </a:xfrm>
          <a:prstGeom prst="roundRect">
            <a:avLst>
              <a:gd name="adj" fmla="val 592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2" name="Text 10"/>
          <p:cNvSpPr/>
          <p:nvPr/>
        </p:nvSpPr>
        <p:spPr>
          <a:xfrm>
            <a:off x="841248" y="4407408"/>
            <a:ext cx="54864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The app blocks a save only for these</a:t>
            </a:r>
            <a:endParaRPr lang="en-US" sz="1350" dirty="0"/>
          </a:p>
        </p:txBody>
      </p:sp>
      <p:sp>
        <p:nvSpPr>
          <p:cNvPr id="13" name="Text 11"/>
          <p:cNvSpPr/>
          <p:nvPr/>
        </p:nvSpPr>
        <p:spPr>
          <a:xfrm>
            <a:off x="841248" y="4718304"/>
            <a:ext cx="10515600" cy="56692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 missing CE Number, a missing Client name, a CE Number already used by another estimate, or a negative cost. Everything else on Check CE is advice — you can save past it, but read it first.</a:t>
            </a:r>
            <a:endParaRPr lang="en-US" sz="1150" dirty="0"/>
          </a:p>
        </p:txBody>
      </p:sp>
      <p:sp>
        <p:nvSpPr>
          <p:cNvPr id="14" name="Text 12"/>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5" name="Text 13"/>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5">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KEEPING YOUR WORK</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Save, draft, revise, clone</a:t>
            </a:r>
            <a:endParaRPr lang="en-US" sz="3200" dirty="0"/>
          </a:p>
        </p:txBody>
      </p:sp>
      <p:sp>
        <p:nvSpPr>
          <p:cNvPr id="4" name="Shape 2"/>
          <p:cNvSpPr/>
          <p:nvPr/>
        </p:nvSpPr>
        <p:spPr>
          <a:xfrm>
            <a:off x="566928" y="1408176"/>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Shape 3"/>
          <p:cNvSpPr/>
          <p:nvPr/>
        </p:nvSpPr>
        <p:spPr>
          <a:xfrm>
            <a:off x="749808" y="1554480"/>
            <a:ext cx="1234440" cy="438912"/>
          </a:xfrm>
          <a:prstGeom prst="roundRect">
            <a:avLst>
              <a:gd name="adj" fmla="val 12500"/>
            </a:avLst>
          </a:prstGeom>
          <a:solidFill>
            <a:srgbClr val="F0A429"/>
          </a:solidFill>
          <a:ln w="12700">
            <a:solidFill>
              <a:srgbClr val="F0A429"/>
            </a:solidFill>
            <a:prstDash val="solid"/>
          </a:ln>
        </p:spPr>
        <p:txBody>
          <a:bodyPr/>
          <a:p/>
        </p:txBody>
      </p:sp>
      <p:sp>
        <p:nvSpPr>
          <p:cNvPr id="6" name="Text 4"/>
          <p:cNvSpPr/>
          <p:nvPr/>
        </p:nvSpPr>
        <p:spPr>
          <a:xfrm>
            <a:off x="749808" y="1554480"/>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Save</a:t>
            </a:r>
            <a:endParaRPr lang="en-US" sz="1200" dirty="0"/>
          </a:p>
        </p:txBody>
      </p:sp>
      <p:sp>
        <p:nvSpPr>
          <p:cNvPr id="7" name="Text 5"/>
          <p:cNvSpPr/>
          <p:nvPr/>
        </p:nvSpPr>
        <p:spPr>
          <a:xfrm>
            <a:off x="2139696" y="1499616"/>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Stores the CE and shares it with the team. The CE Number must be unique.</a:t>
            </a:r>
            <a:endParaRPr lang="en-US" sz="1150" dirty="0"/>
          </a:p>
        </p:txBody>
      </p:sp>
      <p:sp>
        <p:nvSpPr>
          <p:cNvPr id="8" name="Text 6"/>
          <p:cNvSpPr/>
          <p:nvPr/>
        </p:nvSpPr>
        <p:spPr>
          <a:xfrm>
            <a:off x="6986016" y="1554480"/>
            <a:ext cx="548640" cy="438912"/>
          </a:xfrm>
          <a:prstGeom prst="rect">
            <a:avLst/>
          </a:prstGeom>
          <a:noFill/>
          <a:ln/>
        </p:spPr>
        <p:txBody>
          <a:bodyPr wrap="square" lIns="0" tIns="0" rIns="0" bIns="0" rtlCol="0" anchor="ctr"/>
          <a:lstStyle/>
          <a:p>
            <a:pPr algn="r" indent="0" marL="0">
              <a:buNone/>
            </a:pPr>
            <a:r>
              <a:rPr lang="en-US" sz="950" dirty="0">
                <a:solidFill>
                  <a:srgbClr val="9AA4AF"/>
                </a:solidFill>
                <a:latin typeface="Courier New" pitchFamily="34" charset="0"/>
                <a:ea typeface="Courier New" pitchFamily="34" charset="-122"/>
                <a:cs typeface="Courier New" pitchFamily="34" charset="-120"/>
              </a:rPr>
              <a:t>Ctrl + S</a:t>
            </a:r>
            <a:endParaRPr lang="en-US" sz="950" dirty="0"/>
          </a:p>
        </p:txBody>
      </p:sp>
      <p:sp>
        <p:nvSpPr>
          <p:cNvPr id="9" name="Shape 7"/>
          <p:cNvSpPr/>
          <p:nvPr/>
        </p:nvSpPr>
        <p:spPr>
          <a:xfrm>
            <a:off x="566928" y="2249424"/>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0" name="Shape 8"/>
          <p:cNvSpPr/>
          <p:nvPr/>
        </p:nvSpPr>
        <p:spPr>
          <a:xfrm>
            <a:off x="749808" y="2395728"/>
            <a:ext cx="1234440" cy="438912"/>
          </a:xfrm>
          <a:prstGeom prst="roundRect">
            <a:avLst>
              <a:gd name="adj" fmla="val 12500"/>
            </a:avLst>
          </a:prstGeom>
          <a:solidFill>
            <a:srgbClr val="58A6FF"/>
          </a:solidFill>
          <a:ln w="12700">
            <a:solidFill>
              <a:srgbClr val="58A6FF"/>
            </a:solidFill>
            <a:prstDash val="solid"/>
          </a:ln>
        </p:spPr>
        <p:txBody>
          <a:bodyPr/>
          <a:p/>
        </p:txBody>
      </p:sp>
      <p:sp>
        <p:nvSpPr>
          <p:cNvPr id="11" name="Text 9"/>
          <p:cNvSpPr/>
          <p:nvPr/>
        </p:nvSpPr>
        <p:spPr>
          <a:xfrm>
            <a:off x="749808" y="2395728"/>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Draft</a:t>
            </a:r>
            <a:endParaRPr lang="en-US" sz="1200" dirty="0"/>
          </a:p>
        </p:txBody>
      </p:sp>
      <p:sp>
        <p:nvSpPr>
          <p:cNvPr id="12" name="Text 10"/>
          <p:cNvSpPr/>
          <p:nvPr/>
        </p:nvSpPr>
        <p:spPr>
          <a:xfrm>
            <a:off x="2139696" y="2340864"/>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Parks unfinished work and shares it with the team. A draft DOES show in CE Monitoring as open work, and can still be edited. Saving the CE clears it.</a:t>
            </a:r>
            <a:endParaRPr lang="en-US" sz="1150" dirty="0"/>
          </a:p>
        </p:txBody>
      </p:sp>
      <p:sp>
        <p:nvSpPr>
          <p:cNvPr id="13" name="Shape 11"/>
          <p:cNvSpPr/>
          <p:nvPr/>
        </p:nvSpPr>
        <p:spPr>
          <a:xfrm>
            <a:off x="566928" y="3090672"/>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4" name="Shape 12"/>
          <p:cNvSpPr/>
          <p:nvPr/>
        </p:nvSpPr>
        <p:spPr>
          <a:xfrm>
            <a:off x="749808" y="3236976"/>
            <a:ext cx="1234440" cy="438912"/>
          </a:xfrm>
          <a:prstGeom prst="roundRect">
            <a:avLst>
              <a:gd name="adj" fmla="val 12500"/>
            </a:avLst>
          </a:prstGeom>
          <a:solidFill>
            <a:srgbClr val="A78BFA"/>
          </a:solidFill>
          <a:ln w="12700">
            <a:solidFill>
              <a:srgbClr val="A78BFA"/>
            </a:solidFill>
            <a:prstDash val="solid"/>
          </a:ln>
        </p:spPr>
        <p:txBody>
          <a:bodyPr/>
          <a:p/>
        </p:txBody>
      </p:sp>
      <p:sp>
        <p:nvSpPr>
          <p:cNvPr id="15" name="Text 13"/>
          <p:cNvSpPr/>
          <p:nvPr/>
        </p:nvSpPr>
        <p:spPr>
          <a:xfrm>
            <a:off x="749808" y="3236976"/>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Revise</a:t>
            </a:r>
            <a:endParaRPr lang="en-US" sz="1200" dirty="0"/>
          </a:p>
        </p:txBody>
      </p:sp>
      <p:sp>
        <p:nvSpPr>
          <p:cNvPr id="16" name="Text 14"/>
          <p:cNvSpPr/>
          <p:nvPr/>
        </p:nvSpPr>
        <p:spPr>
          <a:xfrm>
            <a:off x="2139696" y="3182112"/>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Creates the next revision (-R1, -R2) of the CE you have open, so the original is kept.</a:t>
            </a:r>
            <a:endParaRPr lang="en-US" sz="1150" dirty="0"/>
          </a:p>
        </p:txBody>
      </p:sp>
      <p:sp>
        <p:nvSpPr>
          <p:cNvPr id="17" name="Shape 15"/>
          <p:cNvSpPr/>
          <p:nvPr/>
        </p:nvSpPr>
        <p:spPr>
          <a:xfrm>
            <a:off x="566928" y="3931920"/>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8" name="Shape 16"/>
          <p:cNvSpPr/>
          <p:nvPr/>
        </p:nvSpPr>
        <p:spPr>
          <a:xfrm>
            <a:off x="749808" y="4078224"/>
            <a:ext cx="1234440" cy="438912"/>
          </a:xfrm>
          <a:prstGeom prst="roundRect">
            <a:avLst>
              <a:gd name="adj" fmla="val 12500"/>
            </a:avLst>
          </a:prstGeom>
          <a:solidFill>
            <a:srgbClr val="3FB950"/>
          </a:solidFill>
          <a:ln w="12700">
            <a:solidFill>
              <a:srgbClr val="3FB950"/>
            </a:solidFill>
            <a:prstDash val="solid"/>
          </a:ln>
        </p:spPr>
        <p:txBody>
          <a:bodyPr/>
          <a:p/>
        </p:txBody>
      </p:sp>
      <p:sp>
        <p:nvSpPr>
          <p:cNvPr id="19" name="Text 17"/>
          <p:cNvSpPr/>
          <p:nvPr/>
        </p:nvSpPr>
        <p:spPr>
          <a:xfrm>
            <a:off x="749808" y="4078224"/>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Clone</a:t>
            </a:r>
            <a:endParaRPr lang="en-US" sz="1200" dirty="0"/>
          </a:p>
        </p:txBody>
      </p:sp>
      <p:sp>
        <p:nvSpPr>
          <p:cNvPr id="20" name="Text 18"/>
          <p:cNvSpPr/>
          <p:nvPr/>
        </p:nvSpPr>
        <p:spPr>
          <a:xfrm>
            <a:off x="2139696" y="4023360"/>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Copies an existing CE onto a fresh CE Number. The fastest way to quote a similar job.</a:t>
            </a:r>
            <a:endParaRPr lang="en-US" sz="1150" dirty="0"/>
          </a:p>
        </p:txBody>
      </p:sp>
      <p:sp>
        <p:nvSpPr>
          <p:cNvPr id="21" name="Shape 19"/>
          <p:cNvSpPr/>
          <p:nvPr/>
        </p:nvSpPr>
        <p:spPr>
          <a:xfrm>
            <a:off x="566928" y="4773168"/>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2" name="Shape 20"/>
          <p:cNvSpPr/>
          <p:nvPr/>
        </p:nvSpPr>
        <p:spPr>
          <a:xfrm>
            <a:off x="749808" y="4919472"/>
            <a:ext cx="1234440" cy="438912"/>
          </a:xfrm>
          <a:prstGeom prst="roundRect">
            <a:avLst>
              <a:gd name="adj" fmla="val 12500"/>
            </a:avLst>
          </a:prstGeom>
          <a:solidFill>
            <a:srgbClr val="9AA4AF"/>
          </a:solidFill>
          <a:ln w="12700">
            <a:solidFill>
              <a:srgbClr val="9AA4AF"/>
            </a:solidFill>
            <a:prstDash val="solid"/>
          </a:ln>
        </p:spPr>
        <p:txBody>
          <a:bodyPr/>
          <a:p/>
        </p:txBody>
      </p:sp>
      <p:sp>
        <p:nvSpPr>
          <p:cNvPr id="23" name="Text 21"/>
          <p:cNvSpPr/>
          <p:nvPr/>
        </p:nvSpPr>
        <p:spPr>
          <a:xfrm>
            <a:off x="749808" y="4919472"/>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New</a:t>
            </a:r>
            <a:endParaRPr lang="en-US" sz="1200" dirty="0"/>
          </a:p>
        </p:txBody>
      </p:sp>
      <p:sp>
        <p:nvSpPr>
          <p:cNvPr id="24" name="Text 22"/>
          <p:cNvSpPr/>
          <p:nvPr/>
        </p:nvSpPr>
        <p:spPr>
          <a:xfrm>
            <a:off x="2139696" y="4864608"/>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Clears everything and starts again. You will be warned about unsaved work.</a:t>
            </a:r>
            <a:endParaRPr lang="en-US" sz="1150" dirty="0"/>
          </a:p>
        </p:txBody>
      </p:sp>
      <p:sp>
        <p:nvSpPr>
          <p:cNvPr id="25" name="Text 23"/>
          <p:cNvSpPr/>
          <p:nvPr/>
        </p:nvSpPr>
        <p:spPr>
          <a:xfrm>
            <a:off x="6986016" y="4919472"/>
            <a:ext cx="548640" cy="438912"/>
          </a:xfrm>
          <a:prstGeom prst="rect">
            <a:avLst/>
          </a:prstGeom>
          <a:noFill/>
          <a:ln/>
        </p:spPr>
        <p:txBody>
          <a:bodyPr wrap="square" lIns="0" tIns="0" rIns="0" bIns="0" rtlCol="0" anchor="ctr"/>
          <a:lstStyle/>
          <a:p>
            <a:pPr algn="r" indent="0" marL="0">
              <a:buNone/>
            </a:pPr>
            <a:r>
              <a:rPr lang="en-US" sz="950" dirty="0">
                <a:solidFill>
                  <a:srgbClr val="9AA4AF"/>
                </a:solidFill>
                <a:latin typeface="Courier New" pitchFamily="34" charset="0"/>
                <a:ea typeface="Courier New" pitchFamily="34" charset="-122"/>
                <a:cs typeface="Courier New" pitchFamily="34" charset="-120"/>
              </a:rPr>
              <a:t>Ctrl + N</a:t>
            </a:r>
            <a:endParaRPr lang="en-US" sz="950" dirty="0"/>
          </a:p>
        </p:txBody>
      </p:sp>
      <p:sp>
        <p:nvSpPr>
          <p:cNvPr id="26" name="Shape 24"/>
          <p:cNvSpPr/>
          <p:nvPr/>
        </p:nvSpPr>
        <p:spPr>
          <a:xfrm>
            <a:off x="7818120" y="1408176"/>
            <a:ext cx="3803904" cy="1965960"/>
          </a:xfrm>
          <a:prstGeom prst="roundRect">
            <a:avLst>
              <a:gd name="adj" fmla="val 372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7" name="Text 25"/>
          <p:cNvSpPr/>
          <p:nvPr/>
        </p:nvSpPr>
        <p:spPr>
          <a:xfrm>
            <a:off x="8046720" y="1591056"/>
            <a:ext cx="3383280" cy="292608"/>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Auto-save</a:t>
            </a:r>
            <a:endParaRPr lang="en-US" sz="1450" dirty="0"/>
          </a:p>
        </p:txBody>
      </p:sp>
      <p:sp>
        <p:nvSpPr>
          <p:cNvPr id="28" name="Text 26"/>
          <p:cNvSpPr/>
          <p:nvPr/>
        </p:nvSpPr>
        <p:spPr>
          <a:xfrm>
            <a:off x="8046720" y="1956816"/>
            <a:ext cx="3383280" cy="128016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The app keeps a rolling copy of your work in this browser as you type. If the tab closes or the machine restarts, you will be offered it back the next time you open the app.</a:t>
            </a:r>
            <a:endParaRPr lang="en-US" sz="1150" dirty="0"/>
          </a:p>
        </p:txBody>
      </p:sp>
      <p:sp>
        <p:nvSpPr>
          <p:cNvPr id="29" name="Shape 27"/>
          <p:cNvSpPr/>
          <p:nvPr/>
        </p:nvSpPr>
        <p:spPr>
          <a:xfrm>
            <a:off x="7818120" y="3557016"/>
            <a:ext cx="3803904" cy="2057400"/>
          </a:xfrm>
          <a:prstGeom prst="roundRect">
            <a:avLst>
              <a:gd name="adj" fmla="val 355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0" name="Text 28"/>
          <p:cNvSpPr/>
          <p:nvPr/>
        </p:nvSpPr>
        <p:spPr>
          <a:xfrm>
            <a:off x="8046720" y="3739896"/>
            <a:ext cx="3383280" cy="292608"/>
          </a:xfrm>
          <a:prstGeom prst="rect">
            <a:avLst/>
          </a:prstGeom>
          <a:noFill/>
          <a:ln/>
        </p:spPr>
        <p:txBody>
          <a:bodyPr wrap="square" lIns="0" tIns="0" rIns="0" bIns="0" rtlCol="0" anchor="ctr"/>
          <a:lstStyle/>
          <a:p>
            <a:pPr indent="0" marL="0">
              <a:buNone/>
            </a:pPr>
            <a:r>
              <a:rPr lang="en-US" sz="1450" b="1" dirty="0">
                <a:solidFill>
                  <a:srgbClr val="F85149"/>
                </a:solidFill>
                <a:latin typeface="Arial" pitchFamily="34" charset="0"/>
                <a:ea typeface="Arial" pitchFamily="34" charset="-122"/>
                <a:cs typeface="Arial" pitchFamily="34" charset="-120"/>
              </a:rPr>
              <a:t>Duplicate CE numbers</a:t>
            </a:r>
            <a:endParaRPr lang="en-US" sz="1450" dirty="0"/>
          </a:p>
        </p:txBody>
      </p:sp>
      <p:sp>
        <p:nvSpPr>
          <p:cNvPr id="31" name="Text 29"/>
          <p:cNvSpPr/>
          <p:nvPr/>
        </p:nvSpPr>
        <p:spPr>
          <a:xfrm>
            <a:off x="8046720" y="4105656"/>
            <a:ext cx="3383280" cy="137160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Saving over an existing number is refused, and the app says when that CE was saved. Use Revise to supersede it, or pick a new number. A save that reaches only this browser now says so — it is not filed until it reaches SharePoint.</a:t>
            </a:r>
            <a:endParaRPr lang="en-US" sz="1150" dirty="0"/>
          </a:p>
        </p:txBody>
      </p:sp>
      <p:sp>
        <p:nvSpPr>
          <p:cNvPr id="32" name="Text 30"/>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3" name="Text 31"/>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OUTPUT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Produce the document</a:t>
            </a:r>
            <a:endParaRPr lang="en-US" sz="3200" dirty="0"/>
          </a:p>
        </p:txBody>
      </p:sp>
      <p:sp>
        <p:nvSpPr>
          <p:cNvPr id="4" name="Shape 2"/>
          <p:cNvSpPr/>
          <p:nvPr/>
        </p:nvSpPr>
        <p:spPr>
          <a:xfrm>
            <a:off x="566928" y="14081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Text 3"/>
          <p:cNvSpPr/>
          <p:nvPr/>
        </p:nvSpPr>
        <p:spPr>
          <a:xfrm>
            <a:off x="841248" y="1554480"/>
            <a:ext cx="2926080" cy="310896"/>
          </a:xfrm>
          <a:prstGeom prst="rect">
            <a:avLst/>
          </a:prstGeom>
          <a:noFill/>
          <a:ln/>
        </p:spPr>
        <p:txBody>
          <a:bodyPr wrap="square" lIns="0" tIns="0" rIns="0" bIns="0" rtlCol="0" anchor="ctr"/>
          <a:lstStyle/>
          <a:p>
            <a:pPr indent="0" marL="0">
              <a:buNone/>
            </a:pPr>
            <a:r>
              <a:rPr lang="en-US" sz="1500" b="1" dirty="0">
                <a:solidFill>
                  <a:srgbClr val="F0A429"/>
                </a:solidFill>
                <a:latin typeface="Arial" pitchFamily="34" charset="0"/>
                <a:ea typeface="Arial" pitchFamily="34" charset="-122"/>
                <a:cs typeface="Arial" pitchFamily="34" charset="-120"/>
              </a:rPr>
              <a:t>🖨  Generate CE</a:t>
            </a:r>
            <a:endParaRPr lang="en-US" sz="1500" dirty="0"/>
          </a:p>
        </p:txBody>
      </p:sp>
      <p:sp>
        <p:nvSpPr>
          <p:cNvPr id="6" name="Text 4"/>
          <p:cNvSpPr/>
          <p:nvPr/>
        </p:nvSpPr>
        <p:spPr>
          <a:xfrm>
            <a:off x="841248" y="19110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Opens the official SHIC form in a print window: cover, cost summary, manpower loading, resources, scope of work and signature blocks. Print it or save as PDF.</a:t>
            </a:r>
            <a:endParaRPr lang="en-US" sz="1150" dirty="0"/>
          </a:p>
        </p:txBody>
      </p:sp>
      <p:sp>
        <p:nvSpPr>
          <p:cNvPr id="7" name="Shape 5"/>
          <p:cNvSpPr/>
          <p:nvPr/>
        </p:nvSpPr>
        <p:spPr>
          <a:xfrm>
            <a:off x="566928" y="27797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8" name="Text 6"/>
          <p:cNvSpPr/>
          <p:nvPr/>
        </p:nvSpPr>
        <p:spPr>
          <a:xfrm>
            <a:off x="841248" y="2926080"/>
            <a:ext cx="2926080" cy="310896"/>
          </a:xfrm>
          <a:prstGeom prst="rect">
            <a:avLst/>
          </a:prstGeom>
          <a:noFill/>
          <a:ln/>
        </p:spPr>
        <p:txBody>
          <a:bodyPr wrap="square" lIns="0" tIns="0" rIns="0" bIns="0" rtlCol="0" anchor="ctr"/>
          <a:lstStyle/>
          <a:p>
            <a:pPr indent="0" marL="0">
              <a:buNone/>
            </a:pPr>
            <a:r>
              <a:rPr lang="en-US" sz="1500" b="1" dirty="0">
                <a:solidFill>
                  <a:srgbClr val="58A6FF"/>
                </a:solidFill>
                <a:latin typeface="Arial" pitchFamily="34" charset="0"/>
                <a:ea typeface="Arial" pitchFamily="34" charset="-122"/>
                <a:cs typeface="Arial" pitchFamily="34" charset="-120"/>
              </a:rPr>
              <a:t>Export CE · Export Detailed</a:t>
            </a:r>
            <a:endParaRPr lang="en-US" sz="1500" dirty="0"/>
          </a:p>
        </p:txBody>
      </p:sp>
      <p:sp>
        <p:nvSpPr>
          <p:cNvPr id="9" name="Text 7"/>
          <p:cNvSpPr/>
          <p:nvPr/>
        </p:nvSpPr>
        <p:spPr>
          <a:xfrm>
            <a:off x="841248" y="32826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Both write the SAME document as a formatted Excel workbook — one sheet per printed page, same headings and columns, with the black section bars and borders of the master CE. Figures arrive as numbers, so a column still totals.</a:t>
            </a:r>
            <a:endParaRPr lang="en-US" sz="1150" dirty="0"/>
          </a:p>
        </p:txBody>
      </p:sp>
      <p:sp>
        <p:nvSpPr>
          <p:cNvPr id="10" name="Shape 8"/>
          <p:cNvSpPr/>
          <p:nvPr/>
        </p:nvSpPr>
        <p:spPr>
          <a:xfrm>
            <a:off x="566928" y="41513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1" name="Text 9"/>
          <p:cNvSpPr/>
          <p:nvPr/>
        </p:nvSpPr>
        <p:spPr>
          <a:xfrm>
            <a:off x="841248" y="4297680"/>
            <a:ext cx="2926080" cy="310896"/>
          </a:xfrm>
          <a:prstGeom prst="rect">
            <a:avLst/>
          </a:prstGeom>
          <a:noFill/>
          <a:ln/>
        </p:spPr>
        <p:txBody>
          <a:bodyPr wrap="square" lIns="0" tIns="0" rIns="0" bIns="0" rtlCol="0" anchor="ctr"/>
          <a:lstStyle/>
          <a:p>
            <a:pPr indent="0" marL="0">
              <a:buNone/>
            </a:pPr>
            <a:r>
              <a:rPr lang="en-US" sz="1500" b="1" dirty="0">
                <a:solidFill>
                  <a:srgbClr val="A78BFA"/>
                </a:solidFill>
                <a:latin typeface="Arial" pitchFamily="34" charset="0"/>
                <a:ea typeface="Arial" pitchFamily="34" charset="-122"/>
                <a:cs typeface="Arial" pitchFamily="34" charset="-120"/>
              </a:rPr>
              <a:t>📎 Attachments</a:t>
            </a:r>
            <a:endParaRPr lang="en-US" sz="1500" dirty="0"/>
          </a:p>
        </p:txBody>
      </p:sp>
      <p:sp>
        <p:nvSpPr>
          <p:cNvPr id="12" name="Text 10"/>
          <p:cNvSpPr/>
          <p:nvPr/>
        </p:nvSpPr>
        <p:spPr>
          <a:xfrm>
            <a:off x="841248" y="46542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Client enquiries and supporting documents can be attached to a saved CE and opened later by anyone on the team.</a:t>
            </a:r>
            <a:endParaRPr lang="en-US" sz="1150" dirty="0"/>
          </a:p>
        </p:txBody>
      </p:sp>
      <p:sp>
        <p:nvSpPr>
          <p:cNvPr id="13" name="Shape 11"/>
          <p:cNvSpPr/>
          <p:nvPr/>
        </p:nvSpPr>
        <p:spPr>
          <a:xfrm>
            <a:off x="7818120" y="1408176"/>
            <a:ext cx="3803904" cy="3986784"/>
          </a:xfrm>
          <a:prstGeom prst="roundRect">
            <a:avLst>
              <a:gd name="adj" fmla="val 192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4" name="Text 12"/>
          <p:cNvSpPr/>
          <p:nvPr/>
        </p:nvSpPr>
        <p:spPr>
          <a:xfrm>
            <a:off x="8046720" y="1609344"/>
            <a:ext cx="3383280" cy="310896"/>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On the printed CE</a:t>
            </a:r>
            <a:endParaRPr lang="en-US" sz="1500" dirty="0"/>
          </a:p>
        </p:txBody>
      </p:sp>
      <p:sp>
        <p:nvSpPr>
          <p:cNvPr id="15" name="Text 13"/>
          <p:cNvSpPr/>
          <p:nvPr/>
        </p:nvSpPr>
        <p:spPr>
          <a:xfrm>
            <a:off x="8046720" y="2048256"/>
            <a:ext cx="3383280" cy="3108960"/>
          </a:xfrm>
          <a:prstGeom prst="rect">
            <a:avLst/>
          </a:prstGeom>
          <a:noFill/>
          <a:ln/>
        </p:spPr>
        <p:txBody>
          <a:bodyPr wrap="square" lIns="0" tIns="0" rIns="0" bIns="0" rtlCol="0" anchor="t"/>
          <a:lstStyle/>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The AOT column is total overtime hours — your per-day figure multiplied by the days</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SELLING PRICE only appears when the margin is not zero</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Left and right margins are 0.25 in — keep Chrome’s Margins on Default</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Tools show BASIS — "per project", "5 days", "24 hrs" — in place of DAYS</a:t>
            </a:r>
            <a:endParaRPr lang="en-US" sz="1150" dirty="0"/>
          </a:p>
        </p:txBody>
      </p:sp>
      <p:sp>
        <p:nvSpPr>
          <p:cNvPr id="16" name="Text 1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7" name="Text 1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7">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MONITORING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Track what you have quoted</a:t>
            </a:r>
            <a:endParaRPr lang="en-US" sz="3200" dirty="0"/>
          </a:p>
        </p:txBody>
      </p:sp>
      <p:sp>
        <p:nvSpPr>
          <p:cNvPr id="4" name="Text 2"/>
          <p:cNvSpPr/>
          <p:nvPr/>
        </p:nvSpPr>
        <p:spPr>
          <a:xfrm>
            <a:off x="566928" y="1545336"/>
            <a:ext cx="2028458"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CE NO.</a:t>
            </a:r>
            <a:endParaRPr lang="en-US" sz="850" dirty="0"/>
          </a:p>
        </p:txBody>
      </p:sp>
      <p:sp>
        <p:nvSpPr>
          <p:cNvPr id="5" name="Text 3"/>
          <p:cNvSpPr/>
          <p:nvPr/>
        </p:nvSpPr>
        <p:spPr>
          <a:xfrm>
            <a:off x="2595386" y="1545336"/>
            <a:ext cx="2028458"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CUSTOMER</a:t>
            </a:r>
            <a:endParaRPr lang="en-US" sz="850" dirty="0"/>
          </a:p>
        </p:txBody>
      </p:sp>
      <p:sp>
        <p:nvSpPr>
          <p:cNvPr id="6" name="Text 4"/>
          <p:cNvSpPr/>
          <p:nvPr/>
        </p:nvSpPr>
        <p:spPr>
          <a:xfrm>
            <a:off x="4623844" y="1545336"/>
            <a:ext cx="2636995"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JOB TITLE</a:t>
            </a:r>
            <a:endParaRPr lang="en-US" sz="850" dirty="0"/>
          </a:p>
        </p:txBody>
      </p:sp>
      <p:sp>
        <p:nvSpPr>
          <p:cNvPr id="7" name="Text 5"/>
          <p:cNvSpPr/>
          <p:nvPr/>
        </p:nvSpPr>
        <p:spPr>
          <a:xfrm>
            <a:off x="7260839" y="1545336"/>
            <a:ext cx="1419921"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TOTAL</a:t>
            </a:r>
            <a:endParaRPr lang="en-US" sz="850" dirty="0"/>
          </a:p>
        </p:txBody>
      </p:sp>
      <p:sp>
        <p:nvSpPr>
          <p:cNvPr id="8" name="Text 6"/>
          <p:cNvSpPr/>
          <p:nvPr/>
        </p:nvSpPr>
        <p:spPr>
          <a:xfrm>
            <a:off x="8680760" y="1545336"/>
            <a:ext cx="1318498"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DEADLINE</a:t>
            </a:r>
            <a:endParaRPr lang="en-US" sz="850" dirty="0"/>
          </a:p>
        </p:txBody>
      </p:sp>
      <p:sp>
        <p:nvSpPr>
          <p:cNvPr id="9" name="Text 7"/>
          <p:cNvSpPr/>
          <p:nvPr/>
        </p:nvSpPr>
        <p:spPr>
          <a:xfrm>
            <a:off x="9999258" y="1545336"/>
            <a:ext cx="1622766"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STATUS</a:t>
            </a:r>
            <a:endParaRPr lang="en-US" sz="850" dirty="0"/>
          </a:p>
        </p:txBody>
      </p:sp>
      <p:sp>
        <p:nvSpPr>
          <p:cNvPr id="10" name="Shape 8"/>
          <p:cNvSpPr/>
          <p:nvPr/>
        </p:nvSpPr>
        <p:spPr>
          <a:xfrm>
            <a:off x="566928" y="1819656"/>
            <a:ext cx="11055096" cy="329184"/>
          </a:xfrm>
          <a:prstGeom prst="rect">
            <a:avLst/>
          </a:prstGeom>
          <a:solidFill>
            <a:srgbClr val="1C2128"/>
          </a:solidFill>
          <a:ln w="6350">
            <a:solidFill>
              <a:srgbClr val="30363D"/>
            </a:solidFill>
            <a:prstDash val="solid"/>
          </a:ln>
        </p:spPr>
        <p:txBody>
          <a:bodyPr/>
          <a:p/>
        </p:txBody>
      </p:sp>
      <p:sp>
        <p:nvSpPr>
          <p:cNvPr id="11" name="Text 9"/>
          <p:cNvSpPr/>
          <p:nvPr/>
        </p:nvSpPr>
        <p:spPr>
          <a:xfrm>
            <a:off x="621792" y="1819656"/>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SHIC-CE-2026-0042</a:t>
            </a:r>
            <a:endParaRPr lang="en-US" sz="1050" dirty="0"/>
          </a:p>
        </p:txBody>
      </p:sp>
      <p:sp>
        <p:nvSpPr>
          <p:cNvPr id="12" name="Text 10"/>
          <p:cNvSpPr/>
          <p:nvPr/>
        </p:nvSpPr>
        <p:spPr>
          <a:xfrm>
            <a:off x="2650250" y="1819656"/>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SEM-Calaca</a:t>
            </a:r>
            <a:endParaRPr lang="en-US" sz="1050" dirty="0"/>
          </a:p>
        </p:txBody>
      </p:sp>
      <p:sp>
        <p:nvSpPr>
          <p:cNvPr id="13" name="Text 11"/>
          <p:cNvSpPr/>
          <p:nvPr/>
        </p:nvSpPr>
        <p:spPr>
          <a:xfrm>
            <a:off x="4678708" y="1819656"/>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Turbine bearing rebabbitting</a:t>
            </a:r>
            <a:endParaRPr lang="en-US" sz="1050" dirty="0"/>
          </a:p>
        </p:txBody>
      </p:sp>
      <p:sp>
        <p:nvSpPr>
          <p:cNvPr id="14" name="Text 12"/>
          <p:cNvSpPr/>
          <p:nvPr/>
        </p:nvSpPr>
        <p:spPr>
          <a:xfrm>
            <a:off x="7315703" y="1819656"/>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₱60,509</a:t>
            </a:r>
            <a:endParaRPr lang="en-US" sz="1050" dirty="0"/>
          </a:p>
        </p:txBody>
      </p:sp>
      <p:sp>
        <p:nvSpPr>
          <p:cNvPr id="15" name="Text 13"/>
          <p:cNvSpPr/>
          <p:nvPr/>
        </p:nvSpPr>
        <p:spPr>
          <a:xfrm>
            <a:off x="8735624" y="1819656"/>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12 Mar</a:t>
            </a:r>
            <a:endParaRPr lang="en-US" sz="1050" dirty="0"/>
          </a:p>
        </p:txBody>
      </p:sp>
      <p:sp>
        <p:nvSpPr>
          <p:cNvPr id="16" name="Text 14"/>
          <p:cNvSpPr/>
          <p:nvPr/>
        </p:nvSpPr>
        <p:spPr>
          <a:xfrm>
            <a:off x="10054122" y="1819656"/>
            <a:ext cx="1513038" cy="329184"/>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FOR REVIEW</a:t>
            </a:r>
            <a:endParaRPr lang="en-US" sz="1050" dirty="0"/>
          </a:p>
        </p:txBody>
      </p:sp>
      <p:sp>
        <p:nvSpPr>
          <p:cNvPr id="17" name="Shape 15"/>
          <p:cNvSpPr/>
          <p:nvPr/>
        </p:nvSpPr>
        <p:spPr>
          <a:xfrm>
            <a:off x="566928" y="2148840"/>
            <a:ext cx="11055096" cy="329184"/>
          </a:xfrm>
          <a:prstGeom prst="rect">
            <a:avLst/>
          </a:prstGeom>
          <a:solidFill>
            <a:srgbClr val="161B22"/>
          </a:solidFill>
          <a:ln w="6350">
            <a:solidFill>
              <a:srgbClr val="30363D"/>
            </a:solidFill>
            <a:prstDash val="solid"/>
          </a:ln>
        </p:spPr>
        <p:txBody>
          <a:bodyPr/>
          <a:p/>
        </p:txBody>
      </p:sp>
      <p:sp>
        <p:nvSpPr>
          <p:cNvPr id="18" name="Text 16"/>
          <p:cNvSpPr/>
          <p:nvPr/>
        </p:nvSpPr>
        <p:spPr>
          <a:xfrm>
            <a:off x="621792" y="2148840"/>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SHIC-CE-2026-0041</a:t>
            </a:r>
            <a:endParaRPr lang="en-US" sz="1050" dirty="0"/>
          </a:p>
        </p:txBody>
      </p:sp>
      <p:sp>
        <p:nvSpPr>
          <p:cNvPr id="19" name="Text 17"/>
          <p:cNvSpPr/>
          <p:nvPr/>
        </p:nvSpPr>
        <p:spPr>
          <a:xfrm>
            <a:off x="2650250" y="2148840"/>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Masinloc</a:t>
            </a:r>
            <a:endParaRPr lang="en-US" sz="1050" dirty="0"/>
          </a:p>
        </p:txBody>
      </p:sp>
      <p:sp>
        <p:nvSpPr>
          <p:cNvPr id="20" name="Text 18"/>
          <p:cNvSpPr/>
          <p:nvPr/>
        </p:nvSpPr>
        <p:spPr>
          <a:xfrm>
            <a:off x="4678708" y="2148840"/>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Boiler tube replacement</a:t>
            </a:r>
            <a:endParaRPr lang="en-US" sz="1050" dirty="0"/>
          </a:p>
        </p:txBody>
      </p:sp>
      <p:sp>
        <p:nvSpPr>
          <p:cNvPr id="21" name="Text 19"/>
          <p:cNvSpPr/>
          <p:nvPr/>
        </p:nvSpPr>
        <p:spPr>
          <a:xfrm>
            <a:off x="7315703" y="2148840"/>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₱184,200</a:t>
            </a:r>
            <a:endParaRPr lang="en-US" sz="1050" dirty="0"/>
          </a:p>
        </p:txBody>
      </p:sp>
      <p:sp>
        <p:nvSpPr>
          <p:cNvPr id="22" name="Text 20"/>
          <p:cNvSpPr/>
          <p:nvPr/>
        </p:nvSpPr>
        <p:spPr>
          <a:xfrm>
            <a:off x="8735624" y="2148840"/>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08 Mar</a:t>
            </a:r>
            <a:endParaRPr lang="en-US" sz="1050" dirty="0"/>
          </a:p>
        </p:txBody>
      </p:sp>
      <p:sp>
        <p:nvSpPr>
          <p:cNvPr id="23" name="Text 21"/>
          <p:cNvSpPr/>
          <p:nvPr/>
        </p:nvSpPr>
        <p:spPr>
          <a:xfrm>
            <a:off x="10054122" y="2148840"/>
            <a:ext cx="1513038" cy="329184"/>
          </a:xfrm>
          <a:prstGeom prst="rect">
            <a:avLst/>
          </a:prstGeom>
          <a:noFill/>
          <a:ln/>
        </p:spPr>
        <p:txBody>
          <a:bodyPr wrap="square" lIns="0" tIns="0" rIns="0" bIns="0" rtlCol="0" anchor="ctr"/>
          <a:lstStyle/>
          <a:p>
            <a:pPr algn="ctr" indent="0" marL="0">
              <a:buNone/>
            </a:pPr>
            <a:r>
              <a:rPr lang="en-US" sz="1050" b="1" dirty="0">
                <a:solidFill>
                  <a:srgbClr val="3FB950"/>
                </a:solidFill>
                <a:latin typeface="Calibri" pitchFamily="34" charset="0"/>
                <a:ea typeface="Calibri" pitchFamily="34" charset="-122"/>
                <a:cs typeface="Calibri" pitchFamily="34" charset="-120"/>
              </a:rPr>
              <a:t>APPROVED</a:t>
            </a:r>
            <a:endParaRPr lang="en-US" sz="1050" dirty="0"/>
          </a:p>
        </p:txBody>
      </p:sp>
      <p:sp>
        <p:nvSpPr>
          <p:cNvPr id="24" name="Shape 22"/>
          <p:cNvSpPr/>
          <p:nvPr/>
        </p:nvSpPr>
        <p:spPr>
          <a:xfrm>
            <a:off x="566928" y="2478024"/>
            <a:ext cx="11055096" cy="329184"/>
          </a:xfrm>
          <a:prstGeom prst="rect">
            <a:avLst/>
          </a:prstGeom>
          <a:solidFill>
            <a:srgbClr val="1C2128"/>
          </a:solidFill>
          <a:ln w="6350">
            <a:solidFill>
              <a:srgbClr val="30363D"/>
            </a:solidFill>
            <a:prstDash val="solid"/>
          </a:ln>
        </p:spPr>
        <p:txBody>
          <a:bodyPr/>
          <a:p/>
        </p:txBody>
      </p:sp>
      <p:sp>
        <p:nvSpPr>
          <p:cNvPr id="25" name="Text 23"/>
          <p:cNvSpPr/>
          <p:nvPr/>
        </p:nvSpPr>
        <p:spPr>
          <a:xfrm>
            <a:off x="621792" y="2478024"/>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SHIC-CE-2026-0039</a:t>
            </a:r>
            <a:endParaRPr lang="en-US" sz="1050" dirty="0"/>
          </a:p>
        </p:txBody>
      </p:sp>
      <p:sp>
        <p:nvSpPr>
          <p:cNvPr id="26" name="Text 24"/>
          <p:cNvSpPr/>
          <p:nvPr/>
        </p:nvSpPr>
        <p:spPr>
          <a:xfrm>
            <a:off x="2650250" y="2478024"/>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Pagbilao</a:t>
            </a:r>
            <a:endParaRPr lang="en-US" sz="1050" dirty="0"/>
          </a:p>
        </p:txBody>
      </p:sp>
      <p:sp>
        <p:nvSpPr>
          <p:cNvPr id="27" name="Text 25"/>
          <p:cNvSpPr/>
          <p:nvPr/>
        </p:nvSpPr>
        <p:spPr>
          <a:xfrm>
            <a:off x="4678708" y="2478024"/>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Valve overhaul — 6 units</a:t>
            </a:r>
            <a:endParaRPr lang="en-US" sz="1050" dirty="0"/>
          </a:p>
        </p:txBody>
      </p:sp>
      <p:sp>
        <p:nvSpPr>
          <p:cNvPr id="28" name="Text 26"/>
          <p:cNvSpPr/>
          <p:nvPr/>
        </p:nvSpPr>
        <p:spPr>
          <a:xfrm>
            <a:off x="7315703" y="2478024"/>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₱97,850</a:t>
            </a:r>
            <a:endParaRPr lang="en-US" sz="1050" dirty="0"/>
          </a:p>
        </p:txBody>
      </p:sp>
      <p:sp>
        <p:nvSpPr>
          <p:cNvPr id="29" name="Text 27"/>
          <p:cNvSpPr/>
          <p:nvPr/>
        </p:nvSpPr>
        <p:spPr>
          <a:xfrm>
            <a:off x="8735624" y="2478024"/>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overdue</a:t>
            </a:r>
            <a:endParaRPr lang="en-US" sz="1050" dirty="0"/>
          </a:p>
        </p:txBody>
      </p:sp>
      <p:sp>
        <p:nvSpPr>
          <p:cNvPr id="30" name="Text 28"/>
          <p:cNvSpPr/>
          <p:nvPr/>
        </p:nvSpPr>
        <p:spPr>
          <a:xfrm>
            <a:off x="10054122" y="2478024"/>
            <a:ext cx="1513038" cy="329184"/>
          </a:xfrm>
          <a:prstGeom prst="rect">
            <a:avLst/>
          </a:prstGeom>
          <a:noFill/>
          <a:ln/>
        </p:spPr>
        <p:txBody>
          <a:bodyPr wrap="square" lIns="0" tIns="0" rIns="0" bIns="0" rtlCol="0" anchor="ctr"/>
          <a:lstStyle/>
          <a:p>
            <a:pPr algn="ctr" indent="0" marL="0">
              <a:buNone/>
            </a:pPr>
            <a:r>
              <a:rPr lang="en-US" sz="1050" b="1" dirty="0">
                <a:solidFill>
                  <a:srgbClr val="F85149"/>
                </a:solidFill>
                <a:latin typeface="Calibri" pitchFamily="34" charset="0"/>
                <a:ea typeface="Calibri" pitchFamily="34" charset="-122"/>
                <a:cs typeface="Calibri" pitchFamily="34" charset="-120"/>
              </a:rPr>
              <a:t>REVISED</a:t>
            </a:r>
            <a:endParaRPr lang="en-US" sz="1050" dirty="0"/>
          </a:p>
        </p:txBody>
      </p:sp>
      <p:sp>
        <p:nvSpPr>
          <p:cNvPr id="31" name="Shape 29"/>
          <p:cNvSpPr/>
          <p:nvPr/>
        </p:nvSpPr>
        <p:spPr>
          <a:xfrm>
            <a:off x="566928" y="317296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2" name="Text 30"/>
          <p:cNvSpPr/>
          <p:nvPr/>
        </p:nvSpPr>
        <p:spPr>
          <a:xfrm>
            <a:off x="804672" y="331927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Status · with history</a:t>
            </a:r>
            <a:endParaRPr lang="en-US" sz="1350" dirty="0"/>
          </a:p>
        </p:txBody>
      </p:sp>
      <p:sp>
        <p:nvSpPr>
          <p:cNvPr id="33" name="Text 31"/>
          <p:cNvSpPr/>
          <p:nvPr/>
        </p:nvSpPr>
        <p:spPr>
          <a:xfrm>
            <a:off x="804672" y="363016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Press Status on a row to change it and see the trail — every change, who made it and when. Customer, job title, dates, received by and remarks are edited in place.</a:t>
            </a:r>
            <a:endParaRPr lang="en-US" sz="1100" dirty="0"/>
          </a:p>
        </p:txBody>
      </p:sp>
      <p:sp>
        <p:nvSpPr>
          <p:cNvPr id="34" name="Shape 32"/>
          <p:cNvSpPr/>
          <p:nvPr/>
        </p:nvSpPr>
        <p:spPr>
          <a:xfrm>
            <a:off x="6309360" y="317296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5" name="Text 33"/>
          <p:cNvSpPr/>
          <p:nvPr/>
        </p:nvSpPr>
        <p:spPr>
          <a:xfrm>
            <a:off x="6547104" y="331927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Deadlines</a:t>
            </a:r>
            <a:endParaRPr lang="en-US" sz="1350" dirty="0"/>
          </a:p>
        </p:txBody>
      </p:sp>
      <p:sp>
        <p:nvSpPr>
          <p:cNvPr id="36" name="Text 34"/>
          <p:cNvSpPr/>
          <p:nvPr/>
        </p:nvSpPr>
        <p:spPr>
          <a:xfrm>
            <a:off x="6547104" y="363016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Days-left turns red when a deadline passes, and stops counting once the CE is submitted. The list opens newest first by CE number — year, then sequence — not by when the row was typed.</a:t>
            </a:r>
            <a:endParaRPr lang="en-US" sz="1100" dirty="0"/>
          </a:p>
        </p:txBody>
      </p:sp>
      <p:sp>
        <p:nvSpPr>
          <p:cNvPr id="37" name="Shape 35"/>
          <p:cNvSpPr/>
          <p:nvPr/>
        </p:nvSpPr>
        <p:spPr>
          <a:xfrm>
            <a:off x="566928" y="445312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38" name="Text 36"/>
          <p:cNvSpPr/>
          <p:nvPr/>
        </p:nvSpPr>
        <p:spPr>
          <a:xfrm>
            <a:off x="804672" y="459943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Load · 🖨 CE · ⬇ xlsx</a:t>
            </a:r>
            <a:endParaRPr lang="en-US" sz="1350" dirty="0"/>
          </a:p>
        </p:txBody>
      </p:sp>
      <p:sp>
        <p:nvSpPr>
          <p:cNvPr id="39" name="Text 37"/>
          <p:cNvSpPr/>
          <p:nvPr/>
        </p:nvSpPr>
        <p:spPr>
          <a:xfrm>
            <a:off x="804672" y="491032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Open a CE, or print one. 🖨 CE and ⬇ xlsx produce its documents in a new tab, leaving the CE you are working on untouched. Clone and Revise copy it.</a:t>
            </a:r>
            <a:endParaRPr lang="en-US" sz="1100" dirty="0"/>
          </a:p>
        </p:txBody>
      </p:sp>
      <p:sp>
        <p:nvSpPr>
          <p:cNvPr id="40" name="Shape 38"/>
          <p:cNvSpPr/>
          <p:nvPr/>
        </p:nvSpPr>
        <p:spPr>
          <a:xfrm>
            <a:off x="6309360" y="445312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41" name="Text 39"/>
          <p:cNvSpPr/>
          <p:nvPr/>
        </p:nvSpPr>
        <p:spPr>
          <a:xfrm>
            <a:off x="6547104" y="459943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Revisions · Compare</a:t>
            </a:r>
            <a:endParaRPr lang="en-US" sz="1350" dirty="0"/>
          </a:p>
        </p:txBody>
      </p:sp>
      <p:sp>
        <p:nvSpPr>
          <p:cNvPr id="42" name="Text 40"/>
          <p:cNvSpPr/>
          <p:nvPr/>
        </p:nvSpPr>
        <p:spPr>
          <a:xfrm>
            <a:off x="6547104" y="491032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CE is one row, at its newest revision — "+2 rev" opens the older ones, and counts and totals include the job once. Tick two CEs to compare them side by side.</a:t>
            </a:r>
            <a:endParaRPr lang="en-US" sz="1100" dirty="0"/>
          </a:p>
        </p:txBody>
      </p:sp>
      <p:sp>
        <p:nvSpPr>
          <p:cNvPr id="43" name="Text 41"/>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4" name="Text 42"/>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MONITORING · PART 2</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Finding work, and the files on it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list has grown filters, and the attachments on a CE now open. Who may delete has been tightened.</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Finding a CE</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Search matches CE number, customer and job title — filter by Discipline and by Customer beside it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Open work means work still in play: Approved, Submitted, No Quote and Cancelled count as closed, not open</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Days left stops counting the moment a CE is submitted, so work you have already sent no longer turns red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Co. is the issuing company from Project Info — it is not the costing engineer’s initials</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Attachments · who can delete</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on a row holds drawings, the TOR and client enquiries. They are stored on SharePoint, not in your browser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Anyone who can see the CE can open its files. Links that used to fail now open the document in SharePoint</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Only an admin or the owner can delete a CE, or one of its attachments. Your own unsaved draft is still yours to discard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If the panel cannot read the list it says so. It no longer reports "no attachments" when the real problem is a dropped sign-in</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D1117"/>
        </a:solidFill>
      </p:bgPr>
    </p:bg>
    <p:spTree>
      <p:nvGrpSpPr>
        <p:cNvPr id="1" name=""/>
        <p:cNvGrpSpPr/>
        <p:nvPr/>
      </p:nvGrpSpPr>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MONITORING · REQUESTS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Log it, assign it, attach it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A request goes on the list the day it arrives, so nothing is forgotten between receiving it and costing it.</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Logging a request</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Press + New Request. The next free CE number is suggested</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Customer and Assigned to are required; add type, discipline, job title, date received, deadline and remarks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attachments panel opens next — upload the TOR, drawings and client email</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It shows as a Pending row badged REQUEST, with you as Received By</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Assign on any row hands it to someone else. Pick from the list</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Working on it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 Assigned to me shows your CEs and requests — including ones someone else logged for you</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Load the request, build the estimate, and Save under the SAME number — it replaces the request and keeps its files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That is the only save over an existing number allowed without Revise, and only for that number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Assigned to me matches your name, so a nickname typed in the Estimator field will not be found</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ON SITE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Working without a connection</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app is built to keep working on a plant site with no signal. Nothing you type is lost.</a:t>
            </a:r>
            <a:endParaRPr lang="en-US" sz="1400" dirty="0"/>
          </a:p>
        </p:txBody>
      </p:sp>
      <p:sp>
        <p:nvSpPr>
          <p:cNvPr id="5" name="Shape 3"/>
          <p:cNvSpPr/>
          <p:nvPr/>
        </p:nvSpPr>
        <p:spPr>
          <a:xfrm>
            <a:off x="566928"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Shape 4"/>
          <p:cNvSpPr/>
          <p:nvPr/>
        </p:nvSpPr>
        <p:spPr>
          <a:xfrm>
            <a:off x="804672" y="2121408"/>
            <a:ext cx="420624" cy="420624"/>
          </a:xfrm>
          <a:prstGeom prst="ellipse">
            <a:avLst/>
          </a:prstGeom>
          <a:solidFill>
            <a:srgbClr val="3FB950"/>
          </a:solidFill>
          <a:ln w="12700">
            <a:solidFill>
              <a:srgbClr val="3FB950"/>
            </a:solidFill>
            <a:prstDash val="solid"/>
          </a:ln>
        </p:spPr>
        <p:txBody>
          <a:bodyPr/>
          <a:p/>
        </p:txBody>
      </p:sp>
      <p:sp>
        <p:nvSpPr>
          <p:cNvPr id="7" name="Text 5"/>
          <p:cNvSpPr/>
          <p:nvPr/>
        </p:nvSpPr>
        <p:spPr>
          <a:xfrm>
            <a:off x="804672"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8" name="Text 6"/>
          <p:cNvSpPr/>
          <p:nvPr/>
        </p:nvSpPr>
        <p:spPr>
          <a:xfrm>
            <a:off x="804672"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You keep working</a:t>
            </a:r>
            <a:endParaRPr lang="en-US" sz="1400" dirty="0"/>
          </a:p>
        </p:txBody>
      </p:sp>
      <p:sp>
        <p:nvSpPr>
          <p:cNvPr id="9" name="Text 7"/>
          <p:cNvSpPr/>
          <p:nvPr/>
        </p:nvSpPr>
        <p:spPr>
          <a:xfrm>
            <a:off x="804672"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Every tab still works. Rates, the Scope Library and your saved CEs are already stored in this browser.</a:t>
            </a:r>
            <a:endParaRPr lang="en-US" sz="1100" dirty="0"/>
          </a:p>
        </p:txBody>
      </p:sp>
      <p:sp>
        <p:nvSpPr>
          <p:cNvPr id="10" name="Shape 8"/>
          <p:cNvSpPr/>
          <p:nvPr/>
        </p:nvSpPr>
        <p:spPr>
          <a:xfrm>
            <a:off x="4352544"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1" name="Shape 9"/>
          <p:cNvSpPr/>
          <p:nvPr/>
        </p:nvSpPr>
        <p:spPr>
          <a:xfrm>
            <a:off x="4590288" y="2121408"/>
            <a:ext cx="420624" cy="420624"/>
          </a:xfrm>
          <a:prstGeom prst="ellipse">
            <a:avLst/>
          </a:prstGeom>
          <a:solidFill>
            <a:srgbClr val="F0A429"/>
          </a:solidFill>
          <a:ln w="12700">
            <a:solidFill>
              <a:srgbClr val="F0A429"/>
            </a:solidFill>
            <a:prstDash val="solid"/>
          </a:ln>
        </p:spPr>
        <p:txBody>
          <a:bodyPr/>
          <a:p/>
        </p:txBody>
      </p:sp>
      <p:sp>
        <p:nvSpPr>
          <p:cNvPr id="12" name="Text 10"/>
          <p:cNvSpPr/>
          <p:nvPr/>
        </p:nvSpPr>
        <p:spPr>
          <a:xfrm>
            <a:off x="4590288"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3" name="Text 11"/>
          <p:cNvSpPr/>
          <p:nvPr/>
        </p:nvSpPr>
        <p:spPr>
          <a:xfrm>
            <a:off x="4590288"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Saved locally</a:t>
            </a:r>
            <a:endParaRPr lang="en-US" sz="1400" dirty="0"/>
          </a:p>
        </p:txBody>
      </p:sp>
      <p:sp>
        <p:nvSpPr>
          <p:cNvPr id="14" name="Text 12"/>
          <p:cNvSpPr/>
          <p:nvPr/>
        </p:nvSpPr>
        <p:spPr>
          <a:xfrm>
            <a:off x="4590288"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CE saved offline is marked "local only". It is safe — it simply has not reached SharePoint yet.</a:t>
            </a:r>
            <a:endParaRPr lang="en-US" sz="1100" dirty="0"/>
          </a:p>
        </p:txBody>
      </p:sp>
      <p:sp>
        <p:nvSpPr>
          <p:cNvPr id="15" name="Shape 13"/>
          <p:cNvSpPr/>
          <p:nvPr/>
        </p:nvSpPr>
        <p:spPr>
          <a:xfrm>
            <a:off x="8138160"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6" name="Shape 14"/>
          <p:cNvSpPr/>
          <p:nvPr/>
        </p:nvSpPr>
        <p:spPr>
          <a:xfrm>
            <a:off x="8375904" y="2121408"/>
            <a:ext cx="420624" cy="420624"/>
          </a:xfrm>
          <a:prstGeom prst="ellipse">
            <a:avLst/>
          </a:prstGeom>
          <a:solidFill>
            <a:srgbClr val="58A6FF"/>
          </a:solidFill>
          <a:ln w="12700">
            <a:solidFill>
              <a:srgbClr val="58A6FF"/>
            </a:solidFill>
            <a:prstDash val="solid"/>
          </a:ln>
        </p:spPr>
        <p:txBody>
          <a:bodyPr/>
          <a:p/>
        </p:txBody>
      </p:sp>
      <p:sp>
        <p:nvSpPr>
          <p:cNvPr id="17" name="Text 15"/>
          <p:cNvSpPr/>
          <p:nvPr/>
        </p:nvSpPr>
        <p:spPr>
          <a:xfrm>
            <a:off x="8375904"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8" name="Text 16"/>
          <p:cNvSpPr/>
          <p:nvPr/>
        </p:nvSpPr>
        <p:spPr>
          <a:xfrm>
            <a:off x="8375904"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Uploads on reconnect</a:t>
            </a:r>
            <a:endParaRPr lang="en-US" sz="1400" dirty="0"/>
          </a:p>
        </p:txBody>
      </p:sp>
      <p:sp>
        <p:nvSpPr>
          <p:cNvPr id="19" name="Text 17"/>
          <p:cNvSpPr/>
          <p:nvPr/>
        </p:nvSpPr>
        <p:spPr>
          <a:xfrm>
            <a:off x="8375904"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When the connection returns, the app uploads what is waiting and the mark clears.</a:t>
            </a:r>
            <a:endParaRPr lang="en-US" sz="1100" dirty="0"/>
          </a:p>
        </p:txBody>
      </p:sp>
      <p:sp>
        <p:nvSpPr>
          <p:cNvPr id="20" name="Shape 18"/>
          <p:cNvSpPr/>
          <p:nvPr/>
        </p:nvSpPr>
        <p:spPr>
          <a:xfrm>
            <a:off x="566928" y="4151376"/>
            <a:ext cx="11055096" cy="1417320"/>
          </a:xfrm>
          <a:prstGeom prst="roundRect">
            <a:avLst>
              <a:gd name="adj" fmla="val 5161"/>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txBody>
          <a:bodyPr/>
          <a:p/>
        </p:txBody>
      </p:sp>
      <p:sp>
        <p:nvSpPr>
          <p:cNvPr id="21" name="Text 19"/>
          <p:cNvSpPr/>
          <p:nvPr/>
        </p:nvSpPr>
        <p:spPr>
          <a:xfrm>
            <a:off x="841248" y="4315968"/>
            <a:ext cx="6400800" cy="292608"/>
          </a:xfrm>
          <a:prstGeom prst="rect">
            <a:avLst/>
          </a:prstGeom>
          <a:noFill/>
          <a:ln/>
        </p:spPr>
        <p:txBody>
          <a:bodyPr wrap="square" lIns="0" tIns="0" rIns="0" bIns="0" rtlCol="0" anchor="ctr"/>
          <a:lstStyle/>
          <a:p>
            <a:pPr indent="0" marL="0">
              <a:buNone/>
            </a:pPr>
            <a:r>
              <a:rPr lang="en-US" sz="1400" b="1" dirty="0">
                <a:solidFill>
                  <a:srgbClr val="F85149"/>
                </a:solidFill>
                <a:latin typeface="Arial" pitchFamily="34" charset="0"/>
                <a:ea typeface="Arial" pitchFamily="34" charset="-122"/>
                <a:cs typeface="Arial" pitchFamily="34" charset="-120"/>
              </a:rPr>
              <a:t>Two things genuinely need a connection</a:t>
            </a:r>
            <a:endParaRPr lang="en-US" sz="1400" dirty="0"/>
          </a:p>
        </p:txBody>
      </p:sp>
      <p:sp>
        <p:nvSpPr>
          <p:cNvPr id="22" name="Text 20"/>
          <p:cNvSpPr/>
          <p:nvPr/>
        </p:nvSpPr>
        <p:spPr>
          <a:xfrm>
            <a:off x="841248" y="4663440"/>
            <a:ext cx="10515600" cy="731520"/>
          </a:xfrm>
          <a:prstGeom prst="rect">
            <a:avLst/>
          </a:prstGeom>
          <a:noFill/>
          <a:ln/>
        </p:spPr>
        <p:txBody>
          <a:bodyPr wrap="square" lIns="0" tIns="0" rIns="0" bIns="0" rtlCol="0" anchor="ctr"/>
          <a:lstStyle/>
          <a:p>
            <a:pPr indent="0" marL="0">
              <a:lnSpc>
                <a:spcPts val="1600"/>
              </a:lnSpc>
              <a:buNone/>
            </a:pPr>
            <a:r>
              <a:rPr lang="en-US" sz="1200" dirty="0">
                <a:solidFill>
                  <a:srgbClr val="E6EDF3"/>
                </a:solidFill>
                <a:latin typeface="Calibri" pitchFamily="34" charset="0"/>
                <a:ea typeface="Calibri" pitchFamily="34" charset="-122"/>
                <a:cs typeface="Calibri" pitchFamily="34" charset="-120"/>
              </a:rPr>
              <a:t>Requesting an account and changing your password. Both are handled centrally, so they cannot be queued for later. Everything else — building, saving and printing a CE — works offline.</a:t>
            </a:r>
            <a:endParaRPr lang="en-US" sz="1200" dirty="0"/>
          </a:p>
        </p:txBody>
      </p:sp>
      <p:sp>
        <p:nvSpPr>
          <p:cNvPr id="23" name="Text 21"/>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4" name="Text 22"/>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26</a:t>
            </a:r>
            <a:endParaRPr lang="en-US" sz="900" dirty="0"/>
          </a:p>
        </p:txBody>
      </p:sp>
      <p:sp>
        <p:nvSpPr>
          <p:cNvPr id="21" name="Text 19"/>
          <p:cNvSpPr/>
          <p:nvPr/>
        </p:nvSpPr>
        <p:spPr>
          <a:xfrm>
            <a:off x="841248" y="5669280"/>
            <a:ext cx="6400800" cy="292608"/>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Reading the sync bar</a:t>
            </a:r>
            <a:endParaRPr lang="en-US" sz="1400" dirty="0"/>
          </a:p>
        </p:txBody>
      </p:sp>
      <p:sp>
        <p:nvSpPr>
          <p:cNvPr id="22" name="Text 20"/>
          <p:cNvSpPr/>
          <p:nvPr/>
        </p:nvSpPr>
        <p:spPr>
          <a:xfrm>
            <a:off x="841248" y="5943600"/>
            <a:ext cx="10515600" cy="457200"/>
          </a:xfrm>
          <a:prstGeom prst="rect">
            <a:avLst/>
          </a:prstGeom>
          <a:noFill/>
          <a:ln/>
        </p:spPr>
        <p:txBody>
          <a:bodyPr wrap="square" lIns="0" tIns="0" rIns="0" bIns="0" rtlCol="0" anchor="ctr"/>
          <a:lstStyle/>
          <a:p>
            <a:pPr indent="0" marL="0">
              <a:lnSpc>
                <a:spcPts val="1600"/>
              </a:lnSpc>
              <a:buNone/>
            </a:pPr>
            <a:r>
              <a:rPr lang="en-US" sz="1100" dirty="0">
                <a:solidFill>
                  <a:srgbClr val="E6EDF3"/>
                </a:solidFill>
                <a:latin typeface="Calibri" pitchFamily="34" charset="0"/>
                <a:ea typeface="Calibri" pitchFamily="34" charset="-122"/>
                <a:cs typeface="Calibri" pitchFamily="34" charset="-120"/>
              </a:rPr>
              <a:t>✓ green is in step with SharePoint. ↻ syncing… is fetching now. ⚠ this device only means SharePoint did not answer and you are seeing this browser’s copy — press ⟳. ✗ sync failed needs a retry or your admin.</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9">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TROUBLESHOOTING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Messages you may see</a:t>
            </a:r>
            <a:endParaRPr lang="en-US" sz="3200" dirty="0"/>
          </a:p>
        </p:txBody>
      </p:sp>
      <p:sp>
        <p:nvSpPr>
          <p:cNvPr id="4" name="Shape 2"/>
          <p:cNvSpPr/>
          <p:nvPr/>
        </p:nvSpPr>
        <p:spPr>
          <a:xfrm>
            <a:off x="566928" y="1408176"/>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Shape 3"/>
          <p:cNvSpPr/>
          <p:nvPr/>
        </p:nvSpPr>
        <p:spPr>
          <a:xfrm>
            <a:off x="822960" y="1700784"/>
            <a:ext cx="310896" cy="310896"/>
          </a:xfrm>
          <a:prstGeom prst="ellipse">
            <a:avLst/>
          </a:prstGeom>
          <a:solidFill>
            <a:srgbClr val="F0A429"/>
          </a:solidFill>
          <a:ln w="12700">
            <a:solidFill>
              <a:srgbClr val="F0A429"/>
            </a:solidFill>
            <a:prstDash val="solid"/>
          </a:ln>
        </p:spPr>
        <p:txBody>
          <a:bodyPr/>
          <a:p/>
        </p:txBody>
      </p:sp>
      <p:sp>
        <p:nvSpPr>
          <p:cNvPr id="6" name="Text 4"/>
          <p:cNvSpPr/>
          <p:nvPr/>
        </p:nvSpPr>
        <p:spPr>
          <a:xfrm>
            <a:off x="1280160" y="1517904"/>
            <a:ext cx="3840480" cy="310896"/>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SharePoint session expired</a:t>
            </a:r>
            <a:endParaRPr lang="en-US" sz="1350" dirty="0"/>
          </a:p>
        </p:txBody>
      </p:sp>
      <p:sp>
        <p:nvSpPr>
          <p:cNvPr id="7" name="Text 5"/>
          <p:cNvSpPr/>
          <p:nvPr/>
        </p:nvSpPr>
        <p:spPr>
          <a:xfrm>
            <a:off x="1280160" y="1847088"/>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Your sign-in timed out. Work is kept on this device.</a:t>
            </a:r>
            <a:endParaRPr lang="en-US" sz="1100" dirty="0"/>
          </a:p>
        </p:txBody>
      </p:sp>
      <p:sp>
        <p:nvSpPr>
          <p:cNvPr id="8" name="Text 6"/>
          <p:cNvSpPr/>
          <p:nvPr/>
        </p:nvSpPr>
        <p:spPr>
          <a:xfrm>
            <a:off x="6236208" y="1517904"/>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Press ⚠ Sign in to Microsoft in the top bar, beside Set AI Key.</a:t>
            </a:r>
            <a:endParaRPr lang="en-US" sz="1150" dirty="0"/>
          </a:p>
        </p:txBody>
      </p:sp>
      <p:sp>
        <p:nvSpPr>
          <p:cNvPr id="9" name="Shape 7"/>
          <p:cNvSpPr/>
          <p:nvPr/>
        </p:nvSpPr>
        <p:spPr>
          <a:xfrm>
            <a:off x="566928" y="2450592"/>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0" name="Shape 8"/>
          <p:cNvSpPr/>
          <p:nvPr/>
        </p:nvSpPr>
        <p:spPr>
          <a:xfrm>
            <a:off x="822960" y="2743200"/>
            <a:ext cx="310896" cy="310896"/>
          </a:xfrm>
          <a:prstGeom prst="ellipse">
            <a:avLst/>
          </a:prstGeom>
          <a:solidFill>
            <a:srgbClr val="F85149"/>
          </a:solidFill>
          <a:ln w="12700">
            <a:solidFill>
              <a:srgbClr val="F85149"/>
            </a:solidFill>
            <a:prstDash val="solid"/>
          </a:ln>
        </p:spPr>
        <p:txBody>
          <a:bodyPr/>
          <a:p/>
        </p:txBody>
      </p:sp>
      <p:sp>
        <p:nvSpPr>
          <p:cNvPr id="11" name="Text 9"/>
          <p:cNvSpPr/>
          <p:nvPr/>
        </p:nvSpPr>
        <p:spPr>
          <a:xfrm>
            <a:off x="1280160" y="2560320"/>
            <a:ext cx="3840480" cy="310896"/>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SharePoint denied access</a:t>
            </a:r>
            <a:endParaRPr lang="en-US" sz="1350" dirty="0"/>
          </a:p>
        </p:txBody>
      </p:sp>
      <p:sp>
        <p:nvSpPr>
          <p:cNvPr id="12" name="Text 10"/>
          <p:cNvSpPr/>
          <p:nvPr/>
        </p:nvSpPr>
        <p:spPr>
          <a:xfrm>
            <a:off x="1280160" y="2889504"/>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Your account cannot use one of the lists, so changes are not reaching the team.</a:t>
            </a:r>
            <a:endParaRPr lang="en-US" sz="1100" dirty="0"/>
          </a:p>
        </p:txBody>
      </p:sp>
      <p:sp>
        <p:nvSpPr>
          <p:cNvPr id="13" name="Text 11"/>
          <p:cNvSpPr/>
          <p:nvPr/>
        </p:nvSpPr>
        <p:spPr>
          <a:xfrm>
            <a:off x="6236208" y="2560320"/>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Signing in again will NOT help. Send the message to your admin — they must grant access.</a:t>
            </a:r>
            <a:endParaRPr lang="en-US" sz="1150" dirty="0"/>
          </a:p>
        </p:txBody>
      </p:sp>
      <p:sp>
        <p:nvSpPr>
          <p:cNvPr id="14" name="Shape 12"/>
          <p:cNvSpPr/>
          <p:nvPr/>
        </p:nvSpPr>
        <p:spPr>
          <a:xfrm>
            <a:off x="566928" y="3493008"/>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5" name="Shape 13"/>
          <p:cNvSpPr/>
          <p:nvPr/>
        </p:nvSpPr>
        <p:spPr>
          <a:xfrm>
            <a:off x="822960" y="3785616"/>
            <a:ext cx="310896" cy="310896"/>
          </a:xfrm>
          <a:prstGeom prst="ellipse">
            <a:avLst/>
          </a:prstGeom>
          <a:solidFill>
            <a:srgbClr val="F85149"/>
          </a:solidFill>
          <a:ln w="12700">
            <a:solidFill>
              <a:srgbClr val="F85149"/>
            </a:solidFill>
            <a:prstDash val="solid"/>
          </a:ln>
        </p:spPr>
        <p:txBody>
          <a:bodyPr/>
          <a:p/>
        </p:txBody>
      </p:sp>
      <p:sp>
        <p:nvSpPr>
          <p:cNvPr id="16" name="Text 14"/>
          <p:cNvSpPr/>
          <p:nvPr/>
        </p:nvSpPr>
        <p:spPr>
          <a:xfrm>
            <a:off x="1280160" y="3602736"/>
            <a:ext cx="3840480" cy="310896"/>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 Bulk upload mode</a:t>
            </a:r>
            <a:endParaRPr lang="en-US" sz="1350" dirty="0"/>
          </a:p>
        </p:txBody>
      </p:sp>
      <p:sp>
        <p:nvSpPr>
          <p:cNvPr id="17" name="Text 15"/>
          <p:cNvSpPr/>
          <p:nvPr/>
        </p:nvSpPr>
        <p:spPr>
          <a:xfrm>
            <a:off x="1280160" y="3931920"/>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An admin switched off duplicate-number protection to load old CEs.</a:t>
            </a:r>
            <a:endParaRPr lang="en-US" sz="1100" dirty="0"/>
          </a:p>
        </p:txBody>
      </p:sp>
      <p:sp>
        <p:nvSpPr>
          <p:cNvPr id="18" name="Text 16"/>
          <p:cNvSpPr/>
          <p:nvPr/>
        </p:nvSpPr>
        <p:spPr>
          <a:xfrm>
            <a:off x="6236208" y="3602736"/>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While it shows, saving an existing CE Number overwrites that CE. Take care.</a:t>
            </a:r>
            <a:endParaRPr lang="en-US" sz="1150" dirty="0"/>
          </a:p>
        </p:txBody>
      </p:sp>
      <p:sp>
        <p:nvSpPr>
          <p:cNvPr id="19" name="Shape 17"/>
          <p:cNvSpPr/>
          <p:nvPr/>
        </p:nvSpPr>
        <p:spPr>
          <a:xfrm>
            <a:off x="566928" y="4535424"/>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0" name="Shape 18"/>
          <p:cNvSpPr/>
          <p:nvPr/>
        </p:nvSpPr>
        <p:spPr>
          <a:xfrm>
            <a:off x="822960" y="4828032"/>
            <a:ext cx="310896" cy="310896"/>
          </a:xfrm>
          <a:prstGeom prst="ellipse">
            <a:avLst/>
          </a:prstGeom>
          <a:solidFill>
            <a:srgbClr val="58A6FF"/>
          </a:solidFill>
          <a:ln w="12700">
            <a:solidFill>
              <a:srgbClr val="58A6FF"/>
            </a:solidFill>
            <a:prstDash val="solid"/>
          </a:ln>
        </p:spPr>
        <p:txBody>
          <a:bodyPr/>
          <a:p/>
        </p:txBody>
      </p:sp>
      <p:sp>
        <p:nvSpPr>
          <p:cNvPr id="21" name="Text 19"/>
          <p:cNvSpPr/>
          <p:nvPr/>
        </p:nvSpPr>
        <p:spPr>
          <a:xfrm>
            <a:off x="1280160" y="4645152"/>
            <a:ext cx="3840480" cy="310896"/>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 Saved to THIS BROWSER only</a:t>
            </a:r>
            <a:endParaRPr lang="en-US" sz="1350" dirty="0"/>
          </a:p>
        </p:txBody>
      </p:sp>
      <p:sp>
        <p:nvSpPr>
          <p:cNvPr id="22" name="Text 20"/>
          <p:cNvSpPr/>
          <p:nvPr/>
        </p:nvSpPr>
        <p:spPr>
          <a:xfrm>
            <a:off x="1280160" y="4974336"/>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CE is safe here but has not reached SharePoint, so nobody else can open it.</a:t>
            </a:r>
            <a:endParaRPr lang="en-US" sz="1100" dirty="0"/>
          </a:p>
        </p:txBody>
      </p:sp>
      <p:sp>
        <p:nvSpPr>
          <p:cNvPr id="23" name="Text 21"/>
          <p:cNvSpPr/>
          <p:nvPr/>
        </p:nvSpPr>
        <p:spPr>
          <a:xfrm>
            <a:off x="6236208" y="4645152"/>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Run Push All Local Data to SharePoint from the Users tab.</a:t>
            </a:r>
            <a:endParaRPr lang="en-US" sz="1150" dirty="0"/>
          </a:p>
        </p:txBody>
      </p:sp>
      <p:sp>
        <p:nvSpPr>
          <p:cNvPr id="24" name="Shape 22"/>
          <p:cNvSpPr/>
          <p:nvPr/>
        </p:nvSpPr>
        <p:spPr>
          <a:xfrm>
            <a:off x="566928" y="5632704"/>
            <a:ext cx="11055096"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25" name="Text 23"/>
          <p:cNvSpPr/>
          <p:nvPr/>
        </p:nvSpPr>
        <p:spPr>
          <a:xfrm>
            <a:off x="1280160" y="5742432"/>
            <a:ext cx="384048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Toasts</a:t>
            </a:r>
            <a:endParaRPr lang="en-US" sz="1350" dirty="0"/>
          </a:p>
        </p:txBody>
      </p:sp>
      <p:sp>
        <p:nvSpPr>
          <p:cNvPr id="26" name="Shape 24"/>
          <p:cNvSpPr/>
          <p:nvPr/>
        </p:nvSpPr>
        <p:spPr>
          <a:xfrm>
            <a:off x="822960" y="5925312"/>
            <a:ext cx="310896" cy="310896"/>
          </a:xfrm>
          <a:prstGeom prst="ellipse">
            <a:avLst/>
          </a:prstGeom>
          <a:solidFill>
            <a:srgbClr val="9AA4AF"/>
          </a:solidFill>
          <a:ln w="12700">
            <a:solidFill>
              <a:srgbClr val="9AA4AF"/>
            </a:solidFill>
            <a:prstDash val="solid"/>
          </a:ln>
        </p:spPr>
        <p:txBody>
          <a:bodyPr/>
          <a:p/>
        </p:txBody>
      </p:sp>
      <p:sp>
        <p:nvSpPr>
          <p:cNvPr id="27" name="Text 25"/>
          <p:cNvSpPr/>
          <p:nvPr/>
        </p:nvSpPr>
        <p:spPr>
          <a:xfrm>
            <a:off x="1280160" y="6053328"/>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Brief pop-ups at the bottom of the screen.</a:t>
            </a:r>
            <a:endParaRPr lang="en-US" sz="1100" dirty="0"/>
          </a:p>
        </p:txBody>
      </p:sp>
      <p:sp>
        <p:nvSpPr>
          <p:cNvPr id="28" name="Text 26"/>
          <p:cNvSpPr/>
          <p:nvPr/>
        </p:nvSpPr>
        <p:spPr>
          <a:xfrm>
            <a:off x="6236208" y="5742432"/>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They confirm a save or explain a refusal, then fade. "SharePoint is throttling this site" means too many requests at once — it clears itself; wait a minute and retry rather than pressing again.</a:t>
            </a:r>
            <a:endParaRPr lang="en-US" sz="1150" dirty="0"/>
          </a:p>
        </p:txBody>
      </p:sp>
      <p:sp>
        <p:nvSpPr>
          <p:cNvPr id="29" name="Text 2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0" name="Text 2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SCOPE LIBRARY · MASTERLIST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Keeping the shared lists right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These two lists are shared by everyone. A change here changes what every estimator sees next time.</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Scope Library</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One card per standard service. Click Edit to open it where it sits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new service is added at the top, already open, with the next SY3 number</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Resources belong to a scope step, so applying the service files them against the right task</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Leave a manpower row's Days blank if that role is on site for the whole project; enter a number if it is only needed for its step</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Both lists: what a colleague added since you opened the page is kept when you save, and a message names it</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Masterlist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t"/>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single source of rates for manpower, tools, materials and PPE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Tools also carry unit price, service life, projects per year, maintenance and a power rating in kW — press 💲 on a row to work all three tier prices out from them</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Download the template to bulk-upload rates. The tools sheet takes the four tier figures and Power (kW), and reads the maintained workbook's own headings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Changing a rate NEVER alters a CE already saved. Use ↺ Sync Rates on the CE you are requoting</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Every rate row shows what you charged for it before — click a past figure to adopt it</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1">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KEEP THIS SLIDE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Quick reference</a:t>
            </a:r>
            <a:endParaRPr lang="en-US" sz="3200" dirty="0"/>
          </a:p>
        </p:txBody>
      </p:sp>
      <p:sp>
        <p:nvSpPr>
          <p:cNvPr id="4" name="Shape 2"/>
          <p:cNvSpPr/>
          <p:nvPr/>
        </p:nvSpPr>
        <p:spPr>
          <a:xfrm>
            <a:off x="566928" y="1408176"/>
            <a:ext cx="5532120" cy="2531680"/>
          </a:xfrm>
          <a:prstGeom prst="roundRect">
            <a:avLst>
              <a:gd name="adj" fmla="val 363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5" name="Text 3"/>
          <p:cNvSpPr/>
          <p:nvPr/>
        </p:nvSpPr>
        <p:spPr>
          <a:xfrm>
            <a:off x="841248" y="1572768"/>
            <a:ext cx="49377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Rules worth remembering</a:t>
            </a:r>
            <a:endParaRPr lang="en-US" sz="1450" dirty="0"/>
          </a:p>
        </p:txBody>
      </p:sp>
      <p:sp>
        <p:nvSpPr>
          <p:cNvPr id="6" name="Text 4"/>
          <p:cNvSpPr/>
          <p:nvPr/>
        </p:nvSpPr>
        <p:spPr>
          <a:xfrm>
            <a:off x="841248" y="1975104"/>
            <a:ext cx="4983480" cy="1891600"/>
          </a:xfrm>
          <a:prstGeom prst="rect">
            <a:avLst/>
          </a:prstGeom>
          <a:noFill/>
          <a:ln/>
        </p:spPr>
        <p:txBody>
          <a:bodyPr wrap="square" lIns="0" tIns="0" rIns="0" bIns="0" rtlCol="0" anchor="t"/>
          <a:lstStyle/>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OT hours are per day, not per job</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Quantity divides the total into a unit price</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No. of days sets every new manpower row</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CE numbers: one sequence for SHIC and SY3</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Tools are Tier 2 (per day) unless you say otherwise</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ShopWorks: power is charged, Incentive is not</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Only an admin or the owner can delete a CE or its attachments</a:t>
            </a:r>
            <a:endParaRPr lang="en-US" sz="1150" dirty="0"/>
          </a:p>
        </p:txBody>
      </p:sp>
      <p:sp>
        <p:nvSpPr>
          <p:cNvPr id="7" name="Shape 5"/>
          <p:cNvSpPr/>
          <p:nvPr/>
        </p:nvSpPr>
        <p:spPr>
          <a:xfrm>
            <a:off x="6400800" y="1408176"/>
            <a:ext cx="5221224" cy="2531680"/>
          </a:xfrm>
          <a:prstGeom prst="roundRect">
            <a:avLst>
              <a:gd name="adj" fmla="val 363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8" name="Text 6"/>
          <p:cNvSpPr/>
          <p:nvPr/>
        </p:nvSpPr>
        <p:spPr>
          <a:xfrm>
            <a:off x="6675120" y="1572768"/>
            <a:ext cx="4663440" cy="292608"/>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Shortcuts</a:t>
            </a:r>
            <a:endParaRPr lang="en-US" sz="1450" dirty="0"/>
          </a:p>
        </p:txBody>
      </p:sp>
      <p:sp>
        <p:nvSpPr>
          <p:cNvPr id="9" name="Shape 7"/>
          <p:cNvSpPr/>
          <p:nvPr/>
        </p:nvSpPr>
        <p:spPr>
          <a:xfrm>
            <a:off x="6675120" y="2029968"/>
            <a:ext cx="1234440" cy="310896"/>
          </a:xfrm>
          <a:prstGeom prst="roundRect">
            <a:avLst>
              <a:gd name="adj" fmla="val 14706"/>
            </a:avLst>
          </a:prstGeom>
          <a:solidFill>
            <a:srgbClr val="1C2128"/>
          </a:solidFill>
          <a:ln w="12700">
            <a:solidFill>
              <a:srgbClr val="30363D"/>
            </a:solidFill>
            <a:prstDash val="solid"/>
          </a:ln>
        </p:spPr>
        <p:txBody>
          <a:bodyPr/>
          <a:p/>
        </p:txBody>
      </p:sp>
      <p:sp>
        <p:nvSpPr>
          <p:cNvPr id="10" name="Text 8"/>
          <p:cNvSpPr/>
          <p:nvPr/>
        </p:nvSpPr>
        <p:spPr>
          <a:xfrm>
            <a:off x="6675120" y="2029968"/>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Ctrl + S</a:t>
            </a:r>
            <a:endParaRPr lang="en-US" sz="1000" dirty="0"/>
          </a:p>
        </p:txBody>
      </p:sp>
      <p:sp>
        <p:nvSpPr>
          <p:cNvPr id="11" name="Text 9"/>
          <p:cNvSpPr/>
          <p:nvPr/>
        </p:nvSpPr>
        <p:spPr>
          <a:xfrm>
            <a:off x="8046720" y="2029968"/>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Save the CE</a:t>
            </a:r>
            <a:endParaRPr lang="en-US" sz="1150" dirty="0"/>
          </a:p>
        </p:txBody>
      </p:sp>
      <p:sp>
        <p:nvSpPr>
          <p:cNvPr id="12" name="Shape 10"/>
          <p:cNvSpPr/>
          <p:nvPr/>
        </p:nvSpPr>
        <p:spPr>
          <a:xfrm>
            <a:off x="6675120" y="2450592"/>
            <a:ext cx="1234440" cy="310896"/>
          </a:xfrm>
          <a:prstGeom prst="roundRect">
            <a:avLst>
              <a:gd name="adj" fmla="val 14706"/>
            </a:avLst>
          </a:prstGeom>
          <a:solidFill>
            <a:srgbClr val="1C2128"/>
          </a:solidFill>
          <a:ln w="12700">
            <a:solidFill>
              <a:srgbClr val="30363D"/>
            </a:solidFill>
            <a:prstDash val="solid"/>
          </a:ln>
        </p:spPr>
        <p:txBody>
          <a:bodyPr/>
          <a:p/>
        </p:txBody>
      </p:sp>
      <p:sp>
        <p:nvSpPr>
          <p:cNvPr id="13" name="Text 11"/>
          <p:cNvSpPr/>
          <p:nvPr/>
        </p:nvSpPr>
        <p:spPr>
          <a:xfrm>
            <a:off x="6675120" y="2450592"/>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Ctrl + N</a:t>
            </a:r>
            <a:endParaRPr lang="en-US" sz="1000" dirty="0"/>
          </a:p>
        </p:txBody>
      </p:sp>
      <p:sp>
        <p:nvSpPr>
          <p:cNvPr id="14" name="Text 12"/>
          <p:cNvSpPr/>
          <p:nvPr/>
        </p:nvSpPr>
        <p:spPr>
          <a:xfrm>
            <a:off x="8046720" y="2450592"/>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Start a new CE</a:t>
            </a:r>
            <a:endParaRPr lang="en-US" sz="1150" dirty="0"/>
          </a:p>
        </p:txBody>
      </p:sp>
      <p:sp>
        <p:nvSpPr>
          <p:cNvPr id="15" name="Shape 13"/>
          <p:cNvSpPr/>
          <p:nvPr/>
        </p:nvSpPr>
        <p:spPr>
          <a:xfrm>
            <a:off x="6675120" y="2871216"/>
            <a:ext cx="1234440" cy="310896"/>
          </a:xfrm>
          <a:prstGeom prst="roundRect">
            <a:avLst>
              <a:gd name="adj" fmla="val 14706"/>
            </a:avLst>
          </a:prstGeom>
          <a:solidFill>
            <a:srgbClr val="1C2128"/>
          </a:solidFill>
          <a:ln w="12700">
            <a:solidFill>
              <a:srgbClr val="30363D"/>
            </a:solidFill>
            <a:prstDash val="solid"/>
          </a:ln>
        </p:spPr>
        <p:txBody>
          <a:bodyPr/>
          <a:p/>
        </p:txBody>
      </p:sp>
      <p:sp>
        <p:nvSpPr>
          <p:cNvPr id="16" name="Text 14"/>
          <p:cNvSpPr/>
          <p:nvPr/>
        </p:nvSpPr>
        <p:spPr>
          <a:xfrm>
            <a:off x="6675120" y="2871216"/>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Search box</a:t>
            </a:r>
            <a:endParaRPr lang="en-US" sz="1000" dirty="0"/>
          </a:p>
        </p:txBody>
      </p:sp>
      <p:sp>
        <p:nvSpPr>
          <p:cNvPr id="17" name="Text 15"/>
          <p:cNvSpPr/>
          <p:nvPr/>
        </p:nvSpPr>
        <p:spPr>
          <a:xfrm>
            <a:off x="8046720" y="2871216"/>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Filter the Masterlist or Scope Library</a:t>
            </a:r>
            <a:endParaRPr lang="en-US" sz="1150" dirty="0"/>
          </a:p>
        </p:txBody>
      </p:sp>
      <p:sp>
        <p:nvSpPr>
          <p:cNvPr id="18" name="Shape 16"/>
          <p:cNvSpPr/>
          <p:nvPr/>
        </p:nvSpPr>
        <p:spPr>
          <a:xfrm>
            <a:off x="566928" y="4141024"/>
            <a:ext cx="11055096" cy="1234440"/>
          </a:xfrm>
          <a:prstGeom prst="roundRect">
            <a:avLst>
              <a:gd name="adj" fmla="val 592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txBody>
          <a:bodyPr/>
          <a:p/>
        </p:txBody>
      </p:sp>
      <p:sp>
        <p:nvSpPr>
          <p:cNvPr id="19" name="Text 17"/>
          <p:cNvSpPr/>
          <p:nvPr/>
        </p:nvSpPr>
        <p:spPr>
          <a:xfrm>
            <a:off x="841248" y="4305616"/>
            <a:ext cx="548640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If something looks wrong</a:t>
            </a:r>
            <a:endParaRPr lang="en-US" sz="1400" dirty="0"/>
          </a:p>
        </p:txBody>
      </p:sp>
      <p:sp>
        <p:nvSpPr>
          <p:cNvPr id="20" name="Text 18"/>
          <p:cNvSpPr/>
          <p:nvPr/>
        </p:nvSpPr>
        <p:spPr>
          <a:xfrm>
            <a:off x="841248" y="4616512"/>
            <a:ext cx="1051560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Check the Summary tab first — Check CE names most problems and takes you straight to them. If a total looks impossible, look at Quantity on Project Info, the Days on your manpower rows, and the Tier on your tools. If your work is not reaching the team, look for ⚠ Sign in to Microsoft in the top bar before anything else.</a:t>
            </a:r>
            <a:endParaRPr lang="en-US" sz="1150" dirty="0"/>
          </a:p>
        </p:txBody>
      </p:sp>
      <p:sp>
        <p:nvSpPr>
          <p:cNvPr id="21" name="Text 19"/>
          <p:cNvSpPr/>
          <p:nvPr/>
        </p:nvSpPr>
        <p:spPr>
          <a:xfrm>
            <a:off x="566928" y="5585776"/>
            <a:ext cx="11055096" cy="365760"/>
          </a:xfrm>
          <a:prstGeom prst="rect">
            <a:avLst/>
          </a:prstGeom>
          <a:noFill/>
          <a:ln/>
        </p:spPr>
        <p:txBody>
          <a:bodyPr wrap="square" lIns="0" tIns="0" rIns="0" bIns="0" rtlCol="0" anchor="ctr"/>
          <a:lstStyle/>
          <a:p>
            <a:pPr algn="ctr" indent="0" marL="0">
              <a:buNone/>
            </a:pPr>
            <a:r>
              <a:rPr lang="en-US" sz="1250" dirty="0">
                <a:solidFill>
                  <a:srgbClr val="F0A429"/>
                </a:solidFill>
                <a:latin typeface="Calibri" pitchFamily="34" charset="0"/>
                <a:ea typeface="Calibri" pitchFamily="34" charset="-122"/>
                <a:cs typeface="Calibri" pitchFamily="34" charset="-120"/>
              </a:rPr>
              <a:t>Questions, or something this manual does not cover — ask the Technical Support Group.</a:t>
            </a:r>
            <a:endParaRPr lang="en-US" sz="1250" dirty="0"/>
          </a:p>
        </p:txBody>
      </p:sp>
      <p:sp>
        <p:nvSpPr>
          <p:cNvPr id="22" name="Text 20"/>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3" name="Text 21"/>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SHIC Cost Estimator — End-User Manual</dc:title>
  <dc:subject>PptxGenJS Presentation</dc:subject>
  <dc:creator>SY3 / SHIC — TSG</dc:creator>
  <cp:lastModifiedBy>SY3 / SHIC — TSG</cp:lastModifiedBy>
  <cp:revision>1</cp:revision>
  <dcterms:created xsi:type="dcterms:W3CDTF">2026-08-13T00:01:51Z</dcterms:created>
  <dcterms:modified xsi:type="dcterms:W3CDTF">2026-08-13T00:01:51Z</dcterms:modified>
</cp:coreProperties>
</file>