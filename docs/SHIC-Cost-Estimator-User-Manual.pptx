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80" r:id="rId31"/>
    <p:sldId id="265" r:id="rId11"/>
    <p:sldId id="283" r:id="rId34"/>
    <p:sldId id="284" r:id="rId35"/>
    <p:sldId id="266" r:id="rId12"/>
    <p:sldId id="277" r:id="rId28"/>
    <p:sldId id="278" r:id="rId29"/>
    <p:sldId id="267" r:id="rId13"/>
    <p:sldId id="268" r:id="rId14"/>
    <p:sldId id="281" r:id="rId32"/>
    <p:sldId id="269" r:id="rId15"/>
    <p:sldId id="270" r:id="rId16"/>
    <p:sldId id="271" r:id="rId17"/>
    <p:sldId id="272" r:id="rId18"/>
    <p:sldId id="279" r:id="rId30"/>
    <p:sldId id="282" r:id="rId33"/>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4.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6.xml"/><Relationship Id="rId20" Type="http://schemas.openxmlformats.org/officeDocument/2006/relationships/slide" Target="slides/slide27.xml"/><Relationship Id="rId21" Type="http://schemas.openxmlformats.org/officeDocument/2006/relationships/slide" Target="slides/slide28.xml"/><Relationship Id="rId22" Type="http://schemas.openxmlformats.org/officeDocument/2006/relationships/slide" Target="slides/slide29.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24.xml"/><Relationship Id="rId31" Type="http://schemas.openxmlformats.org/officeDocument/2006/relationships/slide" Target="slides/slide10.xml"/><Relationship Id="rId32" Type="http://schemas.openxmlformats.org/officeDocument/2006/relationships/slide" Target="slides/slide19.xml"/><Relationship Id="rId33" Type="http://schemas.openxmlformats.org/officeDocument/2006/relationships/slide" Target="slides/slide25.xml"/><Relationship Id="rId34" Type="http://schemas.openxmlformats.org/officeDocument/2006/relationships/slide" Target="slides/slide12.xml"/><Relationship Id="rId35"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handoff. The person receiving requests logs them with + New Request, attaches the documents, and assigns an estimator. The estimator filters on Assigned to me, loads the request and saves the finished CE over it under the same number. Reassign with the Assign button on the row, and always pick from the list, because Assigned to me matches by name.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Mobilization and demobilization now carry manpower as well as expenses. Press Crew from SOW Breakdown and the crew is built from the Manpower tab, one line per role, counted the way Benefits counts heads. It stays linked: change the manpower and the lines follow, except where you have typed a pax or a rate. On the printed CE they are rows A and B, and their bill prints before manpower.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Food allowance is paid at three rates. Each role belongs to one of them, set once on the Manpower masterlist. The app counts the heads in each group: for mobilization and demobilization, the people who travel; for accommodation, the whole crew over the days each shift works, listed as sub-items. When the allowance changes, update the three Masterlist items and use Sync meal rates on any CE you are requoting.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Work left to right. You can jump around, but each tab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Rows are numbered; each shift ends with SUB TOTAL (×multiplier), pax and cost.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New CEs start on the company standard (Admin → Shift Multipliers). Edit a box to change this CE only; ● marks one off the standard.</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Hover SIL &amp; ECC for the ₱30 ECC. The last row gives Total manpower — the headcount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MOBILIZATION &amp; DEMOBILIZATION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crew that travels, and what it costs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On-site CEs have two cards at the top of the Manpower tab. Each has a manpower table, then its expense lines.</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Manpower, linked to the SOW Breakdown</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Crew from SOW Breakdown adds one SOW-tagged line per role and keeps it in step with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PAX is the most on any day shift plus any night shift — 4 welders on two tasks is 4, not 8</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Type over Pax or Rate if travel differs (orange box); ↺ follows the crew again. Days and OT are yours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Add Manpower for anyone who is not on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Demobilization, ⧉ Copy from Mobilization copies the charges you tick; (MOB) becomes (DEMOB). Food allowance and SOW crew are not copied</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On the printed CE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MOBILIZATION and DEMOBILIZATION are rows A and B of the cost summary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Their section prints first: manpower with a SUB TOTAL of pax, then the charges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manpower SUB TOTAL shows pax; C.7 ends with TOTAL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a Mobilization sheet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FOOD ALLOWANCE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rates, counted from the crew</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Project manager, admin and skilled manpower are paid different meal allowances. The app counts heads for each rate.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Where it is counted</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 / Demob: added with the crew — the pax who travel × the travel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Accommodation: 🍽 Food allowance from crew — each role and shift a sub-item, pax × days worked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Lines tagged CREW follow the Manpower; delete them to stop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Each role’s rate is set in the Masterlist Food Allowance column; Auto guesses from the name</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Keeping the rates right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Rates are the Masterlist → Miscellaneous items MEAL ALLOWANCE (PM), (ADMIN), (SKILLED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line takes today’s rate; a saved CE keeps what it was quoted at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Sync meal rates moves every meal line on the open CE to the current rate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Food Allowance column is in the Masterlist template and import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Always prefer this over typing.</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62 units grouped by kind — Pcs, Box, Can, Gallon, Drum, Kg, sq.m, L.M. and more. An unusual unit from an imported file is kept as it was.</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An onsite job runs on the client’s supply, so nothing is charged for power there. The three power columns appear on a Shopworks CE and nowhere else.</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days and cost — blank days counts as 1. Food allowance for the stay can be counted from the crew (see Food allowance). Mobilisation and demobilisation are at the top of the Manpower tab.</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for this CE type and discipline, with your name in Prepared By. A signature drawn on screen is saved with the CE.</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the Quantity you set on Project Info.</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and shares it with the team. A draft DOES show in CE Monitoring as open work, and can still be edited. Saving the CE clears it.</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in a print window: cover, cost summary, manpower loading, resources, scope of work and signature blocks. Print it or save as PDF.</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SAME document as a formatted Excel workbook — one sheet per printed page, same headings and columns, with the black section bars and borders of the master CE. Figures arrive as numbers, so a column still totals.</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The AOT column is total overtime hours — your per-day figure multiplied by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Left and right margins are 0.25 in — keep Chrome’s Margins on Default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Tools show BASIS — "per project", "5 days", "24 hrs" — in place of DAYS</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Press Status on a row to change it and see the trail — every change, who made it and when. Customer, job title, dates, received by and remarks are edited in place.</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Open a CE, or print one. 🖨 CE and ⬇ xlsx produce its documents in a new tab, leaving the CE you are working on untouched. Clone and Revise copy it.</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 "+2 rev" opens the older ones, and counts and totals include the job once. Tick two CEs to compare them side by side.</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REQUESTS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Log it, assign it, attach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 request goes on the list the day it arrives, so nothing is forgotten between receiving it and costing it.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Logging a request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Press + New Request. The next free CE number is suggested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Customer and Assigned to are required; add type, discipline, job title, date received, deadline and remarks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attachments panel opens next — upload the TOR, drawings and client email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 shows as a Pending row badged REQUEST, with you as Received By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 on any row hands it to someone else. Pick from the list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Working on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Assigned to me shows your CEs and requests — including ones someone else logged for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Load the request, build the estimate, and Save under the SAME number — it replaces the request and keeps its files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That is the only save over an existing number allowed without Revise, and only for that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Assigned to me matches your name, so a nickname typed in the Estimator field will not be found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
        <p:nvSpPr>
          <p:cNvPr id="21" name="Text 19"/>
          <p:cNvSpPr/>
          <p:nvPr/>
        </p:nvSpPr>
        <p:spPr>
          <a:xfrm>
            <a:off x="841248" y="5669280"/>
            <a:ext cx="6400800"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Reading the sync bar</a:t>
            </a:r>
            <a:endParaRPr lang="en-US" sz="1400" dirty="0"/>
          </a:p>
        </p:txBody>
      </p:sp>
      <p:sp>
        <p:nvSpPr>
          <p:cNvPr id="22" name="Text 20"/>
          <p:cNvSpPr/>
          <p:nvPr/>
        </p:nvSpPr>
        <p:spPr>
          <a:xfrm>
            <a:off x="841248" y="5943600"/>
            <a:ext cx="10515600" cy="457200"/>
          </a:xfrm>
          <a:prstGeom prst="rect">
            <a:avLst/>
          </a:prstGeom>
          <a:noFill/>
          <a:ln/>
        </p:spPr>
        <p:txBody>
          <a:bodyPr wrap="square" lIns="0" tIns="0" rIns="0" bIns="0" rtlCol="0" anchor="ctr"/>
          <a:lstStyle/>
          <a:p>
            <a:pPr indent="0" marL="0">
              <a:lnSpc>
                <a:spcPts val="1600"/>
              </a:lnSpc>
              <a:buNone/>
            </a:pPr>
            <a:r>
              <a:rPr lang="en-US" sz="1100" dirty="0">
                <a:solidFill>
                  <a:srgbClr val="E6EDF3"/>
                </a:solidFill>
                <a:latin typeface="Calibri" pitchFamily="34" charset="0"/>
                <a:ea typeface="Calibri" pitchFamily="34" charset="-122"/>
                <a:cs typeface="Calibri" pitchFamily="34" charset="-120"/>
              </a:rPr>
              <a:t>✓ green is in step with SharePoint. ↻ syncing… is fetching now. ⚠ this device only means SharePoint did not answer and you are seeing this browser’s copy — press ⟳. ✗ sync failed needs a retry or your admin.</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 Sign in to Microsoft in the top bar, beside Set AI Key.</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unit price, service life, projects per year, maintenance and a power rating in kW — press 💲 on a row to work all three tier prices out from them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The tools sheet takes the four tier figures and Power (kW), and reads the maintained workbook's own headings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CE numbers: one sequence for SHIC and SY3</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is charged, Incentive is not</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