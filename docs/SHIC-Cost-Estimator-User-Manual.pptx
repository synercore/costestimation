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5" r:id="rId36"/>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88" r:id="rId39"/>
    <p:sldId id="289" r:id="rId40"/>
    <p:sldId id="267" r:id="rId13"/>
    <p:sldId id="268" r:id="rId14"/>
    <p:sldId id="281" r:id="rId32"/>
    <p:sldId id="269" r:id="rId15"/>
    <p:sldId id="270" r:id="rId16"/>
    <p:sldId id="271" r:id="rId17"/>
    <p:sldId id="286" r:id="rId37"/>
    <p:sldId id="272" r:id="rId18"/>
    <p:sldId id="279" r:id="rId30"/>
    <p:sldId id="282" r:id="rId33"/>
    <p:sldId id="273" r:id="rId19"/>
    <p:sldId id="274" r:id="rId20"/>
    <p:sldId id="275" r:id="rId21"/>
    <p:sldId id="287" r:id="rId38"/>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8.xml"/><Relationship Id="rId20" Type="http://schemas.openxmlformats.org/officeDocument/2006/relationships/slide" Target="slides/slide29.xml"/><Relationship Id="rId21" Type="http://schemas.openxmlformats.org/officeDocument/2006/relationships/slide" Target="slides/slide30.xml"/><Relationship Id="rId22" Type="http://schemas.openxmlformats.org/officeDocument/2006/relationships/slide" Target="slides/slide3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26.xml"/><Relationship Id="rId31" Type="http://schemas.openxmlformats.org/officeDocument/2006/relationships/slide" Target="slides/slide11.xml"/><Relationship Id="rId32" Type="http://schemas.openxmlformats.org/officeDocument/2006/relationships/slide" Target="slides/slide20.xml"/><Relationship Id="rId33" Type="http://schemas.openxmlformats.org/officeDocument/2006/relationships/slide" Target="slides/slide27.xml"/><Relationship Id="rId34" Type="http://schemas.openxmlformats.org/officeDocument/2006/relationships/slide" Target="slides/slide13.xml"/><Relationship Id="rId35" Type="http://schemas.openxmlformats.org/officeDocument/2006/relationships/slide" Target="slides/slide14.xml"/><Relationship Id="rId36" Type="http://schemas.openxmlformats.org/officeDocument/2006/relationships/slide" Target="slides/slide4.xml"/><Relationship Id="rId37" Type="http://schemas.openxmlformats.org/officeDocument/2006/relationships/slide" Target="slides/slide24.xml"/><Relationship Id="rId38" Type="http://schemas.openxmlformats.org/officeDocument/2006/relationships/slide" Target="slides/slide31.xml"/>  <Relationship Id="rId39" Type="http://schemas.openxmlformats.org/officeDocument/2006/relationships/slide" Target="slides/slide33.xml"/>
  <Relationship Id="rId40" Type="http://schemas.openxmlformats.org/officeDocument/2006/relationships/slide" Target="slides/slide3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opens on 🏠 My Work — your to-do list. Then work the tabs left to right; each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START HERE · MY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waiting on you</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first tab, and where the app opens. A red number on the tab — and in the window title — counts what waits on you, from any tab.</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 numbers across the top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Awaiting my signature — approvals routed to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CEs assigned — with how many are overdue or due within 3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Returned to me — CEs an approver sent back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Submitted this month, with value · On-time rate (red under 80%) · Won this year (Awarded)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lists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For my approval — 👁 View, then Approve &amp; Sign or Return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Returned to me — Load it, fix it, submit again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open CEs — most urgent first, with the deadline countdown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My drafts — Resume · ⏳ My CEs in approval — who it waits on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item mid-session pops up a notice; the badge always matches the lists</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Pick its unit: 3 PCS, 1 LOT.</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 with the RCE No.</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manpower grouped by shift. Tick a whole shift, or file it to a task in one pick.</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shown in its own ECC column.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Standard units keep their spelling (Pcs, Kg, mL, sq.m); any other is written Piece, not PIECE. ↺ Sync UOM takes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Onsite jobs run on the client’s supply, so power is never charged there. The columns show on Shopworks CEs while an admin has ⚡ Tool Power ON.</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Link a line to a user and give it a Step to route it for approval in the app (see Approvals). Unlinked lines are signed by hand as before.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costs charged once per job, e.g. transport) ÷ Quantity. The once-per-job total shows under it.</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 and Discipline is required. On the Summary the Keep group reads Resume Work · Draft · Save · Revise; hover any button for what it does.</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for the team; it shows in CE Monitoring and saving clears it. Only its owner or an admin can delete one, after a warning.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to print or save as PDF. 👁 Preview shows it in one window without the print dialog. Both work offline.</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CE as a formatted Excel workbook, figures as numbers. Title bars take the company colour — green SY3, orange Synercore; change it in Admin → Companies → Header Bar Color.</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Every page: logo and Document No. at the top; Document No. and Page X of Y at the foot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Signatories print four to a row, so signatures stay full size</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CE TYPE on the left under each title bar; CE No. and date on the right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In the print dialog set Margins to None — each page carries its own</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9 · APPROVALS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Review and sign in the app</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Approvers read and sign the CE without loading it. Every signature is stamped with who signed and when.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Routing it (Summary → Signatories)</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Link each signatory line to a user account; give it a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Same step = sign at the same time; the next step opens when all have signed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Submit for approval works on a new or an already-saved CE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Approvers see a red count on 🏠 My Work and a notice when it arrives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Withdraw (submitter or admin) takes it back; route it again on the same number</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Signing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Set it up once: ✍ My Signature (top bar) — draw or upload; saved to your account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From My Work: 👁 View → ✍ Approve &amp; Sign — your saved signature is already on the pad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Stamped with “E-SIGNED · name”, title, date, time and CE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Return needs a comment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 saved edit — figures, scope, notes, a line — clears every signature, hand-drawn too</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Remarks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 Status and 💬 Remarks each keep a trail: every change or remark, who and when; the column shows the latest. ✎ Edit covers customer, job title and dates.</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View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Buttons are grouped by row: Status · Remarks · Assign, then View · Load · Edit, then CE · xlsx · 📎. 👁 View also works on drafts; ⬇ xlsx downloads without opening a tab. ✍ Awaiting my signature filters to CEs waiting on you.</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"+2 rev" opens older ones. ⚖ Diff on a revision compares it with its base, section by section, Mob/Demob included.</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and RCE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Awarded,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RCE No., type, discipline, job title, dates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A pop-up says you are offline, so nobody works believing it reached the team. Rates and saved CEs are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30</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65506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47218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0136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47218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A pop-up offers Sign in to Microsoft; later, use ⚠ Sign in to Microsoft in the top bar.</a:t>
            </a:r>
            <a:endParaRPr lang="en-US" sz="1150" dirty="0"/>
          </a:p>
        </p:txBody>
      </p:sp>
      <p:sp>
        <p:nvSpPr>
          <p:cNvPr id="9" name="Shape 7"/>
          <p:cNvSpPr/>
          <p:nvPr/>
        </p:nvSpPr>
        <p:spPr>
          <a:xfrm>
            <a:off x="566928" y="2359152"/>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60604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42316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75234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42316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310128"/>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5570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3741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7033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3741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261104"/>
            <a:ext cx="11055096" cy="82296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50799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32511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65429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32511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 "Save was interrupted" on opening: the saver does this, or saves it again.</a:t>
            </a:r>
            <a:endParaRPr lang="en-US" sz="1150" dirty="0"/>
          </a:p>
        </p:txBody>
      </p:sp>
      <p:sp>
        <p:nvSpPr>
          <p:cNvPr id="24" name="Shape 22"/>
          <p:cNvSpPr/>
          <p:nvPr/>
        </p:nvSpPr>
        <p:spPr>
          <a:xfrm>
            <a:off x="566928" y="5266944"/>
            <a:ext cx="11055096" cy="82296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33095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51383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564184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3309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cost, life, maintenance and kW — 💲 works out the tier prices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tier figures and Power (kW) included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red x asks first; deleted items go to 🗑 Trash for 30 days to Restore</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MAKE IT YOURS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Themes and backgrounds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Press 🎨 in the top bar. The choice is kept in your browser only; printed CEs and exports never change.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Theme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Ten palettes: Dark Slate, Executive Light, Ocean, Forest, Nebula, Graphite, Sunset, Lavender, Sakura, Mint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Executive Light is softened — easier on the eyes than plain white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Pick again at any time; nothing on the CE changes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Background</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Six gradients, or ⬆ Photo to use your own picture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Soften fades the background so text stays readable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Cards and tables stay solid on top of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None puts the plain canvas back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no Incentive. Shop + Site: split by task</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TYPE · SHOP +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job, part in the shop, part on site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Pick it on Project Info</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For a component pulled, repaired in our shop and reinstalled. It keeps mobilization and the Onsite Miscellaneous categories.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Tag each scope task</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In SOW Breakdown every main task has a 🏗 Site / 🏭 Shop button. Sub-tasks follow their main task. Untagged counts as Site.</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File the crew and tools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Assign manpower and tools to their tasks. That link is how the app knows which days are site days and which tools run on shop power.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Incentive: site days only</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crew row on a Site task earns the Incentive; on a Shop task it earns none. A row shared by both is split by its share.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Power: shop tasks only</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tool’s electricity is charged only for its Shop share. On site the client supplies the power, as on an Onsite CE.</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Unassigned rows count as Site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row filed to no task earns the Incentive and draws no power. File every row before you generate.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CE TYPE prints as SHOP + SITE. The totals already apply both rules; there is no separate shop and site section.</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IMPORT A TOOL 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 supplier’s kit list in one go</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 Import list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In the Tools &amp; Equipment toolbar. Takes a PDF kit report, an Excel or CSV list, or a Word or text file.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What it reads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Numbered lines (item, part no., qty, unit) or a table headed Description and Qty. Wrapped names and part numbers stay with their item.</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Check before it lands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preview lists every item, all ticked. Untick what the job does not need, and fix a name or quantity before adding.</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Priced from the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item the Masterlist has comes in at its rate and unit. The preview shows which ones are on the list.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rest come in at ₱0</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message after adding says how many need a rate. Type it on the row, or add the items with ＋ Masterlist.</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Repeats are added up</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same item listed twice becomes one row with both quantities. Page headers and comments are left out.</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Check the tier first</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Imported rows start on the tier set in New rows. A 42-page kit list is about 320 rows, so set it before you import.</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