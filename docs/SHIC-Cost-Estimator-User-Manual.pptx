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96" r:id="rId47"/>
    <p:sldId id="258" r:id="rId4"/>
    <p:sldId id="295" r:id="rId46"/>
    <p:sldId id="285" r:id="rId36"/>
    <p:sldId id="259" r:id="rId5"/>
    <p:sldId id="294" r:id="rId45"/>
    <p:sldId id="260" r:id="rId6"/>
    <p:sldId id="261" r:id="rId7"/>
    <p:sldId id="262" r:id="rId8"/>
    <p:sldId id="263" r:id="rId9"/>
    <p:sldId id="264" r:id="rId10"/>
    <p:sldId id="280" r:id="rId31"/>
    <p:sldId id="265" r:id="rId11"/>
    <p:sldId id="283" r:id="rId34"/>
    <p:sldId id="284" r:id="rId35"/>
    <p:sldId id="266" r:id="rId12"/>
    <p:sldId id="277" r:id="rId28"/>
    <p:sldId id="278" r:id="rId29"/>
    <p:sldId id="288" r:id="rId39"/>
    <p:sldId id="289" r:id="rId40"/>
    <p:sldId id="293" r:id="rId44"/>
    <p:sldId id="292" r:id="rId43"/>
    <p:sldId id="267" r:id="rId13"/>
    <p:sldId id="268" r:id="rId14"/>
    <p:sldId id="281" r:id="rId32"/>
    <p:sldId id="269" r:id="rId15"/>
    <p:sldId id="270" r:id="rId16"/>
    <p:sldId id="271" r:id="rId17"/>
    <p:sldId id="286" r:id="rId37"/>
    <p:sldId id="272" r:id="rId18"/>
    <p:sldId id="279" r:id="rId30"/>
    <p:sldId id="291" r:id="rId42"/>
    <p:sldId id="282" r:id="rId33"/>
    <p:sldId id="290" r:id="rId41"/>
    <p:sldId id="273" r:id="rId19"/>
    <p:sldId id="274" r:id="rId20"/>
    <p:sldId id="275" r:id="rId21"/>
    <p:sldId id="287" r:id="rId38"/>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7.xml"/><Relationship Id="rId6" Type="http://schemas.openxmlformats.org/officeDocument/2006/relationships/slide" Target="slides/slide9.xml"/><Relationship Id="rId7" Type="http://schemas.openxmlformats.org/officeDocument/2006/relationships/slide" Target="slides/slide10.xml"/><Relationship Id="rId8" Type="http://schemas.openxmlformats.org/officeDocument/2006/relationships/slide" Target="slides/slide11.xml"/><Relationship Id="rId9" Type="http://schemas.openxmlformats.org/officeDocument/2006/relationships/slide" Target="slides/slide12.xml"/><Relationship Id="rId10" Type="http://schemas.openxmlformats.org/officeDocument/2006/relationships/slide" Target="slides/slide13.xml"/><Relationship Id="rId11" Type="http://schemas.openxmlformats.org/officeDocument/2006/relationships/slide" Target="slides/slide15.xml"/><Relationship Id="rId12" Type="http://schemas.openxmlformats.org/officeDocument/2006/relationships/slide" Target="slides/slide18.xml"/><Relationship Id="rId13" Type="http://schemas.openxmlformats.org/officeDocument/2006/relationships/slide" Target="slides/slide25.xml"/><Relationship Id="rId14" Type="http://schemas.openxmlformats.org/officeDocument/2006/relationships/slide" Target="slides/slide26.xml"/><Relationship Id="rId15" Type="http://schemas.openxmlformats.org/officeDocument/2006/relationships/slide" Target="slides/slide28.xml"/><Relationship Id="rId16" Type="http://schemas.openxmlformats.org/officeDocument/2006/relationships/slide" Target="slides/slide29.xml"/><Relationship Id="rId17" Type="http://schemas.openxmlformats.org/officeDocument/2006/relationships/slide" Target="slides/slide30.xml"/><Relationship Id="rId18" Type="http://schemas.openxmlformats.org/officeDocument/2006/relationships/slide" Target="slides/slide32.xml"/><Relationship Id="rId19" Type="http://schemas.openxmlformats.org/officeDocument/2006/relationships/slide" Target="slides/slide37.xml"/><Relationship Id="rId20" Type="http://schemas.openxmlformats.org/officeDocument/2006/relationships/slide" Target="slides/slide38.xml"/><Relationship Id="rId21" Type="http://schemas.openxmlformats.org/officeDocument/2006/relationships/slide" Target="slides/slide39.xml"/><Relationship Id="rId22" Type="http://schemas.openxmlformats.org/officeDocument/2006/relationships/slide" Target="slides/slide4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33.xml"/><Relationship Id="rId31" Type="http://schemas.openxmlformats.org/officeDocument/2006/relationships/slide" Target="slides/slide14.xml"/><Relationship Id="rId32" Type="http://schemas.openxmlformats.org/officeDocument/2006/relationships/slide" Target="slides/slide27.xml"/><Relationship Id="rId33" Type="http://schemas.openxmlformats.org/officeDocument/2006/relationships/slide" Target="slides/slide35.xml"/><Relationship Id="rId34" Type="http://schemas.openxmlformats.org/officeDocument/2006/relationships/slide" Target="slides/slide16.xml"/><Relationship Id="rId35" Type="http://schemas.openxmlformats.org/officeDocument/2006/relationships/slide" Target="slides/slide17.xml"/><Relationship Id="rId36" Type="http://schemas.openxmlformats.org/officeDocument/2006/relationships/slide" Target="slides/slide6.xml"/><Relationship Id="rId37" Type="http://schemas.openxmlformats.org/officeDocument/2006/relationships/slide" Target="slides/slide31.xml"/><Relationship Id="rId38" Type="http://schemas.openxmlformats.org/officeDocument/2006/relationships/slide" Target="slides/slide40.xml"/><Relationship Id="rId39" Type="http://schemas.openxmlformats.org/officeDocument/2006/relationships/slide" Target="slides/slide21.xml"/><Relationship Id="rId40" Type="http://schemas.openxmlformats.org/officeDocument/2006/relationships/slide" Target="slides/slide22.xml"/><Relationship Id="rId41" Type="http://schemas.openxmlformats.org/officeDocument/2006/relationships/slide" Target="slides/slide36.xml"/><Relationship Id="rId42" Type="http://schemas.openxmlformats.org/officeDocument/2006/relationships/slide" Target="slides/slide34.xml"/><Relationship Id="rId43" Type="http://schemas.openxmlformats.org/officeDocument/2006/relationships/slide" Target="slides/slide24.xml"/><Relationship Id="rId44" Type="http://schemas.openxmlformats.org/officeDocument/2006/relationships/slide" Target="slides/slide23.xml"/><Relationship Id="rId45" Type="http://schemas.openxmlformats.org/officeDocument/2006/relationships/slide" Target="slides/slide8.xml"/><Relationship Id="rId46" Type="http://schemas.openxmlformats.org/officeDocument/2006/relationships/slide" Target="slides/slide5.xml"/><Relationship Id="rId4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manual walks through one complete cost estimate in the order the tabs appear. Anyone who prepares a CE can follow it start to finish; no admin knowledge is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the app does the arithmetic and enforces one shared set of rates. The estimator supplies judgement — who is needed, for how long, with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order. Most problems people report come from skipping Project Info — the number of days there becomes the default for every manpower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 is per person. Never share an account — the CE records who saved it, and the audit log records who changed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Quantity and No. of days. Quantity divides the grand total into the unit price. No. of days is inherited by every manpower row added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time-saver in the app and the one people under-use. A three-service job that takes 40 minutes by hand takes about a minute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numbering here is what appears on the printed Scope of Work page and on every breakdown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roll-up on the parent is new: a main task used to read "no resources" while the work below it was fully costed.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out the OT change explicitly. A CE saved before this behaved as a total for the whole job; reopening an old one shows a higher OT figure because the same number now means per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people forget, and it is the one that changes the price. Consolidate before you generate the CE. The uplift is not an error — it is the cost of having the crew on site for the whole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Tools are the only bill with a tier. Materials and PPE are still qty x cost. Do not go into the tiers here -- the next slide is entirely about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category headings change slightly by CE type — Supply jobs use Allowance instead of Accommodation.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margin is saved with the CE. Signatories now arrive from the CE Defaults preset an admin sets in the Users tab, chosen by CE type and discipline, with the signed-in user already in Prepared By.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that Check CE is advisory, not a lock. The only hard blocks are the four listed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Draft versus Save is the distinction people get wrong -- but a draft is no longer invisible. It appears in Monitoring as open work, so the team can see it exists; it is simply still editable, and saving the CE clears it. Also flag the browser-only save message: if it appears, the CE has not reached SharePoint and nobody else can open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Generate CE is the deliverable. Everything before it exists to make this page right. The Excel exports now carry the CE's own formatting, so sales can work with them directly.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Monitoring is the register the whole team reads. Two changes worth demonstrating: Status is now an action button that also shows who changed what and when, and the print actions produce a previous CE's documents in a new tab without disturbing the estimate you have open.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people. The most common support call is someone who saved offline and thinks their work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middle one still matters most: a permission refusal is not a session problem, and signing in again just wastes time. Throttling is the opposite -- it clears on its own, so pressing the button again is the wrong response.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Whoever maintains rates should own the Masterlist. For tools that now means the four figures behind the rate, not just the rate: unit price, service life, projects per year and maintenance. The calculator on each row works the tiers out from them, and the upload template carries them so the whole list can be maintained in Excel.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pointing people at Check CE. It answers most "why is this number wrong" questions without a support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people will ask about. Land three things. One: nothing already quoted has moved -- a row with no tier is Tier 2, which is what the app has always done. Two: Tier 3 is the answer to losing small jobs on equipment cost, and the van example makes that concrete. Three: it is a discount, not a re-slicing -- it recovers about a sixth of annual ownership cost, so it is the wrong choice on a long shutdown. There is no minimum-hours floor, so a careless entry can price expensive kit at almost nothing; check the first few bids.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people misread. QTY is a headcount, not a sum of rows: one supervisor on regular, Sunday and holiday days is one person, but a day crew and a night crew are different people. And the money has not changed - each shift row is still charged its own benefits; the role line is only their subtotal. The Incentive is the old per diem under its proper name, and ShopWorks does not pay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hand-built version of this in Excel once came out P2.8M short of the total. Here that cannot happen: Other misc. is whatever the named services do not carry, so the two totals always match. The one error it catches is the opposite - a cost counted under two services.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handoff. The person receiving requests logs them with + New Request, attaches the documents, and assigns an estimator. The estimator filters on Assigned to me, loads the request and saves the finished CE over it under the same number. Reassign with the Assign button on the row, and always pick from the list, because Assigned to me matches by name.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Mobilization and demobilization now carry manpower as well as expenses. Press Crew from SOW Breakdown and the crew is built from the Manpower tab, one line per role, counted the way Benefits counts heads. It stays linked: change the manpower and the lines follow, except where you have typed a pax or a rate. On the printed CE they are rows A and B, and their bill prints before manpower.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Food allowance is paid at three rates. Each role belongs to one of them, set once on the Manpower masterlist. The app counts the heads in each group: for mobilization and demobilization, the people who travel; for accommodation, the whole crew over the days each shift works, listed as sub-items. When the allowance changes, update the three Masterlist items and use Sync meal rates on any CE you are requoting.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slide to show everyone who learned the app from v3. Each item has its own slide later in the deck. The big visible changes are the three headings across the top and the account menu; the big working changes are that a saved CE stays editable until it is routed for approval, and the quantity calculators on the Materials tab.</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on a tablet. Before, fourteen tabs ran past the edge and the screen scrolled sideways. Now the top row has three headings and only the Estimate heading shows the nine numbered steps. Everything that belongs to the person rather than the CE lives behind the initials.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mode is the answer to "can I try this without breaking anything". The real data is never read or written while it is on, and it comes back untouched when you leave.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calculators replace the spreadsheet the team used. They add rows to Materials; they do not change how Materials is costed. Two bearings in one CE are two jobs in one calculator, so the bars are added before they are rounded 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two points. First, a CE keeps the allowances it used, so changing a standard later never changes a quantity already worked out. Second, the babbitt pour loss is an estimate with no published source; the point of Team typical is that the team's own experience replaces it over time.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Awarded is the status for won work; Approved only means the CE has been signed off. Waiting in... was removed and For site insp. now reads For site Inspection.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checklist is the paper form SHIC-F-SMD-002. Requestors may prefill it, but the answers that count are the Cost Estimation team's, made in the review. A request that is declined is closed with its reason on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8595360" y="-1554480"/>
            <a:ext cx="5852160" cy="5852160"/>
          </a:xfrm>
          <a:prstGeom prst="ellipse">
            <a:avLst/>
          </a:prstGeom>
          <a:solidFill>
            <a:srgbClr val="13203A"/>
          </a:solidFill>
          <a:ln w="12700">
            <a:solidFill>
              <a:srgbClr val="13203A"/>
            </a:solidFill>
            <a:prstDash val="solid"/>
          </a:ln>
        </p:spPr>
        <p:txBody>
          <a:bodyPr/>
          <a:p/>
        </p:txBody>
      </p:sp>
      <p:sp>
        <p:nvSpPr>
          <p:cNvPr id="3" name="Shape 1"/>
          <p:cNvSpPr/>
          <p:nvPr/>
        </p:nvSpPr>
        <p:spPr>
          <a:xfrm>
            <a:off x="9966960" y="3108960"/>
            <a:ext cx="3291840" cy="3291840"/>
          </a:xfrm>
          <a:prstGeom prst="ellipse">
            <a:avLst/>
          </a:prstGeom>
          <a:solidFill>
            <a:srgbClr val="2A1F0B"/>
          </a:solidFill>
          <a:ln w="12700">
            <a:solidFill>
              <a:srgbClr val="2A1F0B"/>
            </a:solidFill>
            <a:prstDash val="solid"/>
          </a:ln>
        </p:spPr>
        <p:txBody>
          <a:bodyPr/>
          <a:p/>
        </p:txBody>
      </p:sp>
      <p:sp>
        <p:nvSpPr>
          <p:cNvPr id="4" name="Shape 2"/>
          <p:cNvSpPr/>
          <p:nvPr/>
        </p:nvSpPr>
        <p:spPr>
          <a:xfrm>
            <a:off x="566928" y="1417320"/>
            <a:ext cx="841248" cy="384048"/>
          </a:xfrm>
          <a:prstGeom prst="roundRect">
            <a:avLst>
              <a:gd name="adj" fmla="val 14286"/>
            </a:avLst>
          </a:prstGeom>
          <a:solidFill>
            <a:srgbClr val="F0A429"/>
          </a:solidFill>
          <a:ln w="12700">
            <a:solidFill>
              <a:srgbClr val="F0A429"/>
            </a:solidFill>
            <a:prstDash val="solid"/>
          </a:ln>
        </p:spPr>
        <p:txBody>
          <a:bodyPr/>
          <a:p/>
        </p:txBody>
      </p:sp>
      <p:sp>
        <p:nvSpPr>
          <p:cNvPr id="5" name="Text 3"/>
          <p:cNvSpPr/>
          <p:nvPr/>
        </p:nvSpPr>
        <p:spPr>
          <a:xfrm>
            <a:off x="566928" y="1417320"/>
            <a:ext cx="841248" cy="384048"/>
          </a:xfrm>
          <a:prstGeom prst="rect">
            <a:avLst/>
          </a:prstGeom>
          <a:noFill/>
          <a:ln/>
        </p:spPr>
        <p:txBody>
          <a:bodyPr wrap="square" lIns="0" tIns="0" rIns="0" bIns="0"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SHIC</a:t>
            </a:r>
            <a:endParaRPr lang="en-US" sz="1400" dirty="0"/>
          </a:p>
        </p:txBody>
      </p:sp>
      <p:sp>
        <p:nvSpPr>
          <p:cNvPr id="6" name="Text 4"/>
          <p:cNvSpPr/>
          <p:nvPr/>
        </p:nvSpPr>
        <p:spPr>
          <a:xfrm>
            <a:off x="1536192" y="1417320"/>
            <a:ext cx="5486400" cy="384048"/>
          </a:xfrm>
          <a:prstGeom prst="rect">
            <a:avLst/>
          </a:prstGeom>
          <a:noFill/>
          <a:ln/>
        </p:spPr>
        <p:txBody>
          <a:bodyPr wrap="square" lIns="0" tIns="0" rIns="0" bIns="0" rtlCol="0" anchor="ctr"/>
          <a:lstStyle/>
          <a:p>
            <a:pPr indent="0" marL="0">
              <a:buNone/>
            </a:pPr>
            <a:r>
              <a:rPr lang="en-US" sz="1300" b="1" spc="200" kern="0" dirty="0">
                <a:solidFill>
                  <a:srgbClr val="9AA4AF"/>
                </a:solidFill>
                <a:latin typeface="Arial" pitchFamily="34" charset="0"/>
                <a:ea typeface="Arial" pitchFamily="34" charset="-122"/>
                <a:cs typeface="Arial" pitchFamily="34" charset="-120"/>
              </a:rPr>
              <a:t>COST ESTIMATOR  ·  v3  ·  BUILD 339</a:t>
            </a:r>
            <a:endParaRPr lang="en-US" sz="1300" dirty="0"/>
          </a:p>
        </p:txBody>
      </p:sp>
      <p:sp>
        <p:nvSpPr>
          <p:cNvPr id="7" name="Text 5"/>
          <p:cNvSpPr/>
          <p:nvPr/>
        </p:nvSpPr>
        <p:spPr>
          <a:xfrm>
            <a:off x="566928" y="2057400"/>
            <a:ext cx="7863840" cy="1371600"/>
          </a:xfrm>
          <a:prstGeom prst="rect">
            <a:avLst/>
          </a:prstGeom>
          <a:noFill/>
          <a:ln/>
        </p:spPr>
        <p:txBody>
          <a:bodyPr wrap="square" lIns="0" tIns="0" rIns="0" bIns="0" rtlCol="0" anchor="ctr"/>
          <a:lstStyle/>
          <a:p>
            <a:pPr indent="0" marL="0">
              <a:buNone/>
            </a:pPr>
            <a:r>
              <a:rPr lang="en-US" sz="5800" b="1" dirty="0">
                <a:solidFill>
                  <a:srgbClr val="E6EDF3"/>
                </a:solidFill>
                <a:latin typeface="Arial" pitchFamily="34" charset="0"/>
                <a:ea typeface="Arial" pitchFamily="34" charset="-122"/>
                <a:cs typeface="Arial" pitchFamily="34" charset="-120"/>
              </a:rPr>
              <a:t>End-User Manual</a:t>
            </a:r>
            <a:endParaRPr lang="en-US" sz="5800" dirty="0"/>
          </a:p>
        </p:txBody>
      </p:sp>
      <p:sp>
        <p:nvSpPr>
          <p:cNvPr id="8" name="Text 6"/>
          <p:cNvSpPr/>
          <p:nvPr/>
        </p:nvSpPr>
        <p:spPr>
          <a:xfrm>
            <a:off x="566928" y="3401568"/>
            <a:ext cx="7680960" cy="457200"/>
          </a:xfrm>
          <a:prstGeom prst="rect">
            <a:avLst/>
          </a:prstGeom>
          <a:noFill/>
          <a:ln/>
        </p:spPr>
        <p:txBody>
          <a:bodyPr wrap="square" lIns="0" tIns="0" rIns="0" bIns="0" rtlCol="0" anchor="ctr"/>
          <a:lstStyle/>
          <a:p>
            <a:pPr indent="0" marL="0">
              <a:buNone/>
            </a:pPr>
            <a:r>
              <a:rPr lang="en-US" sz="1900" dirty="0">
                <a:solidFill>
                  <a:srgbClr val="F0A429"/>
                </a:solidFill>
                <a:latin typeface="Calibri" pitchFamily="34" charset="0"/>
                <a:ea typeface="Calibri" pitchFamily="34" charset="-122"/>
                <a:cs typeface="Calibri" pitchFamily="34" charset="-120"/>
              </a:rPr>
              <a:t>Building a Cost Estimate, from blank page to signed CE</a:t>
            </a:r>
            <a:endParaRPr lang="en-US" sz="1900" dirty="0"/>
          </a:p>
        </p:txBody>
      </p:sp>
      <p:sp>
        <p:nvSpPr>
          <p:cNvPr id="9" name="Text 7"/>
          <p:cNvSpPr/>
          <p:nvPr/>
        </p:nvSpPr>
        <p:spPr>
          <a:xfrm>
            <a:off x="566928" y="4114800"/>
            <a:ext cx="7315200" cy="822960"/>
          </a:xfrm>
          <a:prstGeom prst="rect">
            <a:avLst/>
          </a:prstGeom>
          <a:noFill/>
          <a:ln/>
        </p:spPr>
        <p:txBody>
          <a:bodyPr wrap="square" lIns="0" tIns="0" rIns="0" bIns="0" rtlCol="0" anchor="ctr"/>
          <a:lstStyle/>
          <a:p>
            <a:pPr indent="0" marL="0">
              <a:lnSpc>
                <a:spcPts val="2100"/>
              </a:lnSpc>
              <a:buNone/>
            </a:pPr>
            <a:r>
              <a:rPr lang="en-US" sz="1350" dirty="0">
                <a:solidFill>
                  <a:srgbClr val="9AA4AF"/>
                </a:solidFill>
                <a:latin typeface="Calibri" pitchFamily="34" charset="0"/>
                <a:ea typeface="Calibri" pitchFamily="34" charset="-122"/>
                <a:cs typeface="Calibri" pitchFamily="34" charset="-120"/>
              </a:rPr>
              <a:t>SY3 Energy Maintenance Services Corp.  ·  Synercore Heavy Industries</a:t>
            </a:r>
            <a:endParaRPr lang="en-US" sz="1350" dirty="0"/>
          </a:p>
          <a:p>
            <a:pPr indent="0" marL="0">
              <a:lnSpc>
                <a:spcPts val="2100"/>
              </a:lnSpc>
              <a:buNone/>
            </a:pPr>
            <a:r>
              <a:rPr lang="en-US" sz="1350" dirty="0">
                <a:solidFill>
                  <a:srgbClr val="9AA4AF"/>
                </a:solidFill>
                <a:latin typeface="Calibri" pitchFamily="34" charset="0"/>
                <a:ea typeface="Calibri" pitchFamily="34" charset="-122"/>
                <a:cs typeface="Calibri" pitchFamily="34" charset="-120"/>
              </a:rPr>
              <a:t>Technical Support Group</a:t>
            </a:r>
            <a:endParaRPr lang="en-US" sz="1350" dirty="0"/>
          </a:p>
        </p:txBody>
      </p:sp>
      <p:sp>
        <p:nvSpPr>
          <p:cNvPr id="10" name="Shape 8"/>
          <p:cNvSpPr/>
          <p:nvPr/>
        </p:nvSpPr>
        <p:spPr>
          <a:xfrm>
            <a:off x="566928" y="5212080"/>
            <a:ext cx="2560320" cy="566928"/>
          </a:xfrm>
          <a:prstGeom prst="roundRect">
            <a:avLst>
              <a:gd name="adj" fmla="val 12903"/>
            </a:avLst>
          </a:prstGeom>
          <a:solidFill>
            <a:srgbClr val="161B22"/>
          </a:solidFill>
          <a:ln w="12700">
            <a:solidFill>
              <a:srgbClr val="30363D"/>
            </a:solidFill>
            <a:prstDash val="solid"/>
          </a:ln>
        </p:spPr>
        <p:txBody>
          <a:bodyPr/>
          <a:p/>
        </p:txBody>
      </p:sp>
      <p:sp>
        <p:nvSpPr>
          <p:cNvPr id="11" name="Text 9"/>
          <p:cNvSpPr/>
          <p:nvPr/>
        </p:nvSpPr>
        <p:spPr>
          <a:xfrm>
            <a:off x="566928" y="5212080"/>
            <a:ext cx="2560320" cy="566928"/>
          </a:xfrm>
          <a:prstGeom prst="rect">
            <a:avLst/>
          </a:prstGeom>
          <a:noFill/>
          <a:ln/>
        </p:spPr>
        <p:txBody>
          <a:bodyPr wrap="square" lIns="0" tIns="0" rIns="0" bIns="0" rtlCol="0" anchor="ctr"/>
          <a:lstStyle/>
          <a:p>
            <a:pPr algn="ctr" indent="0" marL="0">
              <a:buNone/>
            </a:pPr>
            <a:r>
              <a:rPr lang="en-US" sz="1200" dirty="0">
                <a:solidFill>
                  <a:srgbClr val="E6EDF3"/>
                </a:solidFill>
                <a:latin typeface="Calibri" pitchFamily="34" charset="0"/>
                <a:ea typeface="Calibri" pitchFamily="34" charset="-122"/>
                <a:cs typeface="Calibri" pitchFamily="34" charset="-120"/>
              </a:rPr>
              <a:t>Works offline</a:t>
            </a:r>
            <a:endParaRPr lang="en-US" sz="1200" dirty="0"/>
          </a:p>
        </p:txBody>
      </p:sp>
      <p:sp>
        <p:nvSpPr>
          <p:cNvPr id="12" name="Shape 10"/>
          <p:cNvSpPr/>
          <p:nvPr/>
        </p:nvSpPr>
        <p:spPr>
          <a:xfrm>
            <a:off x="3310128" y="5212080"/>
            <a:ext cx="2560320" cy="566928"/>
          </a:xfrm>
          <a:prstGeom prst="roundRect">
            <a:avLst>
              <a:gd name="adj" fmla="val 12903"/>
            </a:avLst>
          </a:prstGeom>
          <a:solidFill>
            <a:srgbClr val="161B22"/>
          </a:solidFill>
          <a:ln w="12700">
            <a:solidFill>
              <a:srgbClr val="30363D"/>
            </a:solidFill>
            <a:prstDash val="solid"/>
          </a:ln>
        </p:spPr>
        <p:txBody>
          <a:bodyPr/>
          <a:p/>
        </p:txBody>
      </p:sp>
      <p:sp>
        <p:nvSpPr>
          <p:cNvPr id="13" name="Text 11"/>
          <p:cNvSpPr/>
          <p:nvPr/>
        </p:nvSpPr>
        <p:spPr>
          <a:xfrm>
            <a:off x="3310128" y="5212080"/>
            <a:ext cx="2560320" cy="566928"/>
          </a:xfrm>
          <a:prstGeom prst="rect">
            <a:avLst/>
          </a:prstGeom>
          <a:noFill/>
          <a:ln/>
        </p:spPr>
        <p:txBody>
          <a:bodyPr wrap="square" lIns="0" tIns="0" rIns="0" bIns="0" rtlCol="0" anchor="ctr"/>
          <a:lstStyle/>
          <a:p>
            <a:pPr algn="ctr" indent="0" marL="0">
              <a:buNone/>
            </a:pPr>
            <a:r>
              <a:rPr lang="en-US" sz="1200" dirty="0">
                <a:solidFill>
                  <a:srgbClr val="E6EDF3"/>
                </a:solidFill>
                <a:latin typeface="Calibri" pitchFamily="34" charset="0"/>
                <a:ea typeface="Calibri" pitchFamily="34" charset="-122"/>
                <a:cs typeface="Calibri" pitchFamily="34" charset="-120"/>
              </a:rPr>
              <a:t>Shared with your team</a:t>
            </a:r>
            <a:endParaRPr lang="en-US" sz="1200" dirty="0"/>
          </a:p>
        </p:txBody>
      </p:sp>
      <p:sp>
        <p:nvSpPr>
          <p:cNvPr id="14" name="Shape 12"/>
          <p:cNvSpPr/>
          <p:nvPr/>
        </p:nvSpPr>
        <p:spPr>
          <a:xfrm>
            <a:off x="6053328" y="5212080"/>
            <a:ext cx="2560320" cy="566928"/>
          </a:xfrm>
          <a:prstGeom prst="roundRect">
            <a:avLst>
              <a:gd name="adj" fmla="val 12903"/>
            </a:avLst>
          </a:prstGeom>
          <a:solidFill>
            <a:srgbClr val="161B22"/>
          </a:solidFill>
          <a:ln w="12700">
            <a:solidFill>
              <a:srgbClr val="30363D"/>
            </a:solidFill>
            <a:prstDash val="solid"/>
          </a:ln>
        </p:spPr>
        <p:txBody>
          <a:bodyPr/>
          <a:p/>
        </p:txBody>
      </p:sp>
      <p:sp>
        <p:nvSpPr>
          <p:cNvPr id="15" name="Text 13"/>
          <p:cNvSpPr/>
          <p:nvPr/>
        </p:nvSpPr>
        <p:spPr>
          <a:xfrm>
            <a:off x="6053328" y="5212080"/>
            <a:ext cx="2560320" cy="566928"/>
          </a:xfrm>
          <a:prstGeom prst="rect">
            <a:avLst/>
          </a:prstGeom>
          <a:noFill/>
          <a:ln/>
        </p:spPr>
        <p:txBody>
          <a:bodyPr wrap="square" lIns="0" tIns="0" rIns="0" bIns="0" rtlCol="0" anchor="ctr"/>
          <a:lstStyle/>
          <a:p>
            <a:pPr algn="ctr" indent="0" marL="0">
              <a:buNone/>
            </a:pPr>
            <a:r>
              <a:rPr lang="en-US" sz="1200" dirty="0">
                <a:solidFill>
                  <a:srgbClr val="E6EDF3"/>
                </a:solidFill>
                <a:latin typeface="Calibri" pitchFamily="34" charset="0"/>
                <a:ea typeface="Calibri" pitchFamily="34" charset="-122"/>
                <a:cs typeface="Calibri" pitchFamily="34" charset="-120"/>
              </a:rPr>
              <a:t>Prints the official CE 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ORIENTATION</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this app replaces</a:t>
            </a:r>
            <a:endParaRPr lang="en-US" sz="3200" dirty="0"/>
          </a:p>
        </p:txBody>
      </p:sp>
      <p:sp>
        <p:nvSpPr>
          <p:cNvPr id="4" name="Shape 2"/>
          <p:cNvSpPr/>
          <p:nvPr/>
        </p:nvSpPr>
        <p:spPr>
          <a:xfrm>
            <a:off x="566928" y="1408176"/>
            <a:ext cx="5577840" cy="3977640"/>
          </a:xfrm>
          <a:prstGeom prst="roundRect">
            <a:avLst>
              <a:gd name="adj" fmla="val 1839"/>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5" name="Text 3"/>
          <p:cNvSpPr/>
          <p:nvPr/>
        </p:nvSpPr>
        <p:spPr>
          <a:xfrm>
            <a:off x="886968" y="1682496"/>
            <a:ext cx="4937760" cy="365760"/>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The estimate builds itself as you go</a:t>
            </a:r>
            <a:endParaRPr lang="en-US" sz="1700" dirty="0"/>
          </a:p>
        </p:txBody>
      </p:sp>
      <p:sp>
        <p:nvSpPr>
          <p:cNvPr id="6" name="Text 4"/>
          <p:cNvSpPr/>
          <p:nvPr/>
        </p:nvSpPr>
        <p:spPr>
          <a:xfrm>
            <a:off x="886968" y="2185416"/>
            <a:ext cx="4937760" cy="292608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350" dirty="0">
                <a:solidFill>
                  <a:srgbClr val="E6EDF3"/>
                </a:solidFill>
                <a:latin typeface="Calibri" pitchFamily="34" charset="0"/>
                <a:ea typeface="Calibri" pitchFamily="34" charset="-122"/>
                <a:cs typeface="Calibri" pitchFamily="34" charset="-120"/>
              </a:rPr>
              <a:t>You enter people, tools, consumables and PPE — the totals, benefits and overtime are calculated for you</a:t>
            </a:r>
            <a:endParaRPr lang="en-US" sz="1350" dirty="0"/>
          </a:p>
          <a:p>
            <a:pPr marL="342900" indent="-342900">
              <a:lnSpc>
                <a:spcPts val="1900"/>
              </a:lnSpc>
              <a:spcAft>
                <a:spcPts val="700"/>
              </a:spcAft>
              <a:buSzPct val="100000"/>
              <a:buChar char="●"/>
            </a:pPr>
            <a:r>
              <a:rPr lang="en-US" sz="1350" dirty="0">
                <a:solidFill>
                  <a:srgbClr val="E6EDF3"/>
                </a:solidFill>
                <a:latin typeface="Calibri" pitchFamily="34" charset="0"/>
                <a:ea typeface="Calibri" pitchFamily="34" charset="-122"/>
                <a:cs typeface="Calibri" pitchFamily="34" charset="-120"/>
              </a:rPr>
              <a:t>Every rate comes from the shared Masterlist, so two estimators quoting the same welder quote the same figure</a:t>
            </a:r>
            <a:endParaRPr lang="en-US" sz="1350" dirty="0"/>
          </a:p>
          <a:p>
            <a:pPr marL="342900" indent="-342900">
              <a:lnSpc>
                <a:spcPts val="1900"/>
              </a:lnSpc>
              <a:spcAft>
                <a:spcPts val="700"/>
              </a:spcAft>
              <a:buSzPct val="100000"/>
              <a:buChar char="●"/>
            </a:pPr>
            <a:r>
              <a:rPr lang="en-US" sz="1350" dirty="0">
                <a:solidFill>
                  <a:srgbClr val="E6EDF3"/>
                </a:solidFill>
                <a:latin typeface="Calibri" pitchFamily="34" charset="0"/>
                <a:ea typeface="Calibri" pitchFamily="34" charset="-122"/>
                <a:cs typeface="Calibri" pitchFamily="34" charset="-120"/>
              </a:rPr>
              <a:t>The finished CE prints on the official SHIC form, ready for signature</a:t>
            </a:r>
            <a:endParaRPr lang="en-US" sz="1350" dirty="0"/>
          </a:p>
          <a:p>
            <a:pPr marL="342900" indent="-342900">
              <a:lnSpc>
                <a:spcPts val="1900"/>
              </a:lnSpc>
              <a:spcAft>
                <a:spcPts val="700"/>
              </a:spcAft>
              <a:buSzPct val="100000"/>
              <a:buChar char="●"/>
            </a:pPr>
            <a:r>
              <a:rPr lang="en-US" sz="1350" dirty="0">
                <a:solidFill>
                  <a:srgbClr val="E6EDF3"/>
                </a:solidFill>
                <a:latin typeface="Calibri" pitchFamily="34" charset="0"/>
                <a:ea typeface="Calibri" pitchFamily="34" charset="-122"/>
                <a:cs typeface="Calibri" pitchFamily="34" charset="-120"/>
              </a:rPr>
              <a:t>Your work is saved in this browser first, then shared to SharePoint — so a dropped connection never costs you anything</a:t>
            </a:r>
            <a:endParaRPr lang="en-US" sz="1350" dirty="0"/>
          </a:p>
        </p:txBody>
      </p:sp>
      <p:sp>
        <p:nvSpPr>
          <p:cNvPr id="7" name="Shape 5"/>
          <p:cNvSpPr/>
          <p:nvPr/>
        </p:nvSpPr>
        <p:spPr>
          <a:xfrm>
            <a:off x="6446520" y="1408176"/>
            <a:ext cx="5175504" cy="1207008"/>
          </a:xfrm>
          <a:prstGeom prst="roundRect">
            <a:avLst>
              <a:gd name="adj" fmla="val 6061"/>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8" name="Text 6"/>
          <p:cNvSpPr/>
          <p:nvPr/>
        </p:nvSpPr>
        <p:spPr>
          <a:xfrm>
            <a:off x="6675120" y="1554480"/>
            <a:ext cx="1051560" cy="914400"/>
          </a:xfrm>
          <a:prstGeom prst="rect">
            <a:avLst/>
          </a:prstGeom>
          <a:noFill/>
          <a:ln/>
        </p:spPr>
        <p:txBody>
          <a:bodyPr wrap="square" lIns="0" tIns="0" rIns="0" bIns="0" rtlCol="0" anchor="ctr"/>
          <a:lstStyle/>
          <a:p>
            <a:pPr algn="ctr" indent="0" marL="0">
              <a:buNone/>
            </a:pPr>
            <a:r>
              <a:rPr lang="en-US" sz="4000" b="1" dirty="0">
                <a:solidFill>
                  <a:srgbClr val="F0A429"/>
                </a:solidFill>
                <a:latin typeface="Arial" pitchFamily="34" charset="0"/>
                <a:ea typeface="Arial" pitchFamily="34" charset="-122"/>
                <a:cs typeface="Arial" pitchFamily="34" charset="-120"/>
              </a:rPr>
              <a:t>1</a:t>
            </a:r>
            <a:endParaRPr lang="en-US" sz="4000" dirty="0"/>
          </a:p>
        </p:txBody>
      </p:sp>
      <p:sp>
        <p:nvSpPr>
          <p:cNvPr id="9" name="Text 7"/>
          <p:cNvSpPr/>
          <p:nvPr/>
        </p:nvSpPr>
        <p:spPr>
          <a:xfrm>
            <a:off x="7772400" y="1627632"/>
            <a:ext cx="3657600" cy="320040"/>
          </a:xfrm>
          <a:prstGeom prst="rect">
            <a:avLst/>
          </a:prstGeom>
          <a:noFill/>
          <a:ln/>
        </p:spPr>
        <p:txBody>
          <a:bodyPr wrap="square" lIns="0" tIns="0" rIns="0" bIns="0" rtlCol="0" anchor="ctr"/>
          <a:lstStyle/>
          <a:p>
            <a:pPr indent="0" marL="0">
              <a:buNone/>
            </a:pPr>
            <a:r>
              <a:rPr lang="en-US" sz="1500" b="1" dirty="0">
                <a:solidFill>
                  <a:srgbClr val="E6EDF3"/>
                </a:solidFill>
                <a:latin typeface="Arial" pitchFamily="34" charset="0"/>
                <a:ea typeface="Arial" pitchFamily="34" charset="-122"/>
                <a:cs typeface="Arial" pitchFamily="34" charset="-120"/>
              </a:rPr>
              <a:t>CE number</a:t>
            </a:r>
            <a:endParaRPr lang="en-US" sz="1500" dirty="0"/>
          </a:p>
        </p:txBody>
      </p:sp>
      <p:sp>
        <p:nvSpPr>
          <p:cNvPr id="10" name="Text 8"/>
          <p:cNvSpPr/>
          <p:nvPr/>
        </p:nvSpPr>
        <p:spPr>
          <a:xfrm>
            <a:off x="7772400" y="1975104"/>
            <a:ext cx="3657600" cy="50292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per estimate — the app blocks duplicates</a:t>
            </a:r>
            <a:endParaRPr lang="en-US" sz="1150" dirty="0"/>
          </a:p>
        </p:txBody>
      </p:sp>
      <p:sp>
        <p:nvSpPr>
          <p:cNvPr id="11" name="Shape 9"/>
          <p:cNvSpPr/>
          <p:nvPr/>
        </p:nvSpPr>
        <p:spPr>
          <a:xfrm>
            <a:off x="6446520" y="2779776"/>
            <a:ext cx="5175504" cy="1207008"/>
          </a:xfrm>
          <a:prstGeom prst="roundRect">
            <a:avLst>
              <a:gd name="adj" fmla="val 6061"/>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2" name="Text 10"/>
          <p:cNvSpPr/>
          <p:nvPr/>
        </p:nvSpPr>
        <p:spPr>
          <a:xfrm>
            <a:off x="6675120" y="2926080"/>
            <a:ext cx="1051560" cy="914400"/>
          </a:xfrm>
          <a:prstGeom prst="rect">
            <a:avLst/>
          </a:prstGeom>
          <a:noFill/>
          <a:ln/>
        </p:spPr>
        <p:txBody>
          <a:bodyPr wrap="square" lIns="0" tIns="0" rIns="0" bIns="0" rtlCol="0" anchor="ctr"/>
          <a:lstStyle/>
          <a:p>
            <a:pPr algn="ctr" indent="0" marL="0">
              <a:buNone/>
            </a:pPr>
            <a:r>
              <a:rPr lang="en-US" sz="4000" b="1" dirty="0">
                <a:solidFill>
                  <a:srgbClr val="F0A429"/>
                </a:solidFill>
                <a:latin typeface="Arial" pitchFamily="34" charset="0"/>
                <a:ea typeface="Arial" pitchFamily="34" charset="-122"/>
                <a:cs typeface="Arial" pitchFamily="34" charset="-120"/>
              </a:rPr>
              <a:t>9</a:t>
            </a:r>
            <a:endParaRPr lang="en-US" sz="4000" dirty="0"/>
          </a:p>
        </p:txBody>
      </p:sp>
      <p:sp>
        <p:nvSpPr>
          <p:cNvPr id="13" name="Text 11"/>
          <p:cNvSpPr/>
          <p:nvPr/>
        </p:nvSpPr>
        <p:spPr>
          <a:xfrm>
            <a:off x="7772400" y="2999232"/>
            <a:ext cx="3657600" cy="320040"/>
          </a:xfrm>
          <a:prstGeom prst="rect">
            <a:avLst/>
          </a:prstGeom>
          <a:noFill/>
          <a:ln/>
        </p:spPr>
        <p:txBody>
          <a:bodyPr wrap="square" lIns="0" tIns="0" rIns="0" bIns="0" rtlCol="0" anchor="ctr"/>
          <a:lstStyle/>
          <a:p>
            <a:pPr indent="0" marL="0">
              <a:buNone/>
            </a:pPr>
            <a:r>
              <a:rPr lang="en-US" sz="1500" b="1" dirty="0">
                <a:solidFill>
                  <a:srgbClr val="E6EDF3"/>
                </a:solidFill>
                <a:latin typeface="Arial" pitchFamily="34" charset="0"/>
                <a:ea typeface="Arial" pitchFamily="34" charset="-122"/>
                <a:cs typeface="Arial" pitchFamily="34" charset="-120"/>
              </a:rPr>
              <a:t>tabs</a:t>
            </a:r>
            <a:endParaRPr lang="en-US" sz="1500" dirty="0"/>
          </a:p>
        </p:txBody>
      </p:sp>
      <p:sp>
        <p:nvSpPr>
          <p:cNvPr id="14" name="Text 12"/>
          <p:cNvSpPr/>
          <p:nvPr/>
        </p:nvSpPr>
        <p:spPr>
          <a:xfrm>
            <a:off x="7772400" y="3346704"/>
            <a:ext cx="3657600" cy="50292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left to right, in the order you work</a:t>
            </a:r>
            <a:endParaRPr lang="en-US" sz="1150" dirty="0"/>
          </a:p>
        </p:txBody>
      </p:sp>
      <p:sp>
        <p:nvSpPr>
          <p:cNvPr id="15" name="Shape 13"/>
          <p:cNvSpPr/>
          <p:nvPr/>
        </p:nvSpPr>
        <p:spPr>
          <a:xfrm>
            <a:off x="6446520" y="4151376"/>
            <a:ext cx="5175504" cy="1207008"/>
          </a:xfrm>
          <a:prstGeom prst="roundRect">
            <a:avLst>
              <a:gd name="adj" fmla="val 6061"/>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6675120" y="4297680"/>
            <a:ext cx="1051560" cy="914400"/>
          </a:xfrm>
          <a:prstGeom prst="rect">
            <a:avLst/>
          </a:prstGeom>
          <a:noFill/>
          <a:ln/>
        </p:spPr>
        <p:txBody>
          <a:bodyPr wrap="square" lIns="0" tIns="0" rIns="0" bIns="0" rtlCol="0" anchor="ctr"/>
          <a:lstStyle/>
          <a:p>
            <a:pPr algn="ctr" indent="0" marL="0">
              <a:buNone/>
            </a:pPr>
            <a:r>
              <a:rPr lang="en-US" sz="4000" b="1" dirty="0">
                <a:solidFill>
                  <a:srgbClr val="F0A429"/>
                </a:solidFill>
                <a:latin typeface="Arial" pitchFamily="34" charset="0"/>
                <a:ea typeface="Arial" pitchFamily="34" charset="-122"/>
                <a:cs typeface="Arial" pitchFamily="34" charset="-120"/>
              </a:rPr>
              <a:t>0</a:t>
            </a:r>
            <a:endParaRPr lang="en-US" sz="4000" dirty="0"/>
          </a:p>
        </p:txBody>
      </p:sp>
      <p:sp>
        <p:nvSpPr>
          <p:cNvPr id="17" name="Text 15"/>
          <p:cNvSpPr/>
          <p:nvPr/>
        </p:nvSpPr>
        <p:spPr>
          <a:xfrm>
            <a:off x="7772400" y="4370832"/>
            <a:ext cx="3657600" cy="320040"/>
          </a:xfrm>
          <a:prstGeom prst="rect">
            <a:avLst/>
          </a:prstGeom>
          <a:noFill/>
          <a:ln/>
        </p:spPr>
        <p:txBody>
          <a:bodyPr wrap="square" lIns="0" tIns="0" rIns="0" bIns="0" rtlCol="0" anchor="ctr"/>
          <a:lstStyle/>
          <a:p>
            <a:pPr indent="0" marL="0">
              <a:buNone/>
            </a:pPr>
            <a:r>
              <a:rPr lang="en-US" sz="1500" b="1" dirty="0">
                <a:solidFill>
                  <a:srgbClr val="E6EDF3"/>
                </a:solidFill>
                <a:latin typeface="Arial" pitchFamily="34" charset="0"/>
                <a:ea typeface="Arial" pitchFamily="34" charset="-122"/>
                <a:cs typeface="Arial" pitchFamily="34" charset="-120"/>
              </a:rPr>
              <a:t>manual maths</a:t>
            </a:r>
            <a:endParaRPr lang="en-US" sz="1500" dirty="0"/>
          </a:p>
        </p:txBody>
      </p:sp>
      <p:sp>
        <p:nvSpPr>
          <p:cNvPr id="18" name="Text 16"/>
          <p:cNvSpPr/>
          <p:nvPr/>
        </p:nvSpPr>
        <p:spPr>
          <a:xfrm>
            <a:off x="7772400" y="4718304"/>
            <a:ext cx="3657600" cy="50292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benefits, OT and margin are computed</a:t>
            </a:r>
            <a:endParaRPr lang="en-US" sz="1150" dirty="0"/>
          </a:p>
        </p:txBody>
      </p:sp>
      <p:sp>
        <p:nvSpPr>
          <p:cNvPr id="19" name="Text 17"/>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20" name="Text 18"/>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WHAT'S NEW · BUILDS 242–339</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changed since v3</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About a hundred changes, grouped. The slides that follow cover each one where it fits the workflow.</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Working in the app</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Tabs sit under three headings: Workspace, Estimate and Libraries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Your initials (top right) open the account menu: theme, password, signature, AI key, sign out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Live Totals show on the Estimate tabs only, and fold to a strip</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saved CE stays editable until it is routed for approval</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Calculators on Materials work out quantities for babbitt, painting and welding</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Test mode: try the app where nothing is real</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The register and the paperwork</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New statuses: Sourcing, Waiting for Information and For site Inspection; Awarded for won work</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Requests carry the RCE checklist and the papers; Cost Estimation reviews them</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Resume Work holds work in progress again, and can be cleared in one go</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Import list works on Materials and PPE; a list can go through Excel and back</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tool a job destroys can be charged whole, on Tier 4</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ORIENTATION</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tabs are the workflow</a:t>
            </a:r>
            <a:endParaRPr lang="en-US" sz="3200" dirty="0"/>
          </a:p>
        </p:txBody>
      </p:sp>
      <p:sp>
        <p:nvSpPr>
          <p:cNvPr id="4" name="Text 2"/>
          <p:cNvSpPr/>
          <p:nvPr/>
        </p:nvSpPr>
        <p:spPr>
          <a:xfrm>
            <a:off x="566928" y="1298448"/>
            <a:ext cx="1088136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 app opens on 🏠 My Work. Tabs sit under three headings; Estimate holds these steps. Work them left to right, each assumes the one before it.</a:t>
            </a:r>
            <a:endParaRPr lang="en-US" sz="1400" dirty="0"/>
          </a:p>
        </p:txBody>
      </p:sp>
      <p:sp>
        <p:nvSpPr>
          <p:cNvPr id="5" name="Shape 3"/>
          <p:cNvSpPr/>
          <p:nvPr/>
        </p:nvSpPr>
        <p:spPr>
          <a:xfrm>
            <a:off x="566928" y="186537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6" name="Text 4"/>
          <p:cNvSpPr/>
          <p:nvPr/>
        </p:nvSpPr>
        <p:spPr>
          <a:xfrm>
            <a:off x="566928"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7" name="Text 5"/>
          <p:cNvSpPr/>
          <p:nvPr/>
        </p:nvSpPr>
        <p:spPr>
          <a:xfrm>
            <a:off x="1795272"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8" name="Text 6"/>
          <p:cNvSpPr/>
          <p:nvPr/>
        </p:nvSpPr>
        <p:spPr>
          <a:xfrm>
            <a:off x="3023616"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9" name="Text 7"/>
          <p:cNvSpPr/>
          <p:nvPr/>
        </p:nvSpPr>
        <p:spPr>
          <a:xfrm>
            <a:off x="4251960"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10" name="Text 8"/>
          <p:cNvSpPr/>
          <p:nvPr/>
        </p:nvSpPr>
        <p:spPr>
          <a:xfrm>
            <a:off x="5480304"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91109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642616"/>
            <a:ext cx="2633472"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Shape 14"/>
          <p:cNvSpPr/>
          <p:nvPr/>
        </p:nvSpPr>
        <p:spPr>
          <a:xfrm>
            <a:off x="768096" y="2843784"/>
            <a:ext cx="384048" cy="384048"/>
          </a:xfrm>
          <a:prstGeom prst="ellipse">
            <a:avLst/>
          </a:prstGeom>
          <a:solidFill>
            <a:srgbClr val="F0A429"/>
          </a:solidFill>
          <a:ln w="12700">
            <a:solidFill>
              <a:srgbClr val="F0A429"/>
            </a:solidFill>
            <a:prstDash val="solid"/>
          </a:ln>
        </p:spPr>
        <p:txBody>
          <a:bodyPr/>
          <a:p/>
        </p:txBody>
      </p:sp>
      <p:sp>
        <p:nvSpPr>
          <p:cNvPr id="17" name="Text 15"/>
          <p:cNvSpPr/>
          <p:nvPr/>
        </p:nvSpPr>
        <p:spPr>
          <a:xfrm>
            <a:off x="768096" y="2843784"/>
            <a:ext cx="384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18" name="Text 16"/>
          <p:cNvSpPr/>
          <p:nvPr/>
        </p:nvSpPr>
        <p:spPr>
          <a:xfrm>
            <a:off x="1243584" y="2825496"/>
            <a:ext cx="1828800" cy="420624"/>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Project Info</a:t>
            </a:r>
            <a:endParaRPr lang="en-US" sz="1350" dirty="0"/>
          </a:p>
        </p:txBody>
      </p:sp>
      <p:sp>
        <p:nvSpPr>
          <p:cNvPr id="19" name="Text 17"/>
          <p:cNvSpPr/>
          <p:nvPr/>
        </p:nvSpPr>
        <p:spPr>
          <a:xfrm>
            <a:off x="768096" y="3337560"/>
            <a:ext cx="228600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Who it is for, what it is, how many, how long</a:t>
            </a:r>
            <a:endParaRPr lang="en-US" sz="1100" dirty="0"/>
          </a:p>
        </p:txBody>
      </p:sp>
      <p:sp>
        <p:nvSpPr>
          <p:cNvPr id="20" name="Shape 18"/>
          <p:cNvSpPr/>
          <p:nvPr/>
        </p:nvSpPr>
        <p:spPr>
          <a:xfrm>
            <a:off x="3383280" y="2642616"/>
            <a:ext cx="2633472"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1" name="Shape 19"/>
          <p:cNvSpPr/>
          <p:nvPr/>
        </p:nvSpPr>
        <p:spPr>
          <a:xfrm>
            <a:off x="3584448" y="2843784"/>
            <a:ext cx="384048" cy="384048"/>
          </a:xfrm>
          <a:prstGeom prst="ellipse">
            <a:avLst/>
          </a:prstGeom>
          <a:solidFill>
            <a:srgbClr val="F0A429"/>
          </a:solidFill>
          <a:ln w="12700">
            <a:solidFill>
              <a:srgbClr val="F0A429"/>
            </a:solidFill>
            <a:prstDash val="solid"/>
          </a:ln>
        </p:spPr>
        <p:txBody>
          <a:bodyPr/>
          <a:p/>
        </p:txBody>
      </p:sp>
      <p:sp>
        <p:nvSpPr>
          <p:cNvPr id="22" name="Text 20"/>
          <p:cNvSpPr/>
          <p:nvPr/>
        </p:nvSpPr>
        <p:spPr>
          <a:xfrm>
            <a:off x="3584448" y="2843784"/>
            <a:ext cx="384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23" name="Text 21"/>
          <p:cNvSpPr/>
          <p:nvPr/>
        </p:nvSpPr>
        <p:spPr>
          <a:xfrm>
            <a:off x="4059936" y="2825496"/>
            <a:ext cx="1828800" cy="420624"/>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Scope of Work</a:t>
            </a:r>
            <a:endParaRPr lang="en-US" sz="1350" dirty="0"/>
          </a:p>
        </p:txBody>
      </p:sp>
      <p:sp>
        <p:nvSpPr>
          <p:cNvPr id="24" name="Text 22"/>
          <p:cNvSpPr/>
          <p:nvPr/>
        </p:nvSpPr>
        <p:spPr>
          <a:xfrm>
            <a:off x="3584448" y="3337560"/>
            <a:ext cx="228600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The numbered steps of the job</a:t>
            </a:r>
            <a:endParaRPr lang="en-US" sz="1100" dirty="0"/>
          </a:p>
        </p:txBody>
      </p:sp>
      <p:sp>
        <p:nvSpPr>
          <p:cNvPr id="25" name="Shape 23"/>
          <p:cNvSpPr/>
          <p:nvPr/>
        </p:nvSpPr>
        <p:spPr>
          <a:xfrm>
            <a:off x="6199632" y="2642616"/>
            <a:ext cx="2633472"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6" name="Shape 24"/>
          <p:cNvSpPr/>
          <p:nvPr/>
        </p:nvSpPr>
        <p:spPr>
          <a:xfrm>
            <a:off x="6400800" y="2843784"/>
            <a:ext cx="384048" cy="384048"/>
          </a:xfrm>
          <a:prstGeom prst="ellipse">
            <a:avLst/>
          </a:prstGeom>
          <a:solidFill>
            <a:srgbClr val="F0A429"/>
          </a:solidFill>
          <a:ln w="12700">
            <a:solidFill>
              <a:srgbClr val="F0A429"/>
            </a:solidFill>
            <a:prstDash val="solid"/>
          </a:ln>
        </p:spPr>
        <p:txBody>
          <a:bodyPr/>
          <a:p/>
        </p:txBody>
      </p:sp>
      <p:sp>
        <p:nvSpPr>
          <p:cNvPr id="27" name="Text 25"/>
          <p:cNvSpPr/>
          <p:nvPr/>
        </p:nvSpPr>
        <p:spPr>
          <a:xfrm>
            <a:off x="6400800" y="2843784"/>
            <a:ext cx="384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8" name="Text 26"/>
          <p:cNvSpPr/>
          <p:nvPr/>
        </p:nvSpPr>
        <p:spPr>
          <a:xfrm>
            <a:off x="6876288" y="2825496"/>
            <a:ext cx="1828800" cy="420624"/>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SOW Breakdown</a:t>
            </a:r>
            <a:endParaRPr lang="en-US" sz="1350" dirty="0"/>
          </a:p>
        </p:txBody>
      </p:sp>
      <p:sp>
        <p:nvSpPr>
          <p:cNvPr id="29" name="Text 27"/>
          <p:cNvSpPr/>
          <p:nvPr/>
        </p:nvSpPr>
        <p:spPr>
          <a:xfrm>
            <a:off x="6400800" y="3337560"/>
            <a:ext cx="228600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What each step needs — and what it costs</a:t>
            </a:r>
            <a:endParaRPr lang="en-US" sz="1100" dirty="0"/>
          </a:p>
        </p:txBody>
      </p:sp>
      <p:sp>
        <p:nvSpPr>
          <p:cNvPr id="30" name="Shape 28"/>
          <p:cNvSpPr/>
          <p:nvPr/>
        </p:nvSpPr>
        <p:spPr>
          <a:xfrm>
            <a:off x="9015984" y="2642616"/>
            <a:ext cx="2633472"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Shape 29"/>
          <p:cNvSpPr/>
          <p:nvPr/>
        </p:nvSpPr>
        <p:spPr>
          <a:xfrm>
            <a:off x="9217152" y="2843784"/>
            <a:ext cx="384048" cy="384048"/>
          </a:xfrm>
          <a:prstGeom prst="ellipse">
            <a:avLst/>
          </a:prstGeom>
          <a:solidFill>
            <a:srgbClr val="F0A429"/>
          </a:solidFill>
          <a:ln w="12700">
            <a:solidFill>
              <a:srgbClr val="F0A429"/>
            </a:solidFill>
            <a:prstDash val="solid"/>
          </a:ln>
        </p:spPr>
        <p:txBody>
          <a:bodyPr/>
          <a:p/>
        </p:txBody>
      </p:sp>
      <p:sp>
        <p:nvSpPr>
          <p:cNvPr id="32" name="Text 30"/>
          <p:cNvSpPr/>
          <p:nvPr/>
        </p:nvSpPr>
        <p:spPr>
          <a:xfrm>
            <a:off x="9217152" y="2843784"/>
            <a:ext cx="384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33" name="Text 31"/>
          <p:cNvSpPr/>
          <p:nvPr/>
        </p:nvSpPr>
        <p:spPr>
          <a:xfrm>
            <a:off x="9692640" y="2825496"/>
            <a:ext cx="1828800" cy="420624"/>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Manpower</a:t>
            </a:r>
            <a:endParaRPr lang="en-US" sz="1350" dirty="0"/>
          </a:p>
        </p:txBody>
      </p:sp>
      <p:sp>
        <p:nvSpPr>
          <p:cNvPr id="34" name="Text 32"/>
          <p:cNvSpPr/>
          <p:nvPr/>
        </p:nvSpPr>
        <p:spPr>
          <a:xfrm>
            <a:off x="9217152" y="3337560"/>
            <a:ext cx="228600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People, days, shifts, overtime</a:t>
            </a:r>
            <a:endParaRPr lang="en-US" sz="1100" dirty="0"/>
          </a:p>
        </p:txBody>
      </p:sp>
      <p:sp>
        <p:nvSpPr>
          <p:cNvPr id="35" name="Shape 33"/>
          <p:cNvSpPr/>
          <p:nvPr/>
        </p:nvSpPr>
        <p:spPr>
          <a:xfrm>
            <a:off x="566928" y="4334256"/>
            <a:ext cx="2633472"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6" name="Shape 34"/>
          <p:cNvSpPr/>
          <p:nvPr/>
        </p:nvSpPr>
        <p:spPr>
          <a:xfrm>
            <a:off x="768096" y="4535424"/>
            <a:ext cx="384048" cy="384048"/>
          </a:xfrm>
          <a:prstGeom prst="ellipse">
            <a:avLst/>
          </a:prstGeom>
          <a:solidFill>
            <a:srgbClr val="F0A429"/>
          </a:solidFill>
          <a:ln w="12700">
            <a:solidFill>
              <a:srgbClr val="F0A429"/>
            </a:solidFill>
            <a:prstDash val="solid"/>
          </a:ln>
        </p:spPr>
        <p:txBody>
          <a:bodyPr/>
          <a:p/>
        </p:txBody>
      </p:sp>
      <p:sp>
        <p:nvSpPr>
          <p:cNvPr id="37" name="Text 35"/>
          <p:cNvSpPr/>
          <p:nvPr/>
        </p:nvSpPr>
        <p:spPr>
          <a:xfrm>
            <a:off x="768096" y="4535424"/>
            <a:ext cx="384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5</a:t>
            </a:r>
            <a:endParaRPr lang="en-US" sz="1300" dirty="0"/>
          </a:p>
        </p:txBody>
      </p:sp>
      <p:sp>
        <p:nvSpPr>
          <p:cNvPr id="38" name="Text 36"/>
          <p:cNvSpPr/>
          <p:nvPr/>
        </p:nvSpPr>
        <p:spPr>
          <a:xfrm>
            <a:off x="1243584" y="4517136"/>
            <a:ext cx="1828800" cy="420624"/>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Resources</a:t>
            </a:r>
            <a:endParaRPr lang="en-US" sz="1350" dirty="0"/>
          </a:p>
        </p:txBody>
      </p:sp>
      <p:sp>
        <p:nvSpPr>
          <p:cNvPr id="39" name="Text 37"/>
          <p:cNvSpPr/>
          <p:nvPr/>
        </p:nvSpPr>
        <p:spPr>
          <a:xfrm>
            <a:off x="768096" y="5029200"/>
            <a:ext cx="228600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Tools &amp; Equipment, Materials and PPE</a:t>
            </a:r>
            <a:endParaRPr lang="en-US" sz="1100" dirty="0"/>
          </a:p>
        </p:txBody>
      </p:sp>
      <p:sp>
        <p:nvSpPr>
          <p:cNvPr id="40" name="Shape 38"/>
          <p:cNvSpPr/>
          <p:nvPr/>
        </p:nvSpPr>
        <p:spPr>
          <a:xfrm>
            <a:off x="3383280" y="4334256"/>
            <a:ext cx="2633472"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1" name="Shape 39"/>
          <p:cNvSpPr/>
          <p:nvPr/>
        </p:nvSpPr>
        <p:spPr>
          <a:xfrm>
            <a:off x="3584448" y="4535424"/>
            <a:ext cx="384048" cy="384048"/>
          </a:xfrm>
          <a:prstGeom prst="ellipse">
            <a:avLst/>
          </a:prstGeom>
          <a:solidFill>
            <a:srgbClr val="F0A429"/>
          </a:solidFill>
          <a:ln w="12700">
            <a:solidFill>
              <a:srgbClr val="F0A429"/>
            </a:solidFill>
            <a:prstDash val="solid"/>
          </a:ln>
        </p:spPr>
        <p:txBody>
          <a:bodyPr/>
          <a:p/>
        </p:txBody>
      </p:sp>
      <p:sp>
        <p:nvSpPr>
          <p:cNvPr id="42" name="Text 40"/>
          <p:cNvSpPr/>
          <p:nvPr/>
        </p:nvSpPr>
        <p:spPr>
          <a:xfrm>
            <a:off x="3584448" y="4535424"/>
            <a:ext cx="384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6</a:t>
            </a:r>
            <a:endParaRPr lang="en-US" sz="1300" dirty="0"/>
          </a:p>
        </p:txBody>
      </p:sp>
      <p:sp>
        <p:nvSpPr>
          <p:cNvPr id="43" name="Text 41"/>
          <p:cNvSpPr/>
          <p:nvPr/>
        </p:nvSpPr>
        <p:spPr>
          <a:xfrm>
            <a:off x="4059936" y="4517136"/>
            <a:ext cx="1828800" cy="420624"/>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Miscellaneous</a:t>
            </a:r>
            <a:endParaRPr lang="en-US" sz="1350" dirty="0"/>
          </a:p>
        </p:txBody>
      </p:sp>
      <p:sp>
        <p:nvSpPr>
          <p:cNvPr id="44" name="Text 42"/>
          <p:cNvSpPr/>
          <p:nvPr/>
        </p:nvSpPr>
        <p:spPr>
          <a:xfrm>
            <a:off x="3584448" y="5029200"/>
            <a:ext cx="228600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Accommodation, transport, admin, insurance</a:t>
            </a:r>
            <a:endParaRPr lang="en-US" sz="1100" dirty="0"/>
          </a:p>
        </p:txBody>
      </p:sp>
      <p:sp>
        <p:nvSpPr>
          <p:cNvPr id="45" name="Shape 43"/>
          <p:cNvSpPr/>
          <p:nvPr/>
        </p:nvSpPr>
        <p:spPr>
          <a:xfrm>
            <a:off x="6199632" y="4334256"/>
            <a:ext cx="2633472"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6" name="Shape 44"/>
          <p:cNvSpPr/>
          <p:nvPr/>
        </p:nvSpPr>
        <p:spPr>
          <a:xfrm>
            <a:off x="6400800" y="4535424"/>
            <a:ext cx="384048" cy="384048"/>
          </a:xfrm>
          <a:prstGeom prst="ellipse">
            <a:avLst/>
          </a:prstGeom>
          <a:solidFill>
            <a:srgbClr val="F0A429"/>
          </a:solidFill>
          <a:ln w="12700">
            <a:solidFill>
              <a:srgbClr val="F0A429"/>
            </a:solidFill>
            <a:prstDash val="solid"/>
          </a:ln>
        </p:spPr>
        <p:txBody>
          <a:bodyPr/>
          <a:p/>
        </p:txBody>
      </p:sp>
      <p:sp>
        <p:nvSpPr>
          <p:cNvPr id="47" name="Text 45"/>
          <p:cNvSpPr/>
          <p:nvPr/>
        </p:nvSpPr>
        <p:spPr>
          <a:xfrm>
            <a:off x="6400800" y="4535424"/>
            <a:ext cx="384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7</a:t>
            </a:r>
            <a:endParaRPr lang="en-US" sz="1300" dirty="0"/>
          </a:p>
        </p:txBody>
      </p:sp>
      <p:sp>
        <p:nvSpPr>
          <p:cNvPr id="48" name="Text 46"/>
          <p:cNvSpPr/>
          <p:nvPr/>
        </p:nvSpPr>
        <p:spPr>
          <a:xfrm>
            <a:off x="6876288" y="4517136"/>
            <a:ext cx="1828800" cy="420624"/>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Summary</a:t>
            </a:r>
            <a:endParaRPr lang="en-US" sz="1350" dirty="0"/>
          </a:p>
        </p:txBody>
      </p:sp>
      <p:sp>
        <p:nvSpPr>
          <p:cNvPr id="49" name="Text 47"/>
          <p:cNvSpPr/>
          <p:nvPr/>
        </p:nvSpPr>
        <p:spPr>
          <a:xfrm>
            <a:off x="6400800" y="5029200"/>
            <a:ext cx="228600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Margin, notes, signatories</a:t>
            </a:r>
            <a:endParaRPr lang="en-US" sz="1100" dirty="0"/>
          </a:p>
        </p:txBody>
      </p:sp>
      <p:sp>
        <p:nvSpPr>
          <p:cNvPr id="50" name="Shape 48"/>
          <p:cNvSpPr/>
          <p:nvPr/>
        </p:nvSpPr>
        <p:spPr>
          <a:xfrm>
            <a:off x="9015984" y="4334256"/>
            <a:ext cx="2633472"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51" name="Shape 49"/>
          <p:cNvSpPr/>
          <p:nvPr/>
        </p:nvSpPr>
        <p:spPr>
          <a:xfrm>
            <a:off x="9217152" y="4535424"/>
            <a:ext cx="384048" cy="384048"/>
          </a:xfrm>
          <a:prstGeom prst="ellipse">
            <a:avLst/>
          </a:prstGeom>
          <a:solidFill>
            <a:srgbClr val="F0A429"/>
          </a:solidFill>
          <a:ln w="12700">
            <a:solidFill>
              <a:srgbClr val="F0A429"/>
            </a:solidFill>
            <a:prstDash val="solid"/>
          </a:ln>
        </p:spPr>
        <p:txBody>
          <a:bodyPr/>
          <a:p/>
        </p:txBody>
      </p:sp>
      <p:sp>
        <p:nvSpPr>
          <p:cNvPr id="52" name="Text 50"/>
          <p:cNvSpPr/>
          <p:nvPr/>
        </p:nvSpPr>
        <p:spPr>
          <a:xfrm>
            <a:off x="9217152" y="4535424"/>
            <a:ext cx="384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8</a:t>
            </a:r>
            <a:endParaRPr lang="en-US" sz="1300" dirty="0"/>
          </a:p>
        </p:txBody>
      </p:sp>
      <p:sp>
        <p:nvSpPr>
          <p:cNvPr id="53" name="Text 51"/>
          <p:cNvSpPr/>
          <p:nvPr/>
        </p:nvSpPr>
        <p:spPr>
          <a:xfrm>
            <a:off x="9692640" y="4517136"/>
            <a:ext cx="1828800" cy="420624"/>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Save &amp; Generate</a:t>
            </a:r>
            <a:endParaRPr lang="en-US" sz="1350" dirty="0"/>
          </a:p>
        </p:txBody>
      </p:sp>
      <p:sp>
        <p:nvSpPr>
          <p:cNvPr id="54" name="Text 52"/>
          <p:cNvSpPr/>
          <p:nvPr/>
        </p:nvSpPr>
        <p:spPr>
          <a:xfrm>
            <a:off x="9217152" y="5029200"/>
            <a:ext cx="228600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Check CE, save, print the form</a:t>
            </a:r>
            <a:endParaRPr lang="en-US" sz="1100" dirty="0"/>
          </a:p>
        </p:txBody>
      </p:sp>
      <p:sp>
        <p:nvSpPr>
          <p:cNvPr id="55" name="Text 53"/>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56" name="Text 54"/>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ORIENTATION · FINDING YOUR WAY</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headings, one menu, one panel</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 top of the screen was reorganised so it fits a tablet without scrolling sideways.</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The three headings</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Workspace: My Work, CE Monitoring, Dashboard, and Users for admins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Estimate: the nine numbered steps, Project Info to Summary</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Libraries: Scope Library and Masterlist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Each heading remembers the tab you last used in it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red number shows on Workspace when something waits on you while you are in another heading</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The menu and Live Totals</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Your initials, top right, open the menu: Theme, Password, My Signature, Set AI Key, Sign Out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red dot on the initials means no AI key is set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Live Totals sit beside the Estimate tabs. Press › to fold them to a strip that keeps the grand total</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 a narrow screen the totals stack under the work</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The SharePoint sign-in prompt stays in the top bar, where it cannot be missed</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START HERE · MY WORK</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Everything waiting on you</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 first tab, and where the app opens. A red number on the tab — and in the window title — counts what waits on you, from any tab.</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The numbers across the top</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Awaiting my signature — approvals routed to you</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Open CEs assigned — with how many are overdue or due within 3 days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Returned to me — CEs an approver sent back</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Submitted this month, with value · On-time rate (red under 80%) · Won this year (Awarded)</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The lists</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For my approval — 👁 View, then Approve &amp; Sign or Return</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Returned to me — Load it, fix it, submit again</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My open CEs — most urgent first, with the deadline countdown</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My drafts — Resume · ⏳ My CEs in approval — who it waits on</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new item mid-session pops up a notice; the badge always matches the lists</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BEFORE YOU START</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Getting in</a:t>
            </a:r>
            <a:endParaRPr lang="en-US" sz="3200" dirty="0"/>
          </a:p>
        </p:txBody>
      </p:sp>
      <p:sp>
        <p:nvSpPr>
          <p:cNvPr id="4" name="Shape 2"/>
          <p:cNvSpPr/>
          <p:nvPr/>
        </p:nvSpPr>
        <p:spPr>
          <a:xfrm>
            <a:off x="566928" y="1408176"/>
            <a:ext cx="6949440" cy="914400"/>
          </a:xfrm>
          <a:prstGeom prst="roundRect">
            <a:avLst>
              <a:gd name="adj" fmla="val 8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5" name="Shape 3"/>
          <p:cNvSpPr/>
          <p:nvPr/>
        </p:nvSpPr>
        <p:spPr>
          <a:xfrm>
            <a:off x="786384" y="1664208"/>
            <a:ext cx="402336" cy="402336"/>
          </a:xfrm>
          <a:prstGeom prst="ellipse">
            <a:avLst/>
          </a:prstGeom>
          <a:solidFill>
            <a:srgbClr val="F0A429"/>
          </a:solidFill>
          <a:ln w="12700">
            <a:solidFill>
              <a:srgbClr val="F0A429"/>
            </a:solidFill>
            <a:prstDash val="solid"/>
          </a:ln>
        </p:spPr>
        <p:txBody>
          <a:bodyPr/>
          <a:p/>
        </p:txBody>
      </p:sp>
      <p:sp>
        <p:nvSpPr>
          <p:cNvPr id="6" name="Text 4"/>
          <p:cNvSpPr/>
          <p:nvPr/>
        </p:nvSpPr>
        <p:spPr>
          <a:xfrm>
            <a:off x="786384" y="1664208"/>
            <a:ext cx="402336" cy="402336"/>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7" name="Text 5"/>
          <p:cNvSpPr/>
          <p:nvPr/>
        </p:nvSpPr>
        <p:spPr>
          <a:xfrm>
            <a:off x="1353312" y="1527048"/>
            <a:ext cx="5852160" cy="310896"/>
          </a:xfrm>
          <a:prstGeom prst="rect">
            <a:avLst/>
          </a:prstGeom>
          <a:noFill/>
          <a:ln/>
        </p:spPr>
        <p:txBody>
          <a:bodyPr wrap="square" lIns="0" tIns="0" rIns="0" bIns="0" rtlCol="0" anchor="ctr"/>
          <a:lstStyle/>
          <a:p>
            <a:pPr indent="0" marL="0">
              <a:buNone/>
            </a:pPr>
            <a:r>
              <a:rPr lang="en-US" sz="1450" b="1" dirty="0">
                <a:solidFill>
                  <a:srgbClr val="E6EDF3"/>
                </a:solidFill>
                <a:latin typeface="Arial" pitchFamily="34" charset="0"/>
                <a:ea typeface="Arial" pitchFamily="34" charset="-122"/>
                <a:cs typeface="Arial" pitchFamily="34" charset="-120"/>
              </a:rPr>
              <a:t>Request access</a:t>
            </a:r>
            <a:endParaRPr lang="en-US" sz="1450" dirty="0"/>
          </a:p>
        </p:txBody>
      </p:sp>
      <p:sp>
        <p:nvSpPr>
          <p:cNvPr id="8" name="Text 6"/>
          <p:cNvSpPr/>
          <p:nvPr/>
        </p:nvSpPr>
        <p:spPr>
          <a:xfrm>
            <a:off x="1353312" y="1837944"/>
            <a:ext cx="5943600" cy="420624"/>
          </a:xfrm>
          <a:prstGeom prst="rect">
            <a:avLst/>
          </a:prstGeom>
          <a:noFill/>
          <a:ln/>
        </p:spPr>
        <p:txBody>
          <a:bodyPr wrap="square" lIns="0" tIns="0" rIns="0" bIns="0" rtlCol="0" anchor="ctr"/>
          <a:lstStyle/>
          <a:p>
            <a:pPr indent="0" marL="0">
              <a:lnSpc>
                <a:spcPts val="1450"/>
              </a:lnSpc>
              <a:buNone/>
            </a:pPr>
            <a:r>
              <a:rPr lang="en-US" sz="1150" dirty="0">
                <a:solidFill>
                  <a:srgbClr val="9AA4AF"/>
                </a:solidFill>
                <a:latin typeface="Calibri" pitchFamily="34" charset="0"/>
                <a:ea typeface="Calibri" pitchFamily="34" charset="-122"/>
                <a:cs typeface="Calibri" pitchFamily="34" charset="-120"/>
              </a:rPr>
              <a:t>On the sign-in page choose Request Access. Fill in your name, a username and a password.</a:t>
            </a:r>
            <a:endParaRPr lang="en-US" sz="1150" dirty="0"/>
          </a:p>
        </p:txBody>
      </p:sp>
      <p:sp>
        <p:nvSpPr>
          <p:cNvPr id="9" name="Shape 7"/>
          <p:cNvSpPr/>
          <p:nvPr/>
        </p:nvSpPr>
        <p:spPr>
          <a:xfrm>
            <a:off x="566928" y="2450592"/>
            <a:ext cx="6949440" cy="914400"/>
          </a:xfrm>
          <a:prstGeom prst="roundRect">
            <a:avLst>
              <a:gd name="adj" fmla="val 8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0" name="Shape 8"/>
          <p:cNvSpPr/>
          <p:nvPr/>
        </p:nvSpPr>
        <p:spPr>
          <a:xfrm>
            <a:off x="786384" y="2706624"/>
            <a:ext cx="402336" cy="402336"/>
          </a:xfrm>
          <a:prstGeom prst="ellipse">
            <a:avLst/>
          </a:prstGeom>
          <a:solidFill>
            <a:srgbClr val="F0A429"/>
          </a:solidFill>
          <a:ln w="12700">
            <a:solidFill>
              <a:srgbClr val="F0A429"/>
            </a:solidFill>
            <a:prstDash val="solid"/>
          </a:ln>
        </p:spPr>
        <p:txBody>
          <a:bodyPr/>
          <a:p/>
        </p:txBody>
      </p:sp>
      <p:sp>
        <p:nvSpPr>
          <p:cNvPr id="11" name="Text 9"/>
          <p:cNvSpPr/>
          <p:nvPr/>
        </p:nvSpPr>
        <p:spPr>
          <a:xfrm>
            <a:off x="786384" y="2706624"/>
            <a:ext cx="402336" cy="402336"/>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353312" y="2569464"/>
            <a:ext cx="5852160" cy="310896"/>
          </a:xfrm>
          <a:prstGeom prst="rect">
            <a:avLst/>
          </a:prstGeom>
          <a:noFill/>
          <a:ln/>
        </p:spPr>
        <p:txBody>
          <a:bodyPr wrap="square" lIns="0" tIns="0" rIns="0" bIns="0" rtlCol="0" anchor="ctr"/>
          <a:lstStyle/>
          <a:p>
            <a:pPr indent="0" marL="0">
              <a:buNone/>
            </a:pPr>
            <a:r>
              <a:rPr lang="en-US" sz="1450" b="1" dirty="0">
                <a:solidFill>
                  <a:srgbClr val="E6EDF3"/>
                </a:solidFill>
                <a:latin typeface="Arial" pitchFamily="34" charset="0"/>
                <a:ea typeface="Arial" pitchFamily="34" charset="-122"/>
                <a:cs typeface="Arial" pitchFamily="34" charset="-120"/>
              </a:rPr>
              <a:t>Wait for approval</a:t>
            </a:r>
            <a:endParaRPr lang="en-US" sz="1450" dirty="0"/>
          </a:p>
        </p:txBody>
      </p:sp>
      <p:sp>
        <p:nvSpPr>
          <p:cNvPr id="13" name="Text 11"/>
          <p:cNvSpPr/>
          <p:nvPr/>
        </p:nvSpPr>
        <p:spPr>
          <a:xfrm>
            <a:off x="1353312" y="2880360"/>
            <a:ext cx="5943600" cy="420624"/>
          </a:xfrm>
          <a:prstGeom prst="rect">
            <a:avLst/>
          </a:prstGeom>
          <a:noFill/>
          <a:ln/>
        </p:spPr>
        <p:txBody>
          <a:bodyPr wrap="square" lIns="0" tIns="0" rIns="0" bIns="0" rtlCol="0" anchor="ctr"/>
          <a:lstStyle/>
          <a:p>
            <a:pPr indent="0" marL="0">
              <a:lnSpc>
                <a:spcPts val="1450"/>
              </a:lnSpc>
              <a:buNone/>
            </a:pPr>
            <a:r>
              <a:rPr lang="en-US" sz="1150" dirty="0">
                <a:solidFill>
                  <a:srgbClr val="9AA4AF"/>
                </a:solidFill>
                <a:latin typeface="Calibri" pitchFamily="34" charset="0"/>
                <a:ea typeface="Calibri" pitchFamily="34" charset="-122"/>
                <a:cs typeface="Calibri" pitchFamily="34" charset="-120"/>
              </a:rPr>
              <a:t>An admin approves your account. You cannot sign in until they do — the app will say "pending".</a:t>
            </a:r>
            <a:endParaRPr lang="en-US" sz="1150" dirty="0"/>
          </a:p>
        </p:txBody>
      </p:sp>
      <p:sp>
        <p:nvSpPr>
          <p:cNvPr id="14" name="Shape 12"/>
          <p:cNvSpPr/>
          <p:nvPr/>
        </p:nvSpPr>
        <p:spPr>
          <a:xfrm>
            <a:off x="566928" y="3493008"/>
            <a:ext cx="6949440" cy="914400"/>
          </a:xfrm>
          <a:prstGeom prst="roundRect">
            <a:avLst>
              <a:gd name="adj" fmla="val 8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5" name="Shape 13"/>
          <p:cNvSpPr/>
          <p:nvPr/>
        </p:nvSpPr>
        <p:spPr>
          <a:xfrm>
            <a:off x="786384" y="3749040"/>
            <a:ext cx="402336" cy="402336"/>
          </a:xfrm>
          <a:prstGeom prst="ellipse">
            <a:avLst/>
          </a:prstGeom>
          <a:solidFill>
            <a:srgbClr val="F0A429"/>
          </a:solidFill>
          <a:ln w="12700">
            <a:solidFill>
              <a:srgbClr val="F0A429"/>
            </a:solidFill>
            <a:prstDash val="solid"/>
          </a:ln>
        </p:spPr>
        <p:txBody>
          <a:bodyPr/>
          <a:p/>
        </p:txBody>
      </p:sp>
      <p:sp>
        <p:nvSpPr>
          <p:cNvPr id="16" name="Text 14"/>
          <p:cNvSpPr/>
          <p:nvPr/>
        </p:nvSpPr>
        <p:spPr>
          <a:xfrm>
            <a:off x="786384" y="3749040"/>
            <a:ext cx="402336" cy="402336"/>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353312" y="3611880"/>
            <a:ext cx="5852160" cy="310896"/>
          </a:xfrm>
          <a:prstGeom prst="rect">
            <a:avLst/>
          </a:prstGeom>
          <a:noFill/>
          <a:ln/>
        </p:spPr>
        <p:txBody>
          <a:bodyPr wrap="square" lIns="0" tIns="0" rIns="0" bIns="0" rtlCol="0" anchor="ctr"/>
          <a:lstStyle/>
          <a:p>
            <a:pPr indent="0" marL="0">
              <a:buNone/>
            </a:pPr>
            <a:r>
              <a:rPr lang="en-US" sz="1450" b="1" dirty="0">
                <a:solidFill>
                  <a:srgbClr val="E6EDF3"/>
                </a:solidFill>
                <a:latin typeface="Arial" pitchFamily="34" charset="0"/>
                <a:ea typeface="Arial" pitchFamily="34" charset="-122"/>
                <a:cs typeface="Arial" pitchFamily="34" charset="-120"/>
              </a:rPr>
              <a:t>Sign in</a:t>
            </a:r>
            <a:endParaRPr lang="en-US" sz="1450" dirty="0"/>
          </a:p>
        </p:txBody>
      </p:sp>
      <p:sp>
        <p:nvSpPr>
          <p:cNvPr id="18" name="Text 16"/>
          <p:cNvSpPr/>
          <p:nvPr/>
        </p:nvSpPr>
        <p:spPr>
          <a:xfrm>
            <a:off x="1353312" y="3922776"/>
            <a:ext cx="5943600" cy="420624"/>
          </a:xfrm>
          <a:prstGeom prst="rect">
            <a:avLst/>
          </a:prstGeom>
          <a:noFill/>
          <a:ln/>
        </p:spPr>
        <p:txBody>
          <a:bodyPr wrap="square" lIns="0" tIns="0" rIns="0" bIns="0" rtlCol="0" anchor="ctr"/>
          <a:lstStyle/>
          <a:p>
            <a:pPr indent="0" marL="0">
              <a:lnSpc>
                <a:spcPts val="1450"/>
              </a:lnSpc>
              <a:buNone/>
            </a:pPr>
            <a:r>
              <a:rPr lang="en-US" sz="1150" dirty="0">
                <a:solidFill>
                  <a:srgbClr val="9AA4AF"/>
                </a:solidFill>
                <a:latin typeface="Calibri" pitchFamily="34" charset="0"/>
                <a:ea typeface="Calibri" pitchFamily="34" charset="-122"/>
                <a:cs typeface="Calibri" pitchFamily="34" charset="-120"/>
              </a:rPr>
              <a:t>Use the username you chose, not your email address.</a:t>
            </a:r>
            <a:endParaRPr lang="en-US" sz="1150" dirty="0"/>
          </a:p>
        </p:txBody>
      </p:sp>
      <p:sp>
        <p:nvSpPr>
          <p:cNvPr id="19" name="Shape 17"/>
          <p:cNvSpPr/>
          <p:nvPr/>
        </p:nvSpPr>
        <p:spPr>
          <a:xfrm>
            <a:off x="566928" y="4535424"/>
            <a:ext cx="6949440" cy="914400"/>
          </a:xfrm>
          <a:prstGeom prst="roundRect">
            <a:avLst>
              <a:gd name="adj" fmla="val 8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0" name="Shape 18"/>
          <p:cNvSpPr/>
          <p:nvPr/>
        </p:nvSpPr>
        <p:spPr>
          <a:xfrm>
            <a:off x="786384" y="4791456"/>
            <a:ext cx="402336" cy="402336"/>
          </a:xfrm>
          <a:prstGeom prst="ellipse">
            <a:avLst/>
          </a:prstGeom>
          <a:solidFill>
            <a:srgbClr val="58A6FF"/>
          </a:solidFill>
          <a:ln w="12700">
            <a:solidFill>
              <a:srgbClr val="58A6FF"/>
            </a:solidFill>
            <a:prstDash val="solid"/>
          </a:ln>
        </p:spPr>
        <p:txBody>
          <a:bodyPr/>
          <a:p/>
        </p:txBody>
      </p:sp>
      <p:sp>
        <p:nvSpPr>
          <p:cNvPr id="21" name="Text 19"/>
          <p:cNvSpPr/>
          <p:nvPr/>
        </p:nvSpPr>
        <p:spPr>
          <a:xfrm>
            <a:off x="786384" y="4791456"/>
            <a:ext cx="402336" cy="402336"/>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5</a:t>
            </a:r>
            <a:endParaRPr lang="en-US" sz="1300" dirty="0"/>
          </a:p>
        </p:txBody>
      </p:sp>
      <p:sp>
        <p:nvSpPr>
          <p:cNvPr id="22" name="Text 20"/>
          <p:cNvSpPr/>
          <p:nvPr/>
        </p:nvSpPr>
        <p:spPr>
          <a:xfrm>
            <a:off x="1353312" y="4654296"/>
            <a:ext cx="5852160" cy="310896"/>
          </a:xfrm>
          <a:prstGeom prst="rect">
            <a:avLst/>
          </a:prstGeom>
          <a:noFill/>
          <a:ln/>
        </p:spPr>
        <p:txBody>
          <a:bodyPr wrap="square" lIns="0" tIns="0" rIns="0" bIns="0" rtlCol="0" anchor="ctr"/>
          <a:lstStyle/>
          <a:p>
            <a:pPr indent="0" marL="0">
              <a:buNone/>
            </a:pPr>
            <a:r>
              <a:rPr lang="en-US" sz="1450" b="1" dirty="0">
                <a:solidFill>
                  <a:srgbClr val="E6EDF3"/>
                </a:solidFill>
                <a:latin typeface="Arial" pitchFamily="34" charset="0"/>
                <a:ea typeface="Arial" pitchFamily="34" charset="-122"/>
                <a:cs typeface="Arial" pitchFamily="34" charset="-120"/>
              </a:rPr>
              <a:t>Change your password</a:t>
            </a:r>
            <a:endParaRPr lang="en-US" sz="1450" dirty="0"/>
          </a:p>
        </p:txBody>
      </p:sp>
      <p:sp>
        <p:nvSpPr>
          <p:cNvPr id="23" name="Text 21"/>
          <p:cNvSpPr/>
          <p:nvPr/>
        </p:nvSpPr>
        <p:spPr>
          <a:xfrm>
            <a:off x="1353312" y="4965192"/>
            <a:ext cx="5943600" cy="420624"/>
          </a:xfrm>
          <a:prstGeom prst="rect">
            <a:avLst/>
          </a:prstGeom>
          <a:noFill/>
          <a:ln/>
        </p:spPr>
        <p:txBody>
          <a:bodyPr wrap="square" lIns="0" tIns="0" rIns="0" bIns="0" rtlCol="0" anchor="ctr"/>
          <a:lstStyle/>
          <a:p>
            <a:pPr indent="0" marL="0">
              <a:lnSpc>
                <a:spcPts val="1450"/>
              </a:lnSpc>
              <a:buNone/>
            </a:pPr>
            <a:r>
              <a:rPr lang="en-US" sz="1150" dirty="0">
                <a:solidFill>
                  <a:srgbClr val="9AA4AF"/>
                </a:solidFill>
                <a:latin typeface="Calibri" pitchFamily="34" charset="0"/>
                <a:ea typeface="Calibri" pitchFamily="34" charset="-122"/>
                <a:cs typeface="Calibri" pitchFamily="34" charset="-120"/>
              </a:rPr>
              <a:t>Open the account menu (your initials, top right) and choose Password. This needs a connection.</a:t>
            </a:r>
            <a:endParaRPr lang="en-US" sz="1150" dirty="0"/>
          </a:p>
        </p:txBody>
      </p:sp>
      <p:sp>
        <p:nvSpPr>
          <p:cNvPr id="24" name="Shape 22"/>
          <p:cNvSpPr/>
          <p:nvPr/>
        </p:nvSpPr>
        <p:spPr>
          <a:xfrm>
            <a:off x="7772400" y="1408176"/>
            <a:ext cx="3840480" cy="2880360"/>
          </a:xfrm>
          <a:prstGeom prst="roundRect">
            <a:avLst>
              <a:gd name="adj" fmla="val 254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8001000" y="1609344"/>
            <a:ext cx="3383280" cy="320040"/>
          </a:xfrm>
          <a:prstGeom prst="rect">
            <a:avLst/>
          </a:prstGeom>
          <a:noFill/>
          <a:ln/>
        </p:spPr>
        <p:txBody>
          <a:bodyPr wrap="square" lIns="0" tIns="0" rIns="0" bIns="0" rtlCol="0" anchor="ctr"/>
          <a:lstStyle/>
          <a:p>
            <a:pPr indent="0" marL="0">
              <a:buNone/>
            </a:pPr>
            <a:r>
              <a:rPr lang="en-US" sz="1500" b="1" dirty="0">
                <a:solidFill>
                  <a:srgbClr val="F85149"/>
                </a:solidFill>
                <a:latin typeface="Arial" pitchFamily="34" charset="0"/>
                <a:ea typeface="Arial" pitchFamily="34" charset="-122"/>
                <a:cs typeface="Arial" pitchFamily="34" charset="-120"/>
              </a:rPr>
              <a:t>If sign-in fails</a:t>
            </a:r>
            <a:endParaRPr lang="en-US" sz="1500" dirty="0"/>
          </a:p>
        </p:txBody>
      </p:sp>
      <p:sp>
        <p:nvSpPr>
          <p:cNvPr id="26" name="Text 24"/>
          <p:cNvSpPr/>
          <p:nvPr/>
        </p:nvSpPr>
        <p:spPr>
          <a:xfrm>
            <a:off x="8001000" y="2029968"/>
            <a:ext cx="3383280" cy="210312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50" dirty="0">
                <a:solidFill>
                  <a:srgbClr val="E6EDF3"/>
                </a:solidFill>
                <a:latin typeface="Calibri" pitchFamily="34" charset="0"/>
                <a:ea typeface="Calibri" pitchFamily="34" charset="-122"/>
                <a:cs typeface="Calibri" pitchFamily="34" charset="-120"/>
              </a:rPr>
              <a:t>"Account not found" while offline means this browser has not seen your account before — connect once first</a:t>
            </a:r>
            <a:endParaRPr lang="en-US" sz="1150" dirty="0"/>
          </a:p>
          <a:p>
            <a:pPr marL="342900" indent="-342900">
              <a:lnSpc>
                <a:spcPts val="1500"/>
              </a:lnSpc>
              <a:spcAft>
                <a:spcPts val="700"/>
              </a:spcAft>
              <a:buSzPct val="100000"/>
              <a:buChar char="●"/>
            </a:pPr>
            <a:r>
              <a:rPr lang="en-US" sz="1150" dirty="0">
                <a:solidFill>
                  <a:srgbClr val="E6EDF3"/>
                </a:solidFill>
                <a:latin typeface="Calibri" pitchFamily="34" charset="0"/>
                <a:ea typeface="Calibri" pitchFamily="34" charset="-122"/>
                <a:cs typeface="Calibri" pitchFamily="34" charset="-120"/>
              </a:rPr>
              <a:t>Too many wrong passwords locks the account briefly; wait it out</a:t>
            </a:r>
            <a:endParaRPr lang="en-US" sz="1150" dirty="0"/>
          </a:p>
          <a:p>
            <a:pPr marL="342900" indent="-342900">
              <a:lnSpc>
                <a:spcPts val="1500"/>
              </a:lnSpc>
              <a:spcAft>
                <a:spcPts val="700"/>
              </a:spcAft>
              <a:buSzPct val="100000"/>
              <a:buChar char="●"/>
            </a:pPr>
            <a:r>
              <a:rPr lang="en-US" sz="1150" dirty="0">
                <a:solidFill>
                  <a:srgbClr val="E6EDF3"/>
                </a:solidFill>
                <a:latin typeface="Calibri" pitchFamily="34" charset="0"/>
                <a:ea typeface="Calibri" pitchFamily="34" charset="-122"/>
                <a:cs typeface="Calibri" pitchFamily="34" charset="-120"/>
              </a:rPr>
              <a:t>Still stuck? An admin can reset your password from the Users tab</a:t>
            </a:r>
            <a:endParaRPr lang="en-US" sz="1150" dirty="0"/>
          </a:p>
        </p:txBody>
      </p:sp>
      <p:sp>
        <p:nvSpPr>
          <p:cNvPr id="27" name="Shape 25"/>
          <p:cNvSpPr/>
          <p:nvPr/>
        </p:nvSpPr>
        <p:spPr>
          <a:xfrm>
            <a:off x="7772400" y="4471416"/>
            <a:ext cx="3840480" cy="1005840"/>
          </a:xfrm>
          <a:prstGeom prst="roundRect">
            <a:avLst>
              <a:gd name="adj" fmla="val 7273"/>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8001000" y="4608576"/>
            <a:ext cx="338328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Your account is yours</a:t>
            </a:r>
            <a:endParaRPr lang="en-US" sz="1350" dirty="0"/>
          </a:p>
        </p:txBody>
      </p:sp>
      <p:sp>
        <p:nvSpPr>
          <p:cNvPr id="29" name="Text 27"/>
          <p:cNvSpPr/>
          <p:nvPr/>
        </p:nvSpPr>
        <p:spPr>
          <a:xfrm>
            <a:off x="8001000" y="4882896"/>
            <a:ext cx="338328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Never share it. Every CE records who saved it, and account changes are logged.</a:t>
            </a:r>
            <a:endParaRPr lang="en-US" sz="1100" dirty="0"/>
          </a:p>
        </p:txBody>
      </p:sp>
      <p:sp>
        <p:nvSpPr>
          <p:cNvPr id="30" name="Text 28"/>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1" name="Text 29"/>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BEFORE YOU START · TEST MODE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Try it where nothing is real</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A sandbox for training and for trying a change, with no risk to the team's data.</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What it is</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SharePoint is switched off and everything you make stays in this browser</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Nothing made in test mode can reach the site or be seen by anyone else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banner across the top says TEST MODE and how many items are stored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It starts empty: you set up an admin, as on a new device</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Using it</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 the sign-in page choose the small Test mode link and confirm</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Wipe test data deletes everything made in test mode and touches nothing real</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Leave test mode returns you to the real app and your real data</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Use it to train a new estimator, or to try something before doing it for real</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1 · PROJECT INFO</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Fill in the header first</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Shape 3"/>
          <p:cNvSpPr/>
          <p:nvPr/>
        </p:nvSpPr>
        <p:spPr>
          <a:xfrm>
            <a:off x="594360"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6" name="Text 4"/>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Project Info</a:t>
            </a:r>
            <a:endParaRPr lang="en-US" sz="900" dirty="0"/>
          </a:p>
        </p:txBody>
      </p:sp>
      <p:sp>
        <p:nvSpPr>
          <p:cNvPr id="7" name="Text 5"/>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8" name="Text 6"/>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9" name="Text 7"/>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02536"/>
            <a:ext cx="6766560" cy="658368"/>
          </a:xfrm>
          <a:prstGeom prst="roundRect">
            <a:avLst>
              <a:gd name="adj" fmla="val 11111"/>
            </a:avLst>
          </a:prstGeom>
          <a:solidFill>
            <a:srgbClr val="1F1A0E"/>
          </a:solidFill>
          <a:ln w="12700">
            <a:solidFill>
              <a:srgbClr val="5C4813"/>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786384" y="2057400"/>
            <a:ext cx="2834640" cy="274320"/>
          </a:xfrm>
          <a:prstGeom prst="rect">
            <a:avLst/>
          </a:prstGeom>
          <a:noFill/>
          <a:ln/>
        </p:spPr>
        <p:txBody>
          <a:bodyPr wrap="square" lIns="0" tIns="0" rIns="0" bIns="0" rtlCol="0" anchor="ctr"/>
          <a:lstStyle/>
          <a:p>
            <a:pPr indent="0" marL="0">
              <a:buNone/>
            </a:pPr>
            <a:r>
              <a:rPr lang="en-US" sz="1250" b="1" dirty="0">
                <a:solidFill>
                  <a:srgbClr val="F0A429"/>
                </a:solidFill>
                <a:latin typeface="Arial" pitchFamily="34" charset="0"/>
                <a:ea typeface="Arial" pitchFamily="34" charset="-122"/>
                <a:cs typeface="Arial" pitchFamily="34" charset="-120"/>
              </a:rPr>
              <a:t>CE Number</a:t>
            </a:r>
            <a:endParaRPr lang="en-US" sz="1250" dirty="0"/>
          </a:p>
        </p:txBody>
      </p:sp>
      <p:sp>
        <p:nvSpPr>
          <p:cNvPr id="17" name="Text 15"/>
          <p:cNvSpPr/>
          <p:nvPr/>
        </p:nvSpPr>
        <p:spPr>
          <a:xfrm>
            <a:off x="786384" y="2313432"/>
            <a:ext cx="6309360" cy="292608"/>
          </a:xfrm>
          <a:prstGeom prst="rect">
            <a:avLst/>
          </a:prstGeom>
          <a:noFill/>
          <a:ln/>
        </p:spPr>
        <p:txBody>
          <a:bodyPr wrap="square" lIns="0" tIns="0" rIns="0" bIns="0" rtlCol="0" anchor="ctr"/>
          <a:lstStyle/>
          <a:p>
            <a:pPr indent="0" marL="0">
              <a:buNone/>
            </a:pPr>
            <a:r>
              <a:rPr lang="en-US" sz="1050" dirty="0">
                <a:solidFill>
                  <a:srgbClr val="9AA4AF"/>
                </a:solidFill>
                <a:latin typeface="Calibri" pitchFamily="34" charset="0"/>
                <a:ea typeface="Calibri" pitchFamily="34" charset="-122"/>
                <a:cs typeface="Calibri" pitchFamily="34" charset="-120"/>
              </a:rPr>
              <a:t>Auto-suggested. 2–30 characters, letters, numbers and dashes. Must be unique.</a:t>
            </a:r>
            <a:endParaRPr lang="en-US" sz="1050" dirty="0"/>
          </a:p>
        </p:txBody>
      </p:sp>
      <p:sp>
        <p:nvSpPr>
          <p:cNvPr id="18" name="Shape 16"/>
          <p:cNvSpPr/>
          <p:nvPr/>
        </p:nvSpPr>
        <p:spPr>
          <a:xfrm>
            <a:off x="566928" y="2734056"/>
            <a:ext cx="6766560" cy="658368"/>
          </a:xfrm>
          <a:prstGeom prst="roundRect">
            <a:avLst>
              <a:gd name="adj" fmla="val 11111"/>
            </a:avLst>
          </a:prstGeom>
          <a:solidFill>
            <a:srgbClr val="1F1A0E"/>
          </a:solidFill>
          <a:ln w="12700">
            <a:solidFill>
              <a:srgbClr val="5C4813"/>
            </a:solidFill>
            <a:prstDash val="solid"/>
          </a:ln>
          <a:effectLst>
            <a:outerShdw sx="100000" sy="100000" kx="0" ky="0" algn="bl" rotWithShape="0" blurRad="152400" dist="38100" dir="5400000">
              <a:srgbClr val="000000">
                <a:alpha val="45000"/>
              </a:srgbClr>
            </a:outerShdw>
          </a:effectLst>
        </p:spPr>
        <p:txBody>
          <a:bodyPr/>
          <a:p/>
        </p:txBody>
      </p:sp>
      <p:sp>
        <p:nvSpPr>
          <p:cNvPr id="19" name="Text 17"/>
          <p:cNvSpPr/>
          <p:nvPr/>
        </p:nvSpPr>
        <p:spPr>
          <a:xfrm>
            <a:off x="786384" y="2788920"/>
            <a:ext cx="2834640" cy="274320"/>
          </a:xfrm>
          <a:prstGeom prst="rect">
            <a:avLst/>
          </a:prstGeom>
          <a:noFill/>
          <a:ln/>
        </p:spPr>
        <p:txBody>
          <a:bodyPr wrap="square" lIns="0" tIns="0" rIns="0" bIns="0" rtlCol="0" anchor="ctr"/>
          <a:lstStyle/>
          <a:p>
            <a:pPr indent="0" marL="0">
              <a:buNone/>
            </a:pPr>
            <a:r>
              <a:rPr lang="en-US" sz="1250" b="1" dirty="0">
                <a:solidFill>
                  <a:srgbClr val="F0A429"/>
                </a:solidFill>
                <a:latin typeface="Arial" pitchFamily="34" charset="0"/>
                <a:ea typeface="Arial" pitchFamily="34" charset="-122"/>
                <a:cs typeface="Arial" pitchFamily="34" charset="-120"/>
              </a:rPr>
              <a:t>Client name</a:t>
            </a:r>
            <a:endParaRPr lang="en-US" sz="1250" dirty="0"/>
          </a:p>
        </p:txBody>
      </p:sp>
      <p:sp>
        <p:nvSpPr>
          <p:cNvPr id="20" name="Text 18"/>
          <p:cNvSpPr/>
          <p:nvPr/>
        </p:nvSpPr>
        <p:spPr>
          <a:xfrm>
            <a:off x="786384" y="3044952"/>
            <a:ext cx="6309360" cy="292608"/>
          </a:xfrm>
          <a:prstGeom prst="rect">
            <a:avLst/>
          </a:prstGeom>
          <a:noFill/>
          <a:ln/>
        </p:spPr>
        <p:txBody>
          <a:bodyPr wrap="square" lIns="0" tIns="0" rIns="0" bIns="0" rtlCol="0" anchor="ctr"/>
          <a:lstStyle/>
          <a:p>
            <a:pPr indent="0" marL="0">
              <a:buNone/>
            </a:pPr>
            <a:r>
              <a:rPr lang="en-US" sz="1050" dirty="0">
                <a:solidFill>
                  <a:srgbClr val="9AA4AF"/>
                </a:solidFill>
                <a:latin typeface="Calibri" pitchFamily="34" charset="0"/>
                <a:ea typeface="Calibri" pitchFamily="34" charset="-122"/>
                <a:cs typeface="Calibri" pitchFamily="34" charset="-120"/>
              </a:rPr>
              <a:t>Required before you can save.</a:t>
            </a:r>
            <a:endParaRPr lang="en-US" sz="1050" dirty="0"/>
          </a:p>
        </p:txBody>
      </p:sp>
      <p:sp>
        <p:nvSpPr>
          <p:cNvPr id="21" name="Shape 19"/>
          <p:cNvSpPr/>
          <p:nvPr/>
        </p:nvSpPr>
        <p:spPr>
          <a:xfrm>
            <a:off x="566928" y="3465576"/>
            <a:ext cx="6766560" cy="658368"/>
          </a:xfrm>
          <a:prstGeom prst="roundRect">
            <a:avLst>
              <a:gd name="adj" fmla="val 11111"/>
            </a:avLst>
          </a:prstGeom>
          <a:solidFill>
            <a:srgbClr val="1F1A0E"/>
          </a:solidFill>
          <a:ln w="12700">
            <a:solidFill>
              <a:srgbClr val="5C4813"/>
            </a:solidFill>
            <a:prstDash val="solid"/>
          </a:ln>
          <a:effectLst>
            <a:outerShdw sx="100000" sy="100000" kx="0" ky="0" algn="bl" rotWithShape="0" blurRad="152400" dist="38100" dir="5400000">
              <a:srgbClr val="000000">
                <a:alpha val="45000"/>
              </a:srgbClr>
            </a:outerShdw>
          </a:effectLst>
        </p:spPr>
        <p:txBody>
          <a:bodyPr/>
          <a:p/>
        </p:txBody>
      </p:sp>
      <p:sp>
        <p:nvSpPr>
          <p:cNvPr id="22" name="Text 20"/>
          <p:cNvSpPr/>
          <p:nvPr/>
        </p:nvSpPr>
        <p:spPr>
          <a:xfrm>
            <a:off x="786384" y="3520440"/>
            <a:ext cx="2834640" cy="274320"/>
          </a:xfrm>
          <a:prstGeom prst="rect">
            <a:avLst/>
          </a:prstGeom>
          <a:noFill/>
          <a:ln/>
        </p:spPr>
        <p:txBody>
          <a:bodyPr wrap="square" lIns="0" tIns="0" rIns="0" bIns="0" rtlCol="0" anchor="ctr"/>
          <a:lstStyle/>
          <a:p>
            <a:pPr indent="0" marL="0">
              <a:buNone/>
            </a:pPr>
            <a:r>
              <a:rPr lang="en-US" sz="1250" b="1" dirty="0">
                <a:solidFill>
                  <a:srgbClr val="F0A429"/>
                </a:solidFill>
                <a:latin typeface="Arial" pitchFamily="34" charset="0"/>
                <a:ea typeface="Arial" pitchFamily="34" charset="-122"/>
                <a:cs typeface="Arial" pitchFamily="34" charset="-120"/>
              </a:rPr>
              <a:t>Project description</a:t>
            </a:r>
            <a:endParaRPr lang="en-US" sz="1250" dirty="0"/>
          </a:p>
        </p:txBody>
      </p:sp>
      <p:sp>
        <p:nvSpPr>
          <p:cNvPr id="23" name="Text 21"/>
          <p:cNvSpPr/>
          <p:nvPr/>
        </p:nvSpPr>
        <p:spPr>
          <a:xfrm>
            <a:off x="786384" y="3776472"/>
            <a:ext cx="6309360" cy="292608"/>
          </a:xfrm>
          <a:prstGeom prst="rect">
            <a:avLst/>
          </a:prstGeom>
          <a:noFill/>
          <a:ln/>
        </p:spPr>
        <p:txBody>
          <a:bodyPr wrap="square" lIns="0" tIns="0" rIns="0" bIns="0" rtlCol="0" anchor="ctr"/>
          <a:lstStyle/>
          <a:p>
            <a:pPr indent="0" marL="0">
              <a:buNone/>
            </a:pPr>
            <a:r>
              <a:rPr lang="en-US" sz="1050" dirty="0">
                <a:solidFill>
                  <a:srgbClr val="9AA4AF"/>
                </a:solidFill>
                <a:latin typeface="Calibri" pitchFamily="34" charset="0"/>
                <a:ea typeface="Calibri" pitchFamily="34" charset="-122"/>
                <a:cs typeface="Calibri" pitchFamily="34" charset="-120"/>
              </a:rPr>
              <a:t>One or two sentences. Printed on the CE.</a:t>
            </a:r>
            <a:endParaRPr lang="en-US" sz="1050" dirty="0"/>
          </a:p>
        </p:txBody>
      </p:sp>
      <p:sp>
        <p:nvSpPr>
          <p:cNvPr id="24" name="Shape 22"/>
          <p:cNvSpPr/>
          <p:nvPr/>
        </p:nvSpPr>
        <p:spPr>
          <a:xfrm>
            <a:off x="566928" y="4197096"/>
            <a:ext cx="6766560" cy="658368"/>
          </a:xfrm>
          <a:prstGeom prst="roundRect">
            <a:avLst>
              <a:gd name="adj" fmla="val 1111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786384" y="4251960"/>
            <a:ext cx="28346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Quantity</a:t>
            </a:r>
            <a:endParaRPr lang="en-US" sz="1250" dirty="0"/>
          </a:p>
        </p:txBody>
      </p:sp>
      <p:sp>
        <p:nvSpPr>
          <p:cNvPr id="26" name="Text 24"/>
          <p:cNvSpPr/>
          <p:nvPr/>
        </p:nvSpPr>
        <p:spPr>
          <a:xfrm>
            <a:off x="786384" y="4507992"/>
            <a:ext cx="6309360" cy="292608"/>
          </a:xfrm>
          <a:prstGeom prst="rect">
            <a:avLst/>
          </a:prstGeom>
          <a:noFill/>
          <a:ln/>
        </p:spPr>
        <p:txBody>
          <a:bodyPr wrap="square" lIns="0" tIns="0" rIns="0" bIns="0" rtlCol="0" anchor="ctr"/>
          <a:lstStyle/>
          <a:p>
            <a:pPr indent="0" marL="0">
              <a:buNone/>
            </a:pPr>
            <a:r>
              <a:rPr lang="en-US" sz="1050" dirty="0">
                <a:solidFill>
                  <a:srgbClr val="9AA4AF"/>
                </a:solidFill>
                <a:latin typeface="Calibri" pitchFamily="34" charset="0"/>
                <a:ea typeface="Calibri" pitchFamily="34" charset="-122"/>
                <a:cs typeface="Calibri" pitchFamily="34" charset="-120"/>
              </a:rPr>
              <a:t>Divides the total into a unit price. Pick its unit: 3 PCS, 1 LOT.</a:t>
            </a:r>
            <a:endParaRPr lang="en-US" sz="1050" dirty="0"/>
          </a:p>
        </p:txBody>
      </p:sp>
      <p:sp>
        <p:nvSpPr>
          <p:cNvPr id="27" name="Shape 25"/>
          <p:cNvSpPr/>
          <p:nvPr/>
        </p:nvSpPr>
        <p:spPr>
          <a:xfrm>
            <a:off x="566928" y="4928616"/>
            <a:ext cx="6766560" cy="658368"/>
          </a:xfrm>
          <a:prstGeom prst="roundRect">
            <a:avLst>
              <a:gd name="adj" fmla="val 1111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786384" y="4983480"/>
            <a:ext cx="28346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No. of days</a:t>
            </a:r>
            <a:endParaRPr lang="en-US" sz="1250" dirty="0"/>
          </a:p>
        </p:txBody>
      </p:sp>
      <p:sp>
        <p:nvSpPr>
          <p:cNvPr id="29" name="Text 27"/>
          <p:cNvSpPr/>
          <p:nvPr/>
        </p:nvSpPr>
        <p:spPr>
          <a:xfrm>
            <a:off x="786384" y="5239512"/>
            <a:ext cx="6309360" cy="292608"/>
          </a:xfrm>
          <a:prstGeom prst="rect">
            <a:avLst/>
          </a:prstGeom>
          <a:noFill/>
          <a:ln/>
        </p:spPr>
        <p:txBody>
          <a:bodyPr wrap="square" lIns="0" tIns="0" rIns="0" bIns="0" rtlCol="0" anchor="ctr"/>
          <a:lstStyle/>
          <a:p>
            <a:pPr indent="0" marL="0">
              <a:buNone/>
            </a:pPr>
            <a:r>
              <a:rPr lang="en-US" sz="1050" dirty="0">
                <a:solidFill>
                  <a:srgbClr val="9AA4AF"/>
                </a:solidFill>
                <a:latin typeface="Calibri" pitchFamily="34" charset="0"/>
                <a:ea typeface="Calibri" pitchFamily="34" charset="-122"/>
                <a:cs typeface="Calibri" pitchFamily="34" charset="-120"/>
              </a:rPr>
              <a:t>Becomes the default duration for every manpower row you add.</a:t>
            </a:r>
            <a:endParaRPr lang="en-US" sz="1050" dirty="0"/>
          </a:p>
        </p:txBody>
      </p:sp>
      <p:sp>
        <p:nvSpPr>
          <p:cNvPr id="30" name="Shape 28"/>
          <p:cNvSpPr/>
          <p:nvPr/>
        </p:nvSpPr>
        <p:spPr>
          <a:xfrm>
            <a:off x="566928" y="5660136"/>
            <a:ext cx="6766560" cy="658368"/>
          </a:xfrm>
          <a:prstGeom prst="roundRect">
            <a:avLst>
              <a:gd name="adj" fmla="val 1111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Text 29"/>
          <p:cNvSpPr/>
          <p:nvPr/>
        </p:nvSpPr>
        <p:spPr>
          <a:xfrm>
            <a:off x="786384" y="5715000"/>
            <a:ext cx="2834640" cy="274320"/>
          </a:xfrm>
          <a:prstGeom prst="rect">
            <a:avLst/>
          </a:prstGeom>
          <a:noFill/>
          <a:ln/>
        </p:spPr>
        <p:txBody>
          <a:bodyPr wrap="square" lIns="0" tIns="0" rIns="0" bIns="0" rtlCol="0" anchor="ctr"/>
          <a:lstStyle/>
          <a:p>
            <a:pPr indent="0" marL="0">
              <a:buNone/>
            </a:pPr>
            <a:r>
              <a:rPr lang="en-US" sz="1250" b="1" dirty="0">
                <a:solidFill>
                  <a:srgbClr val="E6EDF3"/>
                </a:solidFill>
                <a:latin typeface="Arial" pitchFamily="34" charset="0"/>
                <a:ea typeface="Arial" pitchFamily="34" charset="-122"/>
                <a:cs typeface="Arial" pitchFamily="34" charset="-120"/>
              </a:rPr>
              <a:t>Discipline · Department · Status</a:t>
            </a:r>
            <a:endParaRPr lang="en-US" sz="1250" dirty="0"/>
          </a:p>
        </p:txBody>
      </p:sp>
      <p:sp>
        <p:nvSpPr>
          <p:cNvPr id="32" name="Text 30"/>
          <p:cNvSpPr/>
          <p:nvPr/>
        </p:nvSpPr>
        <p:spPr>
          <a:xfrm>
            <a:off x="786384" y="5971032"/>
            <a:ext cx="6309360" cy="292608"/>
          </a:xfrm>
          <a:prstGeom prst="rect">
            <a:avLst/>
          </a:prstGeom>
          <a:noFill/>
          <a:ln/>
        </p:spPr>
        <p:txBody>
          <a:bodyPr wrap="square" lIns="0" tIns="0" rIns="0" bIns="0" rtlCol="0" anchor="ctr"/>
          <a:lstStyle/>
          <a:p>
            <a:pPr indent="0" marL="0">
              <a:buNone/>
            </a:pPr>
            <a:r>
              <a:rPr lang="en-US" sz="1050" dirty="0">
                <a:solidFill>
                  <a:srgbClr val="9AA4AF"/>
                </a:solidFill>
                <a:latin typeface="Calibri" pitchFamily="34" charset="0"/>
                <a:ea typeface="Calibri" pitchFamily="34" charset="-122"/>
                <a:cs typeface="Calibri" pitchFamily="34" charset="-120"/>
              </a:rPr>
              <a:t>Appear on the printed form, with the RCE No.</a:t>
            </a:r>
            <a:endParaRPr lang="en-US" sz="1050" dirty="0"/>
          </a:p>
        </p:txBody>
      </p:sp>
      <p:sp>
        <p:nvSpPr>
          <p:cNvPr id="33" name="Shape 31"/>
          <p:cNvSpPr/>
          <p:nvPr/>
        </p:nvSpPr>
        <p:spPr>
          <a:xfrm>
            <a:off x="7589520" y="2002536"/>
            <a:ext cx="4023360" cy="2103120"/>
          </a:xfrm>
          <a:prstGeom prst="roundRect">
            <a:avLst>
              <a:gd name="adj" fmla="val 347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7818120" y="2185416"/>
            <a:ext cx="3566160" cy="292608"/>
          </a:xfrm>
          <a:prstGeom prst="rect">
            <a:avLst/>
          </a:prstGeom>
          <a:noFill/>
          <a:ln/>
        </p:spPr>
        <p:txBody>
          <a:bodyPr wrap="square" lIns="0" tIns="0" rIns="0" bIns="0" rtlCol="0" anchor="ctr"/>
          <a:lstStyle/>
          <a:p>
            <a:pPr indent="0" marL="0">
              <a:buNone/>
            </a:pPr>
            <a:r>
              <a:rPr lang="en-US" sz="1400" b="1" dirty="0">
                <a:solidFill>
                  <a:srgbClr val="F0A429"/>
                </a:solidFill>
                <a:latin typeface="Arial" pitchFamily="34" charset="0"/>
                <a:ea typeface="Arial" pitchFamily="34" charset="-122"/>
                <a:cs typeface="Arial" pitchFamily="34" charset="-120"/>
              </a:rPr>
              <a:t>Required to save</a:t>
            </a:r>
            <a:endParaRPr lang="en-US" sz="1400" dirty="0"/>
          </a:p>
        </p:txBody>
      </p:sp>
      <p:sp>
        <p:nvSpPr>
          <p:cNvPr id="35" name="Text 33"/>
          <p:cNvSpPr/>
          <p:nvPr/>
        </p:nvSpPr>
        <p:spPr>
          <a:xfrm>
            <a:off x="7818120" y="2551176"/>
            <a:ext cx="3566160" cy="1371600"/>
          </a:xfrm>
          <a:prstGeom prst="rect">
            <a:avLst/>
          </a:prstGeom>
          <a:noFill/>
          <a:ln/>
        </p:spPr>
        <p:txBody>
          <a:bodyPr wrap="square" lIns="0" tIns="0" rIns="0" bIns="0" rtlCol="0" anchor="t"/>
          <a:lstStyle/>
          <a:p>
            <a:pPr algn="l" indent="0" marL="0">
              <a:lnSpc>
                <a:spcPts val="1700"/>
              </a:lnSpc>
              <a:buNone/>
            </a:pPr>
            <a:r>
              <a:rPr lang="en-US" sz="1200" dirty="0">
                <a:solidFill>
                  <a:srgbClr val="E6EDF3"/>
                </a:solidFill>
                <a:latin typeface="Calibri" pitchFamily="34" charset="0"/>
                <a:ea typeface="Calibri" pitchFamily="34" charset="-122"/>
                <a:cs typeface="Calibri" pitchFamily="34" charset="-120"/>
              </a:rPr>
              <a:t>The app will refuse to save without a CE Number and a Client name. Everything else can be filled in later — but Quantity and No. of days change your numbers, so set them now.</a:t>
            </a:r>
            <a:endParaRPr lang="en-US" sz="1200" dirty="0"/>
          </a:p>
        </p:txBody>
      </p:sp>
      <p:sp>
        <p:nvSpPr>
          <p:cNvPr id="36" name="Shape 34"/>
          <p:cNvSpPr/>
          <p:nvPr/>
        </p:nvSpPr>
        <p:spPr>
          <a:xfrm>
            <a:off x="7589520" y="4288536"/>
            <a:ext cx="4023360" cy="1920240"/>
          </a:xfrm>
          <a:prstGeom prst="roundRect">
            <a:avLst>
              <a:gd name="adj" fmla="val 381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7" name="Text 35"/>
          <p:cNvSpPr/>
          <p:nvPr/>
        </p:nvSpPr>
        <p:spPr>
          <a:xfrm>
            <a:off x="7818120" y="4453128"/>
            <a:ext cx="3566160" cy="274320"/>
          </a:xfrm>
          <a:prstGeom prst="rect">
            <a:avLst/>
          </a:prstGeom>
          <a:noFill/>
          <a:ln/>
        </p:spPr>
        <p:txBody>
          <a:bodyPr wrap="square" lIns="0" tIns="0" rIns="0" bIns="0" rtlCol="0" anchor="ctr"/>
          <a:lstStyle/>
          <a:p>
            <a:pPr indent="0" marL="0">
              <a:buNone/>
            </a:pPr>
            <a:r>
              <a:rPr lang="en-US" sz="1400" b="1" dirty="0">
                <a:solidFill>
                  <a:srgbClr val="58A6FF"/>
                </a:solidFill>
                <a:latin typeface="Arial" pitchFamily="34" charset="0"/>
                <a:ea typeface="Arial" pitchFamily="34" charset="-122"/>
                <a:cs typeface="Arial" pitchFamily="34" charset="-120"/>
              </a:rPr>
              <a:t>Shortcut</a:t>
            </a:r>
            <a:endParaRPr lang="en-US" sz="1400" dirty="0"/>
          </a:p>
        </p:txBody>
      </p:sp>
      <p:sp>
        <p:nvSpPr>
          <p:cNvPr id="38" name="Text 36"/>
          <p:cNvSpPr/>
          <p:nvPr/>
        </p:nvSpPr>
        <p:spPr>
          <a:xfrm>
            <a:off x="7818120" y="4791456"/>
            <a:ext cx="3566160" cy="1280160"/>
          </a:xfrm>
          <a:prstGeom prst="rect">
            <a:avLst/>
          </a:prstGeom>
          <a:noFill/>
          <a:ln/>
        </p:spPr>
        <p:txBody>
          <a:bodyPr wrap="square" lIns="0" tIns="0" rIns="0" bIns="0" rtlCol="0" anchor="t"/>
          <a:lstStyle/>
          <a:p>
            <a:pPr algn="l" indent="0" marL="0">
              <a:lnSpc>
                <a:spcPts val="1700"/>
              </a:lnSpc>
              <a:buNone/>
            </a:pPr>
            <a:r>
              <a:rPr lang="en-US" sz="1200" dirty="0">
                <a:solidFill>
                  <a:srgbClr val="E6EDF3"/>
                </a:solidFill>
                <a:latin typeface="Calibri" pitchFamily="34" charset="0"/>
                <a:ea typeface="Calibri" pitchFamily="34" charset="-122"/>
                <a:cs typeface="Calibri" pitchFamily="34" charset="-120"/>
              </a:rPr>
              <a:t>Drop a client enquiry (PDF, Word, Excel) on the Client Document box and the app will read it and pre-fill what it can.</a:t>
            </a:r>
            <a:endParaRPr lang="en-US" sz="1200" dirty="0"/>
          </a:p>
        </p:txBody>
      </p:sp>
      <p:sp>
        <p:nvSpPr>
          <p:cNvPr id="39" name="Text 37"/>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40" name="Text 38"/>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1 · SERVICE SCOPE BUILDER</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fastest way to start</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Still on Project Info. Pick standard services from the library and the app fills in the scope AND the resources.</a:t>
            </a:r>
            <a:endParaRPr lang="en-US" sz="1400" dirty="0"/>
          </a:p>
        </p:txBody>
      </p:sp>
      <p:sp>
        <p:nvSpPr>
          <p:cNvPr id="5" name="Shape 3"/>
          <p:cNvSpPr/>
          <p:nvPr/>
        </p:nvSpPr>
        <p:spPr>
          <a:xfrm>
            <a:off x="566928" y="1865376"/>
            <a:ext cx="2651760" cy="1874520"/>
          </a:xfrm>
          <a:prstGeom prst="roundRect">
            <a:avLst>
              <a:gd name="adj" fmla="val 3902"/>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Shape 4"/>
          <p:cNvSpPr/>
          <p:nvPr/>
        </p:nvSpPr>
        <p:spPr>
          <a:xfrm>
            <a:off x="786384" y="2066544"/>
            <a:ext cx="402336" cy="402336"/>
          </a:xfrm>
          <a:prstGeom prst="ellipse">
            <a:avLst/>
          </a:prstGeom>
          <a:solidFill>
            <a:srgbClr val="F0A429"/>
          </a:solidFill>
          <a:ln w="12700">
            <a:solidFill>
              <a:srgbClr val="F0A429"/>
            </a:solidFill>
            <a:prstDash val="solid"/>
          </a:ln>
        </p:spPr>
        <p:txBody>
          <a:bodyPr/>
          <a:p/>
        </p:txBody>
      </p:sp>
      <p:sp>
        <p:nvSpPr>
          <p:cNvPr id="7" name="Text 5"/>
          <p:cNvSpPr/>
          <p:nvPr/>
        </p:nvSpPr>
        <p:spPr>
          <a:xfrm>
            <a:off x="786384" y="2066544"/>
            <a:ext cx="402336" cy="402336"/>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786384" y="2578608"/>
            <a:ext cx="2240280"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Tick the services</a:t>
            </a:r>
            <a:endParaRPr lang="en-US" sz="1300" dirty="0"/>
          </a:p>
        </p:txBody>
      </p:sp>
      <p:sp>
        <p:nvSpPr>
          <p:cNvPr id="9" name="Text 7"/>
          <p:cNvSpPr/>
          <p:nvPr/>
        </p:nvSpPr>
        <p:spPr>
          <a:xfrm>
            <a:off x="786384" y="2907792"/>
            <a:ext cx="2240280" cy="685800"/>
          </a:xfrm>
          <a:prstGeom prst="rect">
            <a:avLst/>
          </a:prstGeom>
          <a:noFill/>
          <a:ln/>
        </p:spPr>
        <p:txBody>
          <a:bodyPr wrap="square" lIns="0" tIns="0" rIns="0" bIns="0" rtlCol="0" anchor="ctr"/>
          <a:lstStyle/>
          <a:p>
            <a:pPr indent="0" marL="0">
              <a:lnSpc>
                <a:spcPts val="1350"/>
              </a:lnSpc>
              <a:buNone/>
            </a:pPr>
            <a:r>
              <a:rPr lang="en-US" sz="1050" dirty="0">
                <a:solidFill>
                  <a:srgbClr val="9AA4AF"/>
                </a:solidFill>
                <a:latin typeface="Calibri" pitchFamily="34" charset="0"/>
                <a:ea typeface="Calibri" pitchFamily="34" charset="-122"/>
                <a:cs typeface="Calibri" pitchFamily="34" charset="-120"/>
              </a:rPr>
              <a:t>Search or filter by category, then tick what the job involves.</a:t>
            </a:r>
            <a:endParaRPr lang="en-US" sz="1050" dirty="0"/>
          </a:p>
        </p:txBody>
      </p:sp>
      <p:sp>
        <p:nvSpPr>
          <p:cNvPr id="10" name="Text 8"/>
          <p:cNvSpPr/>
          <p:nvPr/>
        </p:nvSpPr>
        <p:spPr>
          <a:xfrm>
            <a:off x="3218688" y="2505456"/>
            <a:ext cx="192024" cy="457200"/>
          </a:xfrm>
          <a:prstGeom prst="rect">
            <a:avLst/>
          </a:prstGeom>
          <a:noFill/>
          <a:ln/>
        </p:spPr>
        <p:txBody>
          <a:bodyPr wrap="square" lIns="0" tIns="0" rIns="0" bIns="0" rtlCol="0" anchor="ctr"/>
          <a:lstStyle/>
          <a:p>
            <a:pPr algn="ctr" indent="0" marL="0">
              <a:buNone/>
            </a:pPr>
            <a:r>
              <a:rPr lang="en-US" sz="2600" b="1" dirty="0">
                <a:solidFill>
                  <a:srgbClr val="F0A429"/>
                </a:solidFill>
                <a:latin typeface="Arial" pitchFamily="34" charset="0"/>
                <a:ea typeface="Arial" pitchFamily="34" charset="-122"/>
                <a:cs typeface="Arial" pitchFamily="34" charset="-120"/>
              </a:rPr>
              <a:t>›</a:t>
            </a:r>
            <a:endParaRPr lang="en-US" sz="2600" dirty="0"/>
          </a:p>
        </p:txBody>
      </p:sp>
      <p:sp>
        <p:nvSpPr>
          <p:cNvPr id="11" name="Shape 9"/>
          <p:cNvSpPr/>
          <p:nvPr/>
        </p:nvSpPr>
        <p:spPr>
          <a:xfrm>
            <a:off x="3410712" y="1865376"/>
            <a:ext cx="2651760" cy="1874520"/>
          </a:xfrm>
          <a:prstGeom prst="roundRect">
            <a:avLst>
              <a:gd name="adj" fmla="val 3902"/>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2" name="Shape 10"/>
          <p:cNvSpPr/>
          <p:nvPr/>
        </p:nvSpPr>
        <p:spPr>
          <a:xfrm>
            <a:off x="3630168" y="2066544"/>
            <a:ext cx="402336" cy="402336"/>
          </a:xfrm>
          <a:prstGeom prst="ellipse">
            <a:avLst/>
          </a:prstGeom>
          <a:solidFill>
            <a:srgbClr val="F0A429"/>
          </a:solidFill>
          <a:ln w="12700">
            <a:solidFill>
              <a:srgbClr val="F0A429"/>
            </a:solidFill>
            <a:prstDash val="solid"/>
          </a:ln>
        </p:spPr>
        <p:txBody>
          <a:bodyPr/>
          <a:p/>
        </p:txBody>
      </p:sp>
      <p:sp>
        <p:nvSpPr>
          <p:cNvPr id="13" name="Text 11"/>
          <p:cNvSpPr/>
          <p:nvPr/>
        </p:nvSpPr>
        <p:spPr>
          <a:xfrm>
            <a:off x="3630168" y="2066544"/>
            <a:ext cx="402336" cy="402336"/>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630168" y="2578608"/>
            <a:ext cx="2240280"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Set the quantity</a:t>
            </a:r>
            <a:endParaRPr lang="en-US" sz="1300" dirty="0"/>
          </a:p>
        </p:txBody>
      </p:sp>
      <p:sp>
        <p:nvSpPr>
          <p:cNvPr id="15" name="Text 13"/>
          <p:cNvSpPr/>
          <p:nvPr/>
        </p:nvSpPr>
        <p:spPr>
          <a:xfrm>
            <a:off x="3630168" y="2907792"/>
            <a:ext cx="2240280" cy="685800"/>
          </a:xfrm>
          <a:prstGeom prst="rect">
            <a:avLst/>
          </a:prstGeom>
          <a:noFill/>
          <a:ln/>
        </p:spPr>
        <p:txBody>
          <a:bodyPr wrap="square" lIns="0" tIns="0" rIns="0" bIns="0" rtlCol="0" anchor="ctr"/>
          <a:lstStyle/>
          <a:p>
            <a:pPr indent="0" marL="0">
              <a:lnSpc>
                <a:spcPts val="1350"/>
              </a:lnSpc>
              <a:buNone/>
            </a:pPr>
            <a:r>
              <a:rPr lang="en-US" sz="1050" dirty="0">
                <a:solidFill>
                  <a:srgbClr val="9AA4AF"/>
                </a:solidFill>
                <a:latin typeface="Calibri" pitchFamily="34" charset="0"/>
                <a:ea typeface="Calibri" pitchFamily="34" charset="-122"/>
                <a:cs typeface="Calibri" pitchFamily="34" charset="-120"/>
              </a:rPr>
              <a:t>Use +/- if a service happens more than once.</a:t>
            </a:r>
            <a:endParaRPr lang="en-US" sz="1050" dirty="0"/>
          </a:p>
        </p:txBody>
      </p:sp>
      <p:sp>
        <p:nvSpPr>
          <p:cNvPr id="16" name="Text 14"/>
          <p:cNvSpPr/>
          <p:nvPr/>
        </p:nvSpPr>
        <p:spPr>
          <a:xfrm>
            <a:off x="6062472" y="2505456"/>
            <a:ext cx="192024" cy="457200"/>
          </a:xfrm>
          <a:prstGeom prst="rect">
            <a:avLst/>
          </a:prstGeom>
          <a:noFill/>
          <a:ln/>
        </p:spPr>
        <p:txBody>
          <a:bodyPr wrap="square" lIns="0" tIns="0" rIns="0" bIns="0" rtlCol="0" anchor="ctr"/>
          <a:lstStyle/>
          <a:p>
            <a:pPr algn="ctr" indent="0" marL="0">
              <a:buNone/>
            </a:pPr>
            <a:r>
              <a:rPr lang="en-US" sz="2600" b="1" dirty="0">
                <a:solidFill>
                  <a:srgbClr val="F0A429"/>
                </a:solidFill>
                <a:latin typeface="Arial" pitchFamily="34" charset="0"/>
                <a:ea typeface="Arial" pitchFamily="34" charset="-122"/>
                <a:cs typeface="Arial" pitchFamily="34" charset="-120"/>
              </a:rPr>
              <a:t>›</a:t>
            </a:r>
            <a:endParaRPr lang="en-US" sz="2600" dirty="0"/>
          </a:p>
        </p:txBody>
      </p:sp>
      <p:sp>
        <p:nvSpPr>
          <p:cNvPr id="17" name="Shape 15"/>
          <p:cNvSpPr/>
          <p:nvPr/>
        </p:nvSpPr>
        <p:spPr>
          <a:xfrm>
            <a:off x="6254496" y="1865376"/>
            <a:ext cx="2651760" cy="1874520"/>
          </a:xfrm>
          <a:prstGeom prst="roundRect">
            <a:avLst>
              <a:gd name="adj" fmla="val 3902"/>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8" name="Shape 16"/>
          <p:cNvSpPr/>
          <p:nvPr/>
        </p:nvSpPr>
        <p:spPr>
          <a:xfrm>
            <a:off x="6473952" y="2066544"/>
            <a:ext cx="402336" cy="402336"/>
          </a:xfrm>
          <a:prstGeom prst="ellipse">
            <a:avLst/>
          </a:prstGeom>
          <a:solidFill>
            <a:srgbClr val="F0A429"/>
          </a:solidFill>
          <a:ln w="12700">
            <a:solidFill>
              <a:srgbClr val="F0A429"/>
            </a:solidFill>
            <a:prstDash val="solid"/>
          </a:ln>
        </p:spPr>
        <p:txBody>
          <a:bodyPr/>
          <a:p/>
        </p:txBody>
      </p:sp>
      <p:sp>
        <p:nvSpPr>
          <p:cNvPr id="19" name="Text 17"/>
          <p:cNvSpPr/>
          <p:nvPr/>
        </p:nvSpPr>
        <p:spPr>
          <a:xfrm>
            <a:off x="6473952" y="2066544"/>
            <a:ext cx="402336" cy="402336"/>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20" name="Text 18"/>
          <p:cNvSpPr/>
          <p:nvPr/>
        </p:nvSpPr>
        <p:spPr>
          <a:xfrm>
            <a:off x="6473952" y="2578608"/>
            <a:ext cx="2240280"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Choose Replace or Add</a:t>
            </a:r>
            <a:endParaRPr lang="en-US" sz="1300" dirty="0"/>
          </a:p>
        </p:txBody>
      </p:sp>
      <p:sp>
        <p:nvSpPr>
          <p:cNvPr id="21" name="Text 19"/>
          <p:cNvSpPr/>
          <p:nvPr/>
        </p:nvSpPr>
        <p:spPr>
          <a:xfrm>
            <a:off x="6473952" y="2907792"/>
            <a:ext cx="2240280" cy="685800"/>
          </a:xfrm>
          <a:prstGeom prst="rect">
            <a:avLst/>
          </a:prstGeom>
          <a:noFill/>
          <a:ln/>
        </p:spPr>
        <p:txBody>
          <a:bodyPr wrap="square" lIns="0" tIns="0" rIns="0" bIns="0" rtlCol="0" anchor="ctr"/>
          <a:lstStyle/>
          <a:p>
            <a:pPr indent="0" marL="0">
              <a:lnSpc>
                <a:spcPts val="1350"/>
              </a:lnSpc>
              <a:buNone/>
            </a:pPr>
            <a:r>
              <a:rPr lang="en-US" sz="1050" dirty="0">
                <a:solidFill>
                  <a:srgbClr val="9AA4AF"/>
                </a:solidFill>
                <a:latin typeface="Calibri" pitchFamily="34" charset="0"/>
                <a:ea typeface="Calibri" pitchFamily="34" charset="-122"/>
                <a:cs typeface="Calibri" pitchFamily="34" charset="-120"/>
              </a:rPr>
              <a:t>Replace clears the CE first. Add merges into what is already there.</a:t>
            </a:r>
            <a:endParaRPr lang="en-US" sz="1050" dirty="0"/>
          </a:p>
        </p:txBody>
      </p:sp>
      <p:sp>
        <p:nvSpPr>
          <p:cNvPr id="22" name="Text 20"/>
          <p:cNvSpPr/>
          <p:nvPr/>
        </p:nvSpPr>
        <p:spPr>
          <a:xfrm>
            <a:off x="8906256" y="2505456"/>
            <a:ext cx="192024" cy="457200"/>
          </a:xfrm>
          <a:prstGeom prst="rect">
            <a:avLst/>
          </a:prstGeom>
          <a:noFill/>
          <a:ln/>
        </p:spPr>
        <p:txBody>
          <a:bodyPr wrap="square" lIns="0" tIns="0" rIns="0" bIns="0" rtlCol="0" anchor="ctr"/>
          <a:lstStyle/>
          <a:p>
            <a:pPr algn="ctr" indent="0" marL="0">
              <a:buNone/>
            </a:pPr>
            <a:r>
              <a:rPr lang="en-US" sz="2600" b="1" dirty="0">
                <a:solidFill>
                  <a:srgbClr val="F0A429"/>
                </a:solidFill>
                <a:latin typeface="Arial" pitchFamily="34" charset="0"/>
                <a:ea typeface="Arial" pitchFamily="34" charset="-122"/>
                <a:cs typeface="Arial" pitchFamily="34" charset="-120"/>
              </a:rPr>
              <a:t>›</a:t>
            </a:r>
            <a:endParaRPr lang="en-US" sz="2600" dirty="0"/>
          </a:p>
        </p:txBody>
      </p:sp>
      <p:sp>
        <p:nvSpPr>
          <p:cNvPr id="23" name="Shape 21"/>
          <p:cNvSpPr/>
          <p:nvPr/>
        </p:nvSpPr>
        <p:spPr>
          <a:xfrm>
            <a:off x="9098280" y="1865376"/>
            <a:ext cx="2651760" cy="1874520"/>
          </a:xfrm>
          <a:prstGeom prst="roundRect">
            <a:avLst>
              <a:gd name="adj" fmla="val 3902"/>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4" name="Shape 22"/>
          <p:cNvSpPr/>
          <p:nvPr/>
        </p:nvSpPr>
        <p:spPr>
          <a:xfrm>
            <a:off x="9317736" y="2066544"/>
            <a:ext cx="402336" cy="402336"/>
          </a:xfrm>
          <a:prstGeom prst="ellipse">
            <a:avLst/>
          </a:prstGeom>
          <a:solidFill>
            <a:srgbClr val="F0A429"/>
          </a:solidFill>
          <a:ln w="12700">
            <a:solidFill>
              <a:srgbClr val="F0A429"/>
            </a:solidFill>
            <a:prstDash val="solid"/>
          </a:ln>
        </p:spPr>
        <p:txBody>
          <a:bodyPr/>
          <a:p/>
        </p:txBody>
      </p:sp>
      <p:sp>
        <p:nvSpPr>
          <p:cNvPr id="25" name="Text 23"/>
          <p:cNvSpPr/>
          <p:nvPr/>
        </p:nvSpPr>
        <p:spPr>
          <a:xfrm>
            <a:off x="9317736" y="2066544"/>
            <a:ext cx="402336" cy="402336"/>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4</a:t>
            </a:r>
            <a:endParaRPr lang="en-US" sz="1300" dirty="0"/>
          </a:p>
        </p:txBody>
      </p:sp>
      <p:sp>
        <p:nvSpPr>
          <p:cNvPr id="26" name="Text 24"/>
          <p:cNvSpPr/>
          <p:nvPr/>
        </p:nvSpPr>
        <p:spPr>
          <a:xfrm>
            <a:off x="9317736" y="2578608"/>
            <a:ext cx="2240280" cy="310896"/>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Press Apply to CE</a:t>
            </a:r>
            <a:endParaRPr lang="en-US" sz="1300" dirty="0"/>
          </a:p>
        </p:txBody>
      </p:sp>
      <p:sp>
        <p:nvSpPr>
          <p:cNvPr id="27" name="Text 25"/>
          <p:cNvSpPr/>
          <p:nvPr/>
        </p:nvSpPr>
        <p:spPr>
          <a:xfrm>
            <a:off x="9317736" y="2907792"/>
            <a:ext cx="2240280" cy="685800"/>
          </a:xfrm>
          <a:prstGeom prst="rect">
            <a:avLst/>
          </a:prstGeom>
          <a:noFill/>
          <a:ln/>
        </p:spPr>
        <p:txBody>
          <a:bodyPr wrap="square" lIns="0" tIns="0" rIns="0" bIns="0" rtlCol="0" anchor="ctr"/>
          <a:lstStyle/>
          <a:p>
            <a:pPr indent="0" marL="0">
              <a:lnSpc>
                <a:spcPts val="1350"/>
              </a:lnSpc>
              <a:buNone/>
            </a:pPr>
            <a:r>
              <a:rPr lang="en-US" sz="1050" dirty="0">
                <a:solidFill>
                  <a:srgbClr val="9AA4AF"/>
                </a:solidFill>
                <a:latin typeface="Calibri" pitchFamily="34" charset="0"/>
                <a:ea typeface="Calibri" pitchFamily="34" charset="-122"/>
                <a:cs typeface="Calibri" pitchFamily="34" charset="-120"/>
              </a:rPr>
              <a:t>Scope tasks and every resource appear, already filed against the right task.</a:t>
            </a:r>
            <a:endParaRPr lang="en-US" sz="1050" dirty="0"/>
          </a:p>
        </p:txBody>
      </p:sp>
      <p:sp>
        <p:nvSpPr>
          <p:cNvPr id="28" name="Shape 26"/>
          <p:cNvSpPr/>
          <p:nvPr/>
        </p:nvSpPr>
        <p:spPr>
          <a:xfrm>
            <a:off x="566928" y="4014216"/>
            <a:ext cx="5577840" cy="1691640"/>
          </a:xfrm>
          <a:prstGeom prst="roundRect">
            <a:avLst>
              <a:gd name="adj" fmla="val 4324"/>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9" name="Text 27"/>
          <p:cNvSpPr/>
          <p:nvPr/>
        </p:nvSpPr>
        <p:spPr>
          <a:xfrm>
            <a:off x="822960" y="4197096"/>
            <a:ext cx="5029200" cy="292608"/>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Merge duplicates across services</a:t>
            </a:r>
            <a:endParaRPr lang="en-US" sz="1350" dirty="0"/>
          </a:p>
        </p:txBody>
      </p:sp>
      <p:sp>
        <p:nvSpPr>
          <p:cNvPr id="30" name="Text 28"/>
          <p:cNvSpPr/>
          <p:nvPr/>
        </p:nvSpPr>
        <p:spPr>
          <a:xfrm>
            <a:off x="822960" y="4535424"/>
            <a:ext cx="5074920" cy="1097280"/>
          </a:xfrm>
          <a:prstGeom prst="rect">
            <a:avLst/>
          </a:prstGeom>
          <a:noFill/>
          <a:ln/>
        </p:spPr>
        <p:txBody>
          <a:bodyPr wrap="square" lIns="0" tIns="0" rIns="0" bIns="0" rtlCol="0" anchor="t"/>
          <a:lstStyle/>
          <a:p>
            <a:pPr algn="l" indent="0" marL="0">
              <a:lnSpc>
                <a:spcPts val="1500"/>
              </a:lnSpc>
              <a:buNone/>
            </a:pPr>
            <a:r>
              <a:rPr lang="en-US" sz="1150" dirty="0">
                <a:solidFill>
                  <a:srgbClr val="9AA4AF"/>
                </a:solidFill>
                <a:latin typeface="Calibri" pitchFamily="34" charset="0"/>
                <a:ea typeface="Calibri" pitchFamily="34" charset="-122"/>
                <a:cs typeface="Calibri" pitchFamily="34" charset="-120"/>
              </a:rPr>
              <a:t>Leave this OFF (the default). Each service keeps its own rows, so every scope task shows exactly what it costs. Tick it only if you want one short flat list and do not need per-task totals.</a:t>
            </a:r>
            <a:endParaRPr lang="en-US" sz="1150" dirty="0"/>
          </a:p>
        </p:txBody>
      </p:sp>
      <p:sp>
        <p:nvSpPr>
          <p:cNvPr id="31" name="Shape 29"/>
          <p:cNvSpPr/>
          <p:nvPr/>
        </p:nvSpPr>
        <p:spPr>
          <a:xfrm>
            <a:off x="6446520" y="4014216"/>
            <a:ext cx="5175504" cy="1691640"/>
          </a:xfrm>
          <a:prstGeom prst="roundRect">
            <a:avLst>
              <a:gd name="adj" fmla="val 4324"/>
            </a:avLst>
          </a:prstGeom>
          <a:solidFill>
            <a:srgbClr val="2A1616"/>
          </a:solidFill>
          <a:ln w="12700">
            <a:solidFill>
              <a:srgbClr val="5C2020"/>
            </a:solidFill>
            <a:prstDash val="solid"/>
          </a:ln>
          <a:effectLst>
            <a:outerShdw sx="100000" sy="100000" kx="0" ky="0" algn="bl" rotWithShape="0" blurRad="152400" dist="38100" dir="5400000">
              <a:srgbClr val="000000">
                <a:alpha val="45000"/>
              </a:srgbClr>
            </a:outerShdw>
          </a:effectLst>
        </p:spPr>
        <p:txBody>
          <a:bodyPr/>
          <a:p/>
        </p:txBody>
      </p:sp>
      <p:sp>
        <p:nvSpPr>
          <p:cNvPr id="32" name="Text 30"/>
          <p:cNvSpPr/>
          <p:nvPr/>
        </p:nvSpPr>
        <p:spPr>
          <a:xfrm>
            <a:off x="6702552" y="4197096"/>
            <a:ext cx="4663440" cy="292608"/>
          </a:xfrm>
          <a:prstGeom prst="rect">
            <a:avLst/>
          </a:prstGeom>
          <a:noFill/>
          <a:ln/>
        </p:spPr>
        <p:txBody>
          <a:bodyPr wrap="square" lIns="0" tIns="0" rIns="0" bIns="0" rtlCol="0" anchor="ctr"/>
          <a:lstStyle/>
          <a:p>
            <a:pPr indent="0" marL="0">
              <a:buNone/>
            </a:pPr>
            <a:r>
              <a:rPr lang="en-US" sz="1350" b="1" dirty="0">
                <a:solidFill>
                  <a:srgbClr val="F85149"/>
                </a:solidFill>
                <a:latin typeface="Arial" pitchFamily="34" charset="0"/>
                <a:ea typeface="Arial" pitchFamily="34" charset="-122"/>
                <a:cs typeface="Arial" pitchFamily="34" charset="-120"/>
              </a:rPr>
              <a:t>Adding the same service twice</a:t>
            </a:r>
            <a:endParaRPr lang="en-US" sz="1350" dirty="0"/>
          </a:p>
        </p:txBody>
      </p:sp>
      <p:sp>
        <p:nvSpPr>
          <p:cNvPr id="33" name="Text 31"/>
          <p:cNvSpPr/>
          <p:nvPr/>
        </p:nvSpPr>
        <p:spPr>
          <a:xfrm>
            <a:off x="6702552" y="4535424"/>
            <a:ext cx="4663440" cy="1097280"/>
          </a:xfrm>
          <a:prstGeom prst="rect">
            <a:avLst/>
          </a:prstGeom>
          <a:noFill/>
          <a:ln/>
        </p:spPr>
        <p:txBody>
          <a:bodyPr wrap="square" lIns="0" tIns="0" rIns="0" bIns="0" rtlCol="0" anchor="t"/>
          <a:lstStyle/>
          <a:p>
            <a:pPr algn="l" indent="0" marL="0">
              <a:lnSpc>
                <a:spcPts val="1500"/>
              </a:lnSpc>
              <a:buNone/>
            </a:pPr>
            <a:r>
              <a:rPr lang="en-US" sz="1150" dirty="0">
                <a:solidFill>
                  <a:srgbClr val="E6EDF3"/>
                </a:solidFill>
                <a:latin typeface="Calibri" pitchFamily="34" charset="0"/>
                <a:ea typeface="Calibri" pitchFamily="34" charset="-122"/>
                <a:cs typeface="Calibri" pitchFamily="34" charset="-120"/>
              </a:rPr>
              <a:t>Add to CE is additive — a second press builds a second set of tasks and doubles that cost. The app now asks first. To change what is already there, edit it in SOW Breakdown instead.</a:t>
            </a:r>
            <a:endParaRPr lang="en-US" sz="1150" dirty="0"/>
          </a:p>
        </p:txBody>
      </p:sp>
      <p:sp>
        <p:nvSpPr>
          <p:cNvPr id="34" name="Text 32"/>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5" name="Text 33"/>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2 · SCOPE OF WORK</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Describe the job in steps</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Shape 4"/>
          <p:cNvSpPr/>
          <p:nvPr/>
        </p:nvSpPr>
        <p:spPr>
          <a:xfrm>
            <a:off x="1822704"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7" name="Text 5"/>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Scope of Work</a:t>
            </a:r>
            <a:endParaRPr lang="en-US" sz="900" dirty="0"/>
          </a:p>
        </p:txBody>
      </p:sp>
      <p:sp>
        <p:nvSpPr>
          <p:cNvPr id="8" name="Text 6"/>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9" name="Text 7"/>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02536"/>
            <a:ext cx="630936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841248" y="2212848"/>
            <a:ext cx="5669280" cy="310896"/>
          </a:xfrm>
          <a:prstGeom prst="rect">
            <a:avLst/>
          </a:prstGeom>
          <a:noFill/>
          <a:ln/>
        </p:spPr>
        <p:txBody>
          <a:bodyPr wrap="square" lIns="0" tIns="0" rIns="0" bIns="0" rtlCol="0" anchor="ctr"/>
          <a:lstStyle/>
          <a:p>
            <a:pPr indent="0" marL="0">
              <a:buNone/>
            </a:pPr>
            <a:r>
              <a:rPr lang="en-US" sz="1600" b="1" dirty="0">
                <a:solidFill>
                  <a:srgbClr val="F0A429"/>
                </a:solidFill>
                <a:latin typeface="Arial" pitchFamily="34" charset="0"/>
                <a:ea typeface="Arial" pitchFamily="34" charset="-122"/>
                <a:cs typeface="Arial" pitchFamily="34" charset="-120"/>
              </a:rPr>
              <a:t>Main items and sub-steps</a:t>
            </a:r>
            <a:endParaRPr lang="en-US" sz="1600" dirty="0"/>
          </a:p>
        </p:txBody>
      </p:sp>
      <p:sp>
        <p:nvSpPr>
          <p:cNvPr id="17" name="Text 15"/>
          <p:cNvSpPr/>
          <p:nvPr/>
        </p:nvSpPr>
        <p:spPr>
          <a:xfrm>
            <a:off x="841248" y="2642616"/>
            <a:ext cx="502920" cy="384048"/>
          </a:xfrm>
          <a:prstGeom prst="rect">
            <a:avLst/>
          </a:prstGeom>
          <a:noFill/>
          <a:ln/>
        </p:spPr>
        <p:txBody>
          <a:bodyPr wrap="square" lIns="0" tIns="0" rIns="0" bIns="0" rtlCol="0" anchor="ctr"/>
          <a:lstStyle/>
          <a:p>
            <a:pPr indent="0" marL="0">
              <a:buNone/>
            </a:pPr>
            <a:r>
              <a:rPr lang="en-US" sz="1200" b="1" dirty="0">
                <a:solidFill>
                  <a:srgbClr val="F0A429"/>
                </a:solidFill>
                <a:latin typeface="Courier New" pitchFamily="34" charset="0"/>
                <a:ea typeface="Courier New" pitchFamily="34" charset="-122"/>
                <a:cs typeface="Courier New" pitchFamily="34" charset="-120"/>
              </a:rPr>
              <a:t>1.</a:t>
            </a:r>
            <a:endParaRPr lang="en-US" sz="1200" dirty="0"/>
          </a:p>
        </p:txBody>
      </p:sp>
      <p:sp>
        <p:nvSpPr>
          <p:cNvPr id="18" name="Shape 16"/>
          <p:cNvSpPr/>
          <p:nvPr/>
        </p:nvSpPr>
        <p:spPr>
          <a:xfrm>
            <a:off x="1408176" y="2642616"/>
            <a:ext cx="4892040" cy="384048"/>
          </a:xfrm>
          <a:prstGeom prst="roundRect">
            <a:avLst>
              <a:gd name="adj" fmla="val 11905"/>
            </a:avLst>
          </a:prstGeom>
          <a:solidFill>
            <a:srgbClr val="161B22"/>
          </a:solidFill>
          <a:ln w="12700">
            <a:solidFill>
              <a:srgbClr val="30363D"/>
            </a:solidFill>
            <a:prstDash val="solid"/>
          </a:ln>
        </p:spPr>
        <p:txBody>
          <a:bodyPr/>
          <a:p/>
        </p:txBody>
      </p:sp>
      <p:sp>
        <p:nvSpPr>
          <p:cNvPr id="19" name="Text 17"/>
          <p:cNvSpPr/>
          <p:nvPr/>
        </p:nvSpPr>
        <p:spPr>
          <a:xfrm>
            <a:off x="1536192" y="2642616"/>
            <a:ext cx="4572000" cy="384048"/>
          </a:xfrm>
          <a:prstGeom prst="rect">
            <a:avLst/>
          </a:prstGeom>
          <a:noFill/>
          <a:ln/>
        </p:spPr>
        <p:txBody>
          <a:bodyPr wrap="square" lIns="0" tIns="0" rIns="0" bIns="0" rtlCol="0" anchor="ctr"/>
          <a:lstStyle/>
          <a:p>
            <a:pPr indent="0" marL="0">
              <a:buNone/>
            </a:pPr>
            <a:r>
              <a:rPr lang="en-US" sz="1200" b="1" dirty="0">
                <a:solidFill>
                  <a:srgbClr val="E6EDF3"/>
                </a:solidFill>
                <a:latin typeface="Calibri" pitchFamily="34" charset="0"/>
                <a:ea typeface="Calibri" pitchFamily="34" charset="-122"/>
                <a:cs typeface="Calibri" pitchFamily="34" charset="-120"/>
              </a:rPr>
              <a:t>Sand blasting</a:t>
            </a:r>
            <a:endParaRPr lang="en-US" sz="1200" dirty="0"/>
          </a:p>
        </p:txBody>
      </p:sp>
      <p:sp>
        <p:nvSpPr>
          <p:cNvPr id="20" name="Text 18"/>
          <p:cNvSpPr/>
          <p:nvPr/>
        </p:nvSpPr>
        <p:spPr>
          <a:xfrm>
            <a:off x="1133856" y="3127248"/>
            <a:ext cx="502920" cy="384048"/>
          </a:xfrm>
          <a:prstGeom prst="rect">
            <a:avLst/>
          </a:prstGeom>
          <a:noFill/>
          <a:ln/>
        </p:spPr>
        <p:txBody>
          <a:bodyPr wrap="square" lIns="0" tIns="0" rIns="0" bIns="0" rtlCol="0" anchor="ctr"/>
          <a:lstStyle/>
          <a:p>
            <a:pPr indent="0" marL="0">
              <a:buNone/>
            </a:pPr>
            <a:r>
              <a:rPr lang="en-US" sz="1200" dirty="0">
                <a:solidFill>
                  <a:srgbClr val="9AA4AF"/>
                </a:solidFill>
                <a:latin typeface="Courier New" pitchFamily="34" charset="0"/>
                <a:ea typeface="Courier New" pitchFamily="34" charset="-122"/>
                <a:cs typeface="Courier New" pitchFamily="34" charset="-120"/>
              </a:rPr>
              <a:t>1.1</a:t>
            </a:r>
            <a:endParaRPr lang="en-US" sz="1200" dirty="0"/>
          </a:p>
        </p:txBody>
      </p:sp>
      <p:sp>
        <p:nvSpPr>
          <p:cNvPr id="21" name="Shape 19"/>
          <p:cNvSpPr/>
          <p:nvPr/>
        </p:nvSpPr>
        <p:spPr>
          <a:xfrm>
            <a:off x="1700784" y="3127248"/>
            <a:ext cx="4599432" cy="384048"/>
          </a:xfrm>
          <a:prstGeom prst="roundRect">
            <a:avLst>
              <a:gd name="adj" fmla="val 11905"/>
            </a:avLst>
          </a:prstGeom>
          <a:solidFill>
            <a:srgbClr val="141922"/>
          </a:solidFill>
          <a:ln w="12700">
            <a:solidFill>
              <a:srgbClr val="30363D"/>
            </a:solidFill>
            <a:prstDash val="solid"/>
          </a:ln>
        </p:spPr>
        <p:txBody>
          <a:bodyPr/>
          <a:p/>
        </p:txBody>
      </p:sp>
      <p:sp>
        <p:nvSpPr>
          <p:cNvPr id="22" name="Text 20"/>
          <p:cNvSpPr/>
          <p:nvPr/>
        </p:nvSpPr>
        <p:spPr>
          <a:xfrm>
            <a:off x="1828800" y="3127248"/>
            <a:ext cx="4572000" cy="384048"/>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HIP — high impact area</a:t>
            </a:r>
            <a:endParaRPr lang="en-US" sz="1200" dirty="0"/>
          </a:p>
        </p:txBody>
      </p:sp>
      <p:sp>
        <p:nvSpPr>
          <p:cNvPr id="23" name="Text 21"/>
          <p:cNvSpPr/>
          <p:nvPr/>
        </p:nvSpPr>
        <p:spPr>
          <a:xfrm>
            <a:off x="1133856" y="3611880"/>
            <a:ext cx="502920" cy="384048"/>
          </a:xfrm>
          <a:prstGeom prst="rect">
            <a:avLst/>
          </a:prstGeom>
          <a:noFill/>
          <a:ln/>
        </p:spPr>
        <p:txBody>
          <a:bodyPr wrap="square" lIns="0" tIns="0" rIns="0" bIns="0" rtlCol="0" anchor="ctr"/>
          <a:lstStyle/>
          <a:p>
            <a:pPr indent="0" marL="0">
              <a:buNone/>
            </a:pPr>
            <a:r>
              <a:rPr lang="en-US" sz="1200" dirty="0">
                <a:solidFill>
                  <a:srgbClr val="9AA4AF"/>
                </a:solidFill>
                <a:latin typeface="Courier New" pitchFamily="34" charset="0"/>
                <a:ea typeface="Courier New" pitchFamily="34" charset="-122"/>
                <a:cs typeface="Courier New" pitchFamily="34" charset="-120"/>
              </a:rPr>
              <a:t>1.2</a:t>
            </a:r>
            <a:endParaRPr lang="en-US" sz="1200" dirty="0"/>
          </a:p>
        </p:txBody>
      </p:sp>
      <p:sp>
        <p:nvSpPr>
          <p:cNvPr id="24" name="Shape 22"/>
          <p:cNvSpPr/>
          <p:nvPr/>
        </p:nvSpPr>
        <p:spPr>
          <a:xfrm>
            <a:off x="1700784" y="3611880"/>
            <a:ext cx="4599432" cy="384048"/>
          </a:xfrm>
          <a:prstGeom prst="roundRect">
            <a:avLst>
              <a:gd name="adj" fmla="val 11905"/>
            </a:avLst>
          </a:prstGeom>
          <a:solidFill>
            <a:srgbClr val="141922"/>
          </a:solidFill>
          <a:ln w="12700">
            <a:solidFill>
              <a:srgbClr val="30363D"/>
            </a:solidFill>
            <a:prstDash val="solid"/>
          </a:ln>
        </p:spPr>
        <p:txBody>
          <a:bodyPr/>
          <a:p/>
        </p:txBody>
      </p:sp>
      <p:sp>
        <p:nvSpPr>
          <p:cNvPr id="25" name="Text 23"/>
          <p:cNvSpPr/>
          <p:nvPr/>
        </p:nvSpPr>
        <p:spPr>
          <a:xfrm>
            <a:off x="1828800" y="3611880"/>
            <a:ext cx="4572000" cy="384048"/>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LIP — low impact area</a:t>
            </a:r>
            <a:endParaRPr lang="en-US" sz="1200" dirty="0"/>
          </a:p>
        </p:txBody>
      </p:sp>
      <p:sp>
        <p:nvSpPr>
          <p:cNvPr id="26" name="Text 24"/>
          <p:cNvSpPr/>
          <p:nvPr/>
        </p:nvSpPr>
        <p:spPr>
          <a:xfrm>
            <a:off x="841248" y="4096512"/>
            <a:ext cx="502920" cy="384048"/>
          </a:xfrm>
          <a:prstGeom prst="rect">
            <a:avLst/>
          </a:prstGeom>
          <a:noFill/>
          <a:ln/>
        </p:spPr>
        <p:txBody>
          <a:bodyPr wrap="square" lIns="0" tIns="0" rIns="0" bIns="0" rtlCol="0" anchor="ctr"/>
          <a:lstStyle/>
          <a:p>
            <a:pPr indent="0" marL="0">
              <a:buNone/>
            </a:pPr>
            <a:r>
              <a:rPr lang="en-US" sz="1200" b="1" dirty="0">
                <a:solidFill>
                  <a:srgbClr val="F0A429"/>
                </a:solidFill>
                <a:latin typeface="Courier New" pitchFamily="34" charset="0"/>
                <a:ea typeface="Courier New" pitchFamily="34" charset="-122"/>
                <a:cs typeface="Courier New" pitchFamily="34" charset="-120"/>
              </a:rPr>
              <a:t>2.</a:t>
            </a:r>
            <a:endParaRPr lang="en-US" sz="1200" dirty="0"/>
          </a:p>
        </p:txBody>
      </p:sp>
      <p:sp>
        <p:nvSpPr>
          <p:cNvPr id="27" name="Shape 25"/>
          <p:cNvSpPr/>
          <p:nvPr/>
        </p:nvSpPr>
        <p:spPr>
          <a:xfrm>
            <a:off x="1408176" y="4096512"/>
            <a:ext cx="4892040" cy="384048"/>
          </a:xfrm>
          <a:prstGeom prst="roundRect">
            <a:avLst>
              <a:gd name="adj" fmla="val 11905"/>
            </a:avLst>
          </a:prstGeom>
          <a:solidFill>
            <a:srgbClr val="161B22"/>
          </a:solidFill>
          <a:ln w="12700">
            <a:solidFill>
              <a:srgbClr val="30363D"/>
            </a:solidFill>
            <a:prstDash val="solid"/>
          </a:ln>
        </p:spPr>
        <p:txBody>
          <a:bodyPr/>
          <a:p/>
        </p:txBody>
      </p:sp>
      <p:sp>
        <p:nvSpPr>
          <p:cNvPr id="28" name="Text 26"/>
          <p:cNvSpPr/>
          <p:nvPr/>
        </p:nvSpPr>
        <p:spPr>
          <a:xfrm>
            <a:off x="1536192" y="4096512"/>
            <a:ext cx="4572000" cy="384048"/>
          </a:xfrm>
          <a:prstGeom prst="rect">
            <a:avLst/>
          </a:prstGeom>
          <a:noFill/>
          <a:ln/>
        </p:spPr>
        <p:txBody>
          <a:bodyPr wrap="square" lIns="0" tIns="0" rIns="0" bIns="0" rtlCol="0" anchor="ctr"/>
          <a:lstStyle/>
          <a:p>
            <a:pPr indent="0" marL="0">
              <a:buNone/>
            </a:pPr>
            <a:r>
              <a:rPr lang="en-US" sz="1200" b="1" dirty="0">
                <a:solidFill>
                  <a:srgbClr val="E6EDF3"/>
                </a:solidFill>
                <a:latin typeface="Calibri" pitchFamily="34" charset="0"/>
                <a:ea typeface="Calibri" pitchFamily="34" charset="-122"/>
                <a:cs typeface="Calibri" pitchFamily="34" charset="-120"/>
              </a:rPr>
              <a:t>Rebabbitting of plain bearing</a:t>
            </a:r>
            <a:endParaRPr lang="en-US" sz="1200" dirty="0"/>
          </a:p>
        </p:txBody>
      </p:sp>
      <p:sp>
        <p:nvSpPr>
          <p:cNvPr id="29" name="Text 27"/>
          <p:cNvSpPr/>
          <p:nvPr/>
        </p:nvSpPr>
        <p:spPr>
          <a:xfrm>
            <a:off x="1133856" y="4581144"/>
            <a:ext cx="502920" cy="384048"/>
          </a:xfrm>
          <a:prstGeom prst="rect">
            <a:avLst/>
          </a:prstGeom>
          <a:noFill/>
          <a:ln/>
        </p:spPr>
        <p:txBody>
          <a:bodyPr wrap="square" lIns="0" tIns="0" rIns="0" bIns="0" rtlCol="0" anchor="ctr"/>
          <a:lstStyle/>
          <a:p>
            <a:pPr indent="0" marL="0">
              <a:buNone/>
            </a:pPr>
            <a:r>
              <a:rPr lang="en-US" sz="1200" dirty="0">
                <a:solidFill>
                  <a:srgbClr val="9AA4AF"/>
                </a:solidFill>
                <a:latin typeface="Courier New" pitchFamily="34" charset="0"/>
                <a:ea typeface="Courier New" pitchFamily="34" charset="-122"/>
                <a:cs typeface="Courier New" pitchFamily="34" charset="-120"/>
              </a:rPr>
              <a:t>2.1</a:t>
            </a:r>
            <a:endParaRPr lang="en-US" sz="1200" dirty="0"/>
          </a:p>
        </p:txBody>
      </p:sp>
      <p:sp>
        <p:nvSpPr>
          <p:cNvPr id="30" name="Shape 28"/>
          <p:cNvSpPr/>
          <p:nvPr/>
        </p:nvSpPr>
        <p:spPr>
          <a:xfrm>
            <a:off x="1700784" y="4581144"/>
            <a:ext cx="4599432" cy="384048"/>
          </a:xfrm>
          <a:prstGeom prst="roundRect">
            <a:avLst>
              <a:gd name="adj" fmla="val 11905"/>
            </a:avLst>
          </a:prstGeom>
          <a:solidFill>
            <a:srgbClr val="141922"/>
          </a:solidFill>
          <a:ln w="12700">
            <a:solidFill>
              <a:srgbClr val="30363D"/>
            </a:solidFill>
            <a:prstDash val="solid"/>
          </a:ln>
        </p:spPr>
        <p:txBody>
          <a:bodyPr/>
          <a:p/>
        </p:txBody>
      </p:sp>
      <p:sp>
        <p:nvSpPr>
          <p:cNvPr id="31" name="Text 29"/>
          <p:cNvSpPr/>
          <p:nvPr/>
        </p:nvSpPr>
        <p:spPr>
          <a:xfrm>
            <a:off x="1828800" y="4581144"/>
            <a:ext cx="4572000" cy="384048"/>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Disassembly and inspection</a:t>
            </a:r>
            <a:endParaRPr lang="en-US" sz="1200" dirty="0"/>
          </a:p>
        </p:txBody>
      </p:sp>
      <p:sp>
        <p:nvSpPr>
          <p:cNvPr id="32" name="Text 30"/>
          <p:cNvSpPr/>
          <p:nvPr/>
        </p:nvSpPr>
        <p:spPr>
          <a:xfrm>
            <a:off x="841248" y="5065776"/>
            <a:ext cx="5669280" cy="45720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Use + Main Item for a numbered step, + Sub Item for detail under it. Reorder with the arrows.</a:t>
            </a:r>
            <a:endParaRPr lang="en-US" sz="1100" dirty="0"/>
          </a:p>
        </p:txBody>
      </p:sp>
      <p:sp>
        <p:nvSpPr>
          <p:cNvPr id="33" name="Shape 31"/>
          <p:cNvSpPr/>
          <p:nvPr/>
        </p:nvSpPr>
        <p:spPr>
          <a:xfrm>
            <a:off x="7086600" y="2002536"/>
            <a:ext cx="4526280" cy="1691640"/>
          </a:xfrm>
          <a:prstGeom prst="roundRect">
            <a:avLst>
              <a:gd name="adj" fmla="val 4324"/>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7315200" y="2185416"/>
            <a:ext cx="4023360" cy="292608"/>
          </a:xfrm>
          <a:prstGeom prst="rect">
            <a:avLst/>
          </a:prstGeom>
          <a:noFill/>
          <a:ln/>
        </p:spPr>
        <p:txBody>
          <a:bodyPr wrap="square" lIns="0" tIns="0" rIns="0" bIns="0" rtlCol="0" anchor="ctr"/>
          <a:lstStyle/>
          <a:p>
            <a:pPr indent="0" marL="0">
              <a:buNone/>
            </a:pPr>
            <a:r>
              <a:rPr lang="en-US" sz="1450" b="1" dirty="0">
                <a:solidFill>
                  <a:srgbClr val="E6EDF3"/>
                </a:solidFill>
                <a:latin typeface="Arial" pitchFamily="34" charset="0"/>
                <a:ea typeface="Arial" pitchFamily="34" charset="-122"/>
                <a:cs typeface="Arial" pitchFamily="34" charset="-120"/>
              </a:rPr>
              <a:t>Why it matters</a:t>
            </a:r>
            <a:endParaRPr lang="en-US" sz="1450" dirty="0"/>
          </a:p>
        </p:txBody>
      </p:sp>
      <p:sp>
        <p:nvSpPr>
          <p:cNvPr id="35" name="Text 33"/>
          <p:cNvSpPr/>
          <p:nvPr/>
        </p:nvSpPr>
        <p:spPr>
          <a:xfrm>
            <a:off x="7315200" y="2542032"/>
            <a:ext cx="4069080" cy="1097280"/>
          </a:xfrm>
          <a:prstGeom prst="rect">
            <a:avLst/>
          </a:prstGeom>
          <a:noFill/>
          <a:ln/>
        </p:spPr>
        <p:txBody>
          <a:bodyPr wrap="square" lIns="0" tIns="0" rIns="0" bIns="0" rtlCol="0" anchor="t"/>
          <a:lstStyle/>
          <a:p>
            <a:pPr algn="l" indent="0" marL="0">
              <a:lnSpc>
                <a:spcPts val="1600"/>
              </a:lnSpc>
              <a:buNone/>
            </a:pPr>
            <a:r>
              <a:rPr lang="en-US" sz="1200" dirty="0">
                <a:solidFill>
                  <a:srgbClr val="9AA4AF"/>
                </a:solidFill>
                <a:latin typeface="Calibri" pitchFamily="34" charset="0"/>
                <a:ea typeface="Calibri" pitchFamily="34" charset="-122"/>
                <a:cs typeface="Calibri" pitchFamily="34" charset="-120"/>
              </a:rPr>
              <a:t>These steps become the tasks in SOW Breakdown. Every resource you add is filed against one of them, so the scope you write here decides how the cost is grouped.</a:t>
            </a:r>
            <a:endParaRPr lang="en-US" sz="1200" dirty="0"/>
          </a:p>
        </p:txBody>
      </p:sp>
      <p:sp>
        <p:nvSpPr>
          <p:cNvPr id="36" name="Shape 34"/>
          <p:cNvSpPr/>
          <p:nvPr/>
        </p:nvSpPr>
        <p:spPr>
          <a:xfrm>
            <a:off x="7086600" y="3877056"/>
            <a:ext cx="4526280" cy="1691640"/>
          </a:xfrm>
          <a:prstGeom prst="roundRect">
            <a:avLst>
              <a:gd name="adj" fmla="val 4324"/>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7" name="Text 35"/>
          <p:cNvSpPr/>
          <p:nvPr/>
        </p:nvSpPr>
        <p:spPr>
          <a:xfrm>
            <a:off x="7315200" y="4059936"/>
            <a:ext cx="4023360" cy="292608"/>
          </a:xfrm>
          <a:prstGeom prst="rect">
            <a:avLst/>
          </a:prstGeom>
          <a:noFill/>
          <a:ln/>
        </p:spPr>
        <p:txBody>
          <a:bodyPr wrap="square" lIns="0" tIns="0" rIns="0" bIns="0" rtlCol="0" anchor="ctr"/>
          <a:lstStyle/>
          <a:p>
            <a:pPr indent="0" marL="0">
              <a:buNone/>
            </a:pPr>
            <a:r>
              <a:rPr lang="en-US" sz="1450" b="1" dirty="0">
                <a:solidFill>
                  <a:srgbClr val="F85149"/>
                </a:solidFill>
                <a:latin typeface="Arial" pitchFamily="34" charset="0"/>
                <a:ea typeface="Arial" pitchFamily="34" charset="-122"/>
                <a:cs typeface="Arial" pitchFamily="34" charset="-120"/>
              </a:rPr>
              <a:t>Deleting a step</a:t>
            </a:r>
            <a:endParaRPr lang="en-US" sz="1450" dirty="0"/>
          </a:p>
        </p:txBody>
      </p:sp>
      <p:sp>
        <p:nvSpPr>
          <p:cNvPr id="38" name="Text 36"/>
          <p:cNvSpPr/>
          <p:nvPr/>
        </p:nvSpPr>
        <p:spPr>
          <a:xfrm>
            <a:off x="7315200" y="4416552"/>
            <a:ext cx="4069080" cy="1097280"/>
          </a:xfrm>
          <a:prstGeom prst="rect">
            <a:avLst/>
          </a:prstGeom>
          <a:noFill/>
          <a:ln/>
        </p:spPr>
        <p:txBody>
          <a:bodyPr wrap="square" lIns="0" tIns="0" rIns="0" bIns="0" rtlCol="0" anchor="t"/>
          <a:lstStyle/>
          <a:p>
            <a:pPr algn="l" indent="0" marL="0">
              <a:lnSpc>
                <a:spcPts val="1600"/>
              </a:lnSpc>
              <a:buNone/>
            </a:pPr>
            <a:r>
              <a:rPr lang="en-US" sz="1200" dirty="0">
                <a:solidFill>
                  <a:srgbClr val="9AA4AF"/>
                </a:solidFill>
                <a:latin typeface="Calibri" pitchFamily="34" charset="0"/>
                <a:ea typeface="Calibri" pitchFamily="34" charset="-122"/>
                <a:cs typeface="Calibri" pitchFamily="34" charset="-120"/>
              </a:rPr>
              <a:t>Any step can be put back: a main item, a sub-step, or Clear All. A main item takes its sub-steps and their resources with it, and the app says how many. You have 20 seconds to undo.</a:t>
            </a:r>
            <a:endParaRPr lang="en-US" sz="1200" dirty="0"/>
          </a:p>
        </p:txBody>
      </p:sp>
      <p:sp>
        <p:nvSpPr>
          <p:cNvPr id="39" name="Text 37"/>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40" name="Text 38"/>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3 · SOW BREAKDOWN</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What each step needs</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Shape 5"/>
          <p:cNvSpPr/>
          <p:nvPr/>
        </p:nvSpPr>
        <p:spPr>
          <a:xfrm>
            <a:off x="3051048"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8" name="Text 6"/>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SOW Breakdown</a:t>
            </a:r>
            <a:endParaRPr lang="en-US" sz="900" dirty="0"/>
          </a:p>
        </p:txBody>
      </p:sp>
      <p:sp>
        <p:nvSpPr>
          <p:cNvPr id="9" name="Text 7"/>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02536"/>
            <a:ext cx="6858000" cy="2286000"/>
          </a:xfrm>
          <a:prstGeom prst="roundRect">
            <a:avLst>
              <a:gd name="adj" fmla="val 32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795528" y="2157984"/>
            <a:ext cx="3291840" cy="329184"/>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  1   Sand Blasting</a:t>
            </a:r>
            <a:endParaRPr lang="en-US" sz="1400" dirty="0"/>
          </a:p>
        </p:txBody>
      </p:sp>
      <p:sp>
        <p:nvSpPr>
          <p:cNvPr id="17" name="Text 15"/>
          <p:cNvSpPr/>
          <p:nvPr/>
        </p:nvSpPr>
        <p:spPr>
          <a:xfrm>
            <a:off x="4133088" y="2157984"/>
            <a:ext cx="1371600" cy="329184"/>
          </a:xfrm>
          <a:prstGeom prst="rect">
            <a:avLst/>
          </a:prstGeom>
          <a:noFill/>
          <a:ln/>
        </p:spPr>
        <p:txBody>
          <a:bodyPr wrap="square" lIns="0" tIns="0" rIns="0" bIns="0" rtlCol="0" anchor="ctr"/>
          <a:lstStyle/>
          <a:p>
            <a:pPr algn="r" indent="0" marL="0">
              <a:buNone/>
            </a:pPr>
            <a:r>
              <a:rPr lang="en-US" sz="1300" b="1" dirty="0">
                <a:solidFill>
                  <a:srgbClr val="F0A429"/>
                </a:solidFill>
                <a:latin typeface="Courier New" pitchFamily="34" charset="0"/>
                <a:ea typeface="Courier New" pitchFamily="34" charset="-122"/>
                <a:cs typeface="Courier New" pitchFamily="34" charset="-120"/>
              </a:rPr>
              <a:t>₱6,072.16</a:t>
            </a:r>
            <a:endParaRPr lang="en-US" sz="1300" dirty="0"/>
          </a:p>
        </p:txBody>
      </p:sp>
      <p:sp>
        <p:nvSpPr>
          <p:cNvPr id="18" name="Shape 16"/>
          <p:cNvSpPr/>
          <p:nvPr/>
        </p:nvSpPr>
        <p:spPr>
          <a:xfrm>
            <a:off x="5641848" y="2194560"/>
            <a:ext cx="1572768" cy="265176"/>
          </a:xfrm>
          <a:prstGeom prst="roundRect">
            <a:avLst>
              <a:gd name="adj" fmla="val 48276"/>
            </a:avLst>
          </a:prstGeom>
          <a:solidFill>
            <a:srgbClr val="13301C"/>
          </a:solidFill>
          <a:ln w="12700">
            <a:solidFill>
              <a:srgbClr val="13301C"/>
            </a:solidFill>
            <a:prstDash val="solid"/>
          </a:ln>
        </p:spPr>
        <p:txBody>
          <a:bodyPr/>
          <a:p/>
        </p:txBody>
      </p:sp>
      <p:sp>
        <p:nvSpPr>
          <p:cNvPr id="19" name="Text 17"/>
          <p:cNvSpPr/>
          <p:nvPr/>
        </p:nvSpPr>
        <p:spPr>
          <a:xfrm>
            <a:off x="5641848" y="2194560"/>
            <a:ext cx="1572768" cy="265176"/>
          </a:xfrm>
          <a:prstGeom prst="rect">
            <a:avLst/>
          </a:prstGeom>
          <a:noFill/>
          <a:ln/>
        </p:spPr>
        <p:txBody>
          <a:bodyPr wrap="square" lIns="0" tIns="0" rIns="0" bIns="0" rtlCol="0" anchor="ctr"/>
          <a:lstStyle/>
          <a:p>
            <a:pPr algn="ctr" indent="0" marL="0">
              <a:buNone/>
            </a:pPr>
            <a:r>
              <a:rPr lang="en-US" sz="950" dirty="0">
                <a:solidFill>
                  <a:srgbClr val="3FB950"/>
                </a:solidFill>
                <a:latin typeface="Calibri" pitchFamily="34" charset="0"/>
                <a:ea typeface="Calibri" pitchFamily="34" charset="-122"/>
                <a:cs typeface="Calibri" pitchFamily="34" charset="-120"/>
              </a:rPr>
              <a:t>5 resources</a:t>
            </a:r>
            <a:endParaRPr lang="en-US" sz="950" dirty="0"/>
          </a:p>
        </p:txBody>
      </p:sp>
      <p:sp>
        <p:nvSpPr>
          <p:cNvPr id="20" name="Shape 18"/>
          <p:cNvSpPr/>
          <p:nvPr/>
        </p:nvSpPr>
        <p:spPr>
          <a:xfrm>
            <a:off x="978408" y="2642616"/>
            <a:ext cx="6217920" cy="420624"/>
          </a:xfrm>
          <a:prstGeom prst="roundRect">
            <a:avLst>
              <a:gd name="adj" fmla="val 10870"/>
            </a:avLst>
          </a:prstGeom>
          <a:solidFill>
            <a:srgbClr val="161B22"/>
          </a:solidFill>
          <a:ln w="12700">
            <a:solidFill>
              <a:srgbClr val="30363D"/>
            </a:solidFill>
            <a:prstDash val="solid"/>
          </a:ln>
        </p:spPr>
        <p:txBody>
          <a:bodyPr/>
          <a:p/>
        </p:txBody>
      </p:sp>
      <p:sp>
        <p:nvSpPr>
          <p:cNvPr id="21" name="Text 19"/>
          <p:cNvSpPr/>
          <p:nvPr/>
        </p:nvSpPr>
        <p:spPr>
          <a:xfrm>
            <a:off x="1133856" y="2642616"/>
            <a:ext cx="2926080" cy="420624"/>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  1.1   HIP</a:t>
            </a:r>
            <a:endParaRPr lang="en-US" sz="1200" dirty="0"/>
          </a:p>
        </p:txBody>
      </p:sp>
      <p:sp>
        <p:nvSpPr>
          <p:cNvPr id="22" name="Text 20"/>
          <p:cNvSpPr/>
          <p:nvPr/>
        </p:nvSpPr>
        <p:spPr>
          <a:xfrm>
            <a:off x="5321808" y="2642616"/>
            <a:ext cx="1691640" cy="420624"/>
          </a:xfrm>
          <a:prstGeom prst="rect">
            <a:avLst/>
          </a:prstGeom>
          <a:noFill/>
          <a:ln/>
        </p:spPr>
        <p:txBody>
          <a:bodyPr wrap="square" lIns="0" tIns="0" rIns="0" bIns="0" rtlCol="0" anchor="ctr"/>
          <a:lstStyle/>
          <a:p>
            <a:pPr algn="r" indent="0" marL="0">
              <a:buNone/>
            </a:pPr>
            <a:r>
              <a:rPr lang="en-US" sz="1150" dirty="0">
                <a:solidFill>
                  <a:srgbClr val="F0A429"/>
                </a:solidFill>
                <a:latin typeface="Courier New" pitchFamily="34" charset="0"/>
                <a:ea typeface="Courier New" pitchFamily="34" charset="-122"/>
                <a:cs typeface="Courier New" pitchFamily="34" charset="-120"/>
              </a:rPr>
              <a:t>₱4,872.16</a:t>
            </a:r>
            <a:endParaRPr lang="en-US" sz="1150" dirty="0"/>
          </a:p>
        </p:txBody>
      </p:sp>
      <p:sp>
        <p:nvSpPr>
          <p:cNvPr id="23" name="Shape 21"/>
          <p:cNvSpPr/>
          <p:nvPr/>
        </p:nvSpPr>
        <p:spPr>
          <a:xfrm>
            <a:off x="978408" y="3154680"/>
            <a:ext cx="6217920" cy="420624"/>
          </a:xfrm>
          <a:prstGeom prst="roundRect">
            <a:avLst>
              <a:gd name="adj" fmla="val 10870"/>
            </a:avLst>
          </a:prstGeom>
          <a:solidFill>
            <a:srgbClr val="161B22"/>
          </a:solidFill>
          <a:ln w="12700">
            <a:solidFill>
              <a:srgbClr val="30363D"/>
            </a:solidFill>
            <a:prstDash val="solid"/>
          </a:ln>
        </p:spPr>
        <p:txBody>
          <a:bodyPr/>
          <a:p/>
        </p:txBody>
      </p:sp>
      <p:sp>
        <p:nvSpPr>
          <p:cNvPr id="24" name="Text 22"/>
          <p:cNvSpPr/>
          <p:nvPr/>
        </p:nvSpPr>
        <p:spPr>
          <a:xfrm>
            <a:off x="1133856" y="3154680"/>
            <a:ext cx="2926080" cy="420624"/>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  1.2   LIP</a:t>
            </a:r>
            <a:endParaRPr lang="en-US" sz="1200" dirty="0"/>
          </a:p>
        </p:txBody>
      </p:sp>
      <p:sp>
        <p:nvSpPr>
          <p:cNvPr id="25" name="Text 23"/>
          <p:cNvSpPr/>
          <p:nvPr/>
        </p:nvSpPr>
        <p:spPr>
          <a:xfrm>
            <a:off x="5321808" y="3154680"/>
            <a:ext cx="1691640" cy="420624"/>
          </a:xfrm>
          <a:prstGeom prst="rect">
            <a:avLst/>
          </a:prstGeom>
          <a:noFill/>
          <a:ln/>
        </p:spPr>
        <p:txBody>
          <a:bodyPr wrap="square" lIns="0" tIns="0" rIns="0" bIns="0" rtlCol="0" anchor="ctr"/>
          <a:lstStyle/>
          <a:p>
            <a:pPr algn="r" indent="0" marL="0">
              <a:buNone/>
            </a:pPr>
            <a:r>
              <a:rPr lang="en-US" sz="1150" dirty="0">
                <a:solidFill>
                  <a:srgbClr val="F0A429"/>
                </a:solidFill>
                <a:latin typeface="Courier New" pitchFamily="34" charset="0"/>
                <a:ea typeface="Courier New" pitchFamily="34" charset="-122"/>
                <a:cs typeface="Courier New" pitchFamily="34" charset="-120"/>
              </a:rPr>
              <a:t>₱1,200.00</a:t>
            </a:r>
            <a:endParaRPr lang="en-US" sz="1150" dirty="0"/>
          </a:p>
        </p:txBody>
      </p:sp>
      <p:sp>
        <p:nvSpPr>
          <p:cNvPr id="26" name="Text 24"/>
          <p:cNvSpPr/>
          <p:nvPr/>
        </p:nvSpPr>
        <p:spPr>
          <a:xfrm>
            <a:off x="795528" y="3694176"/>
            <a:ext cx="6400800" cy="50292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The parent shows the total of everything beneath it. Open a task to add Manpower, Tools &amp; Equipment, Consumables, PPE or Miscellaneous to that step alone.</a:t>
            </a:r>
            <a:endParaRPr lang="en-US" sz="1100" dirty="0"/>
          </a:p>
        </p:txBody>
      </p:sp>
      <p:sp>
        <p:nvSpPr>
          <p:cNvPr id="27" name="Shape 25"/>
          <p:cNvSpPr/>
          <p:nvPr/>
        </p:nvSpPr>
        <p:spPr>
          <a:xfrm>
            <a:off x="7635240" y="2002536"/>
            <a:ext cx="3977640" cy="1078992"/>
          </a:xfrm>
          <a:prstGeom prst="roundRect">
            <a:avLst>
              <a:gd name="adj" fmla="val 678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7863840" y="2130552"/>
            <a:ext cx="3566160" cy="274320"/>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Unassigned resources</a:t>
            </a:r>
            <a:endParaRPr lang="en-US" sz="1350" dirty="0"/>
          </a:p>
        </p:txBody>
      </p:sp>
      <p:sp>
        <p:nvSpPr>
          <p:cNvPr id="29" name="Text 27"/>
          <p:cNvSpPr/>
          <p:nvPr/>
        </p:nvSpPr>
        <p:spPr>
          <a:xfrm>
            <a:off x="7863840" y="2441448"/>
            <a:ext cx="356616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Rows not linked to a step appear in an amber panel below, manpower grouped by shift. Tick a whole shift, or file it to a task in one pick.</a:t>
            </a:r>
            <a:endParaRPr lang="en-US" sz="1100" dirty="0"/>
          </a:p>
        </p:txBody>
      </p:sp>
      <p:sp>
        <p:nvSpPr>
          <p:cNvPr id="30" name="Shape 28"/>
          <p:cNvSpPr/>
          <p:nvPr/>
        </p:nvSpPr>
        <p:spPr>
          <a:xfrm>
            <a:off x="7635240" y="3209544"/>
            <a:ext cx="3977640" cy="1078992"/>
          </a:xfrm>
          <a:prstGeom prst="roundRect">
            <a:avLst>
              <a:gd name="adj" fmla="val 678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Text 29"/>
          <p:cNvSpPr/>
          <p:nvPr/>
        </p:nvSpPr>
        <p:spPr>
          <a:xfrm>
            <a:off x="7863840" y="3337560"/>
            <a:ext cx="3566160" cy="274320"/>
          </a:xfrm>
          <a:prstGeom prst="rect">
            <a:avLst/>
          </a:prstGeom>
          <a:noFill/>
          <a:ln/>
        </p:spPr>
        <p:txBody>
          <a:bodyPr wrap="square" lIns="0" tIns="0" rIns="0" bIns="0" rtlCol="0" anchor="ctr"/>
          <a:lstStyle/>
          <a:p>
            <a:pPr indent="0" marL="0">
              <a:buNone/>
            </a:pPr>
            <a:r>
              <a:rPr lang="en-US" sz="1350" b="1" dirty="0">
                <a:solidFill>
                  <a:srgbClr val="58A6FF"/>
                </a:solidFill>
                <a:latin typeface="Arial" pitchFamily="34" charset="0"/>
                <a:ea typeface="Arial" pitchFamily="34" charset="-122"/>
                <a:cs typeface="Arial" pitchFamily="34" charset="-120"/>
              </a:rPr>
              <a:t>Shared crew</a:t>
            </a:r>
            <a:endParaRPr lang="en-US" sz="1350" dirty="0"/>
          </a:p>
        </p:txBody>
      </p:sp>
      <p:sp>
        <p:nvSpPr>
          <p:cNvPr id="32" name="Text 30"/>
          <p:cNvSpPr/>
          <p:nvPr/>
        </p:nvSpPr>
        <p:spPr>
          <a:xfrm>
            <a:off x="7863840" y="3648456"/>
            <a:ext cx="356616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After consolidating, one row serves several tasks, listed under each with its cost split in proportion.</a:t>
            </a:r>
            <a:endParaRPr lang="en-US" sz="1100" dirty="0"/>
          </a:p>
        </p:txBody>
      </p:sp>
      <p:sp>
        <p:nvSpPr>
          <p:cNvPr id="33" name="Shape 31"/>
          <p:cNvSpPr/>
          <p:nvPr/>
        </p:nvSpPr>
        <p:spPr>
          <a:xfrm>
            <a:off x="7635240" y="4416552"/>
            <a:ext cx="3977640" cy="1152144"/>
          </a:xfrm>
          <a:prstGeom prst="roundRect">
            <a:avLst>
              <a:gd name="adj" fmla="val 6349"/>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7863840" y="4553712"/>
            <a:ext cx="356616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This is the same data</a:t>
            </a:r>
            <a:endParaRPr lang="en-US" sz="1350" dirty="0"/>
          </a:p>
        </p:txBody>
      </p:sp>
      <p:sp>
        <p:nvSpPr>
          <p:cNvPr id="35" name="Text 33"/>
          <p:cNvSpPr/>
          <p:nvPr/>
        </p:nvSpPr>
        <p:spPr>
          <a:xfrm>
            <a:off x="7863840" y="4864608"/>
            <a:ext cx="3566160" cy="65836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Anything you change here changes the Manpower, Tools, Materials, PPE and Miscellaneous tabs too. It is one set of rows, grouped two ways.</a:t>
            </a:r>
            <a:endParaRPr lang="en-US" sz="1100" dirty="0"/>
          </a:p>
        </p:txBody>
      </p:sp>
      <p:sp>
        <p:nvSpPr>
          <p:cNvPr id="36" name="Shape 34"/>
          <p:cNvSpPr/>
          <p:nvPr/>
        </p:nvSpPr>
        <p:spPr>
          <a:xfrm>
            <a:off x="566928" y="4425696"/>
            <a:ext cx="6858000" cy="1143000"/>
          </a:xfrm>
          <a:prstGeom prst="roundRect">
            <a:avLst>
              <a:gd name="adj" fmla="val 640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7" name="Text 35"/>
          <p:cNvSpPr/>
          <p:nvPr/>
        </p:nvSpPr>
        <p:spPr>
          <a:xfrm>
            <a:off x="822960" y="4572000"/>
            <a:ext cx="630936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Two shortcuts worth knowing</a:t>
            </a:r>
            <a:endParaRPr lang="en-US" sz="1400" dirty="0"/>
          </a:p>
        </p:txBody>
      </p:sp>
      <p:sp>
        <p:nvSpPr>
          <p:cNvPr id="38" name="Text 36"/>
          <p:cNvSpPr/>
          <p:nvPr/>
        </p:nvSpPr>
        <p:spPr>
          <a:xfrm>
            <a:off x="822960" y="4882896"/>
            <a:ext cx="6309360" cy="621792"/>
          </a:xfrm>
          <a:prstGeom prst="rect">
            <a:avLst/>
          </a:prstGeom>
          <a:noFill/>
          <a:ln/>
        </p:spPr>
        <p:txBody>
          <a:bodyPr wrap="square" lIns="0" tIns="0" rIns="0" bIns="0" rtlCol="0" anchor="t"/>
          <a:lstStyle/>
          <a:p>
            <a:pPr algn="l" indent="0" marL="0">
              <a:lnSpc>
                <a:spcPts val="1500"/>
              </a:lnSpc>
              <a:buNone/>
            </a:pPr>
            <a:r>
              <a:rPr lang="en-US" sz="1150" dirty="0">
                <a:solidFill>
                  <a:srgbClr val="9AA4AF"/>
                </a:solidFill>
                <a:latin typeface="Calibri" pitchFamily="34" charset="0"/>
                <a:ea typeface="Calibri" pitchFamily="34" charset="-122"/>
                <a:cs typeface="Calibri" pitchFamily="34" charset="-120"/>
              </a:rPr>
              <a:t>copy from… clones every resource on another task into this one — ideal when step 1.2 mirrors 1.1. Collapse all turns a long CE into a one-screen summary of what each step costs.</a:t>
            </a:r>
            <a:endParaRPr lang="en-US" sz="1150" dirty="0"/>
          </a:p>
        </p:txBody>
      </p:sp>
      <p:sp>
        <p:nvSpPr>
          <p:cNvPr id="39" name="Text 37"/>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40" name="Text 38"/>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4 · MANPOWER</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People, days and overtime</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Text 5"/>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8" name="Shape 6"/>
          <p:cNvSpPr/>
          <p:nvPr/>
        </p:nvSpPr>
        <p:spPr>
          <a:xfrm>
            <a:off x="4279392"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9" name="Text 7"/>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Manpower</a:t>
            </a:r>
            <a:endParaRPr lang="en-US" sz="900" dirty="0"/>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Text 13"/>
          <p:cNvSpPr/>
          <p:nvPr/>
        </p:nvSpPr>
        <p:spPr>
          <a:xfrm>
            <a:off x="566928" y="2048256"/>
            <a:ext cx="2415886" cy="256032"/>
          </a:xfrm>
          <a:prstGeom prst="rect">
            <a:avLst/>
          </a:prstGeom>
          <a:noFill/>
          <a:ln/>
        </p:spPr>
        <p:txBody>
          <a:bodyPr wrap="square" lIns="0" tIns="0" rIns="0" bIns="0" rtlCol="0" anchor="ctr"/>
          <a:lstStyle/>
          <a:p>
            <a:pPr algn="l" indent="0" marL="0">
              <a:buNone/>
            </a:pPr>
            <a:r>
              <a:rPr lang="en-US" sz="850" b="1" spc="100" kern="0" dirty="0">
                <a:solidFill>
                  <a:srgbClr val="9AA4AF"/>
                </a:solidFill>
                <a:latin typeface="Calibri" pitchFamily="34" charset="0"/>
                <a:ea typeface="Calibri" pitchFamily="34" charset="-122"/>
                <a:cs typeface="Calibri" pitchFamily="34" charset="-120"/>
              </a:rPr>
              <a:t>ROLE / POSITION</a:t>
            </a:r>
            <a:endParaRPr lang="en-US" sz="850" dirty="0"/>
          </a:p>
        </p:txBody>
      </p:sp>
      <p:sp>
        <p:nvSpPr>
          <p:cNvPr id="16" name="Text 14"/>
          <p:cNvSpPr/>
          <p:nvPr/>
        </p:nvSpPr>
        <p:spPr>
          <a:xfrm>
            <a:off x="2982814" y="2048256"/>
            <a:ext cx="623455" cy="256032"/>
          </a:xfrm>
          <a:prstGeom prst="rect">
            <a:avLst/>
          </a:prstGeom>
          <a:noFill/>
          <a:ln/>
        </p:spPr>
        <p:txBody>
          <a:bodyPr wrap="square" lIns="0" tIns="0" rIns="0" bIns="0" rtlCol="0" anchor="ctr"/>
          <a:lstStyle/>
          <a:p>
            <a:pPr algn="ctr" indent="0" marL="0">
              <a:buNone/>
            </a:pPr>
            <a:r>
              <a:rPr lang="en-US" sz="850" b="1" spc="100" kern="0" dirty="0">
                <a:solidFill>
                  <a:srgbClr val="9AA4AF"/>
                </a:solidFill>
                <a:latin typeface="Calibri" pitchFamily="34" charset="0"/>
                <a:ea typeface="Calibri" pitchFamily="34" charset="-122"/>
                <a:cs typeface="Calibri" pitchFamily="34" charset="-120"/>
              </a:rPr>
              <a:t>PAX</a:t>
            </a:r>
            <a:endParaRPr lang="en-US" sz="850" dirty="0"/>
          </a:p>
        </p:txBody>
      </p:sp>
      <p:sp>
        <p:nvSpPr>
          <p:cNvPr id="17" name="Text 15"/>
          <p:cNvSpPr/>
          <p:nvPr/>
        </p:nvSpPr>
        <p:spPr>
          <a:xfrm>
            <a:off x="3606269" y="2048256"/>
            <a:ext cx="701386" cy="256032"/>
          </a:xfrm>
          <a:prstGeom prst="rect">
            <a:avLst/>
          </a:prstGeom>
          <a:noFill/>
          <a:ln/>
        </p:spPr>
        <p:txBody>
          <a:bodyPr wrap="square" lIns="0" tIns="0" rIns="0" bIns="0" rtlCol="0" anchor="ctr"/>
          <a:lstStyle/>
          <a:p>
            <a:pPr algn="ctr" indent="0" marL="0">
              <a:buNone/>
            </a:pPr>
            <a:r>
              <a:rPr lang="en-US" sz="850" b="1" spc="100" kern="0" dirty="0">
                <a:solidFill>
                  <a:srgbClr val="9AA4AF"/>
                </a:solidFill>
                <a:latin typeface="Calibri" pitchFamily="34" charset="0"/>
                <a:ea typeface="Calibri" pitchFamily="34" charset="-122"/>
                <a:cs typeface="Calibri" pitchFamily="34" charset="-120"/>
              </a:rPr>
              <a:t>DAYS</a:t>
            </a:r>
            <a:endParaRPr lang="en-US" sz="850" dirty="0"/>
          </a:p>
        </p:txBody>
      </p:sp>
      <p:sp>
        <p:nvSpPr>
          <p:cNvPr id="18" name="Text 16"/>
          <p:cNvSpPr/>
          <p:nvPr/>
        </p:nvSpPr>
        <p:spPr>
          <a:xfrm>
            <a:off x="4307655" y="2048256"/>
            <a:ext cx="1013114" cy="256032"/>
          </a:xfrm>
          <a:prstGeom prst="rect">
            <a:avLst/>
          </a:prstGeom>
          <a:noFill/>
          <a:ln/>
        </p:spPr>
        <p:txBody>
          <a:bodyPr wrap="square" lIns="0" tIns="0" rIns="0" bIns="0" rtlCol="0" anchor="ctr"/>
          <a:lstStyle/>
          <a:p>
            <a:pPr algn="ctr" indent="0" marL="0">
              <a:buNone/>
            </a:pPr>
            <a:r>
              <a:rPr lang="en-US" sz="850" b="1" spc="100" kern="0" dirty="0">
                <a:solidFill>
                  <a:srgbClr val="9AA4AF"/>
                </a:solidFill>
                <a:latin typeface="Calibri" pitchFamily="34" charset="0"/>
                <a:ea typeface="Calibri" pitchFamily="34" charset="-122"/>
                <a:cs typeface="Calibri" pitchFamily="34" charset="-120"/>
              </a:rPr>
              <a:t>OT HRS/DAY</a:t>
            </a:r>
            <a:endParaRPr lang="en-US" sz="850" dirty="0"/>
          </a:p>
        </p:txBody>
      </p:sp>
      <p:sp>
        <p:nvSpPr>
          <p:cNvPr id="19" name="Text 17"/>
          <p:cNvSpPr/>
          <p:nvPr/>
        </p:nvSpPr>
        <p:spPr>
          <a:xfrm>
            <a:off x="5320769" y="2048256"/>
            <a:ext cx="935182" cy="256032"/>
          </a:xfrm>
          <a:prstGeom prst="rect">
            <a:avLst/>
          </a:prstGeom>
          <a:noFill/>
          <a:ln/>
        </p:spPr>
        <p:txBody>
          <a:bodyPr wrap="square" lIns="0" tIns="0" rIns="0" bIns="0" rtlCol="0" anchor="ctr"/>
          <a:lstStyle/>
          <a:p>
            <a:pPr algn="r" indent="0" marL="0">
              <a:buNone/>
            </a:pPr>
            <a:r>
              <a:rPr lang="en-US" sz="850" b="1" spc="100" kern="0" dirty="0">
                <a:solidFill>
                  <a:srgbClr val="9AA4AF"/>
                </a:solidFill>
                <a:latin typeface="Calibri" pitchFamily="34" charset="0"/>
                <a:ea typeface="Calibri" pitchFamily="34" charset="-122"/>
                <a:cs typeface="Calibri" pitchFamily="34" charset="-120"/>
              </a:rPr>
              <a:t>DAY RATE</a:t>
            </a:r>
            <a:endParaRPr lang="en-US" sz="850" dirty="0"/>
          </a:p>
        </p:txBody>
      </p:sp>
      <p:sp>
        <p:nvSpPr>
          <p:cNvPr id="20" name="Text 18"/>
          <p:cNvSpPr/>
          <p:nvPr/>
        </p:nvSpPr>
        <p:spPr>
          <a:xfrm>
            <a:off x="6255951" y="2048256"/>
            <a:ext cx="1168977" cy="256032"/>
          </a:xfrm>
          <a:prstGeom prst="rect">
            <a:avLst/>
          </a:prstGeom>
          <a:noFill/>
          <a:ln/>
        </p:spPr>
        <p:txBody>
          <a:bodyPr wrap="square" lIns="0" tIns="0" rIns="0" bIns="0" rtlCol="0" anchor="ctr"/>
          <a:lstStyle/>
          <a:p>
            <a:pPr algn="r" indent="0" marL="0">
              <a:buNone/>
            </a:pPr>
            <a:r>
              <a:rPr lang="en-US" sz="850" b="1" spc="100" kern="0" dirty="0">
                <a:solidFill>
                  <a:srgbClr val="9AA4AF"/>
                </a:solidFill>
                <a:latin typeface="Calibri" pitchFamily="34" charset="0"/>
                <a:ea typeface="Calibri" pitchFamily="34" charset="-122"/>
                <a:cs typeface="Calibri" pitchFamily="34" charset="-120"/>
              </a:rPr>
              <a:t>ROW TOTAL</a:t>
            </a:r>
            <a:endParaRPr lang="en-US" sz="850" dirty="0"/>
          </a:p>
        </p:txBody>
      </p:sp>
      <p:sp>
        <p:nvSpPr>
          <p:cNvPr id="21" name="Shape 19"/>
          <p:cNvSpPr/>
          <p:nvPr/>
        </p:nvSpPr>
        <p:spPr>
          <a:xfrm>
            <a:off x="566928" y="2322576"/>
            <a:ext cx="6858000" cy="292608"/>
          </a:xfrm>
          <a:prstGeom prst="rect">
            <a:avLst/>
          </a:prstGeom>
          <a:solidFill>
            <a:srgbClr val="1C2128"/>
          </a:solidFill>
          <a:ln w="6350">
            <a:solidFill>
              <a:srgbClr val="30363D"/>
            </a:solidFill>
            <a:prstDash val="solid"/>
          </a:ln>
        </p:spPr>
        <p:txBody>
          <a:bodyPr/>
          <a:p/>
        </p:txBody>
      </p:sp>
      <p:sp>
        <p:nvSpPr>
          <p:cNvPr id="22" name="Text 20"/>
          <p:cNvSpPr/>
          <p:nvPr/>
        </p:nvSpPr>
        <p:spPr>
          <a:xfrm>
            <a:off x="621792" y="2322576"/>
            <a:ext cx="2306158" cy="292608"/>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Welder</a:t>
            </a:r>
            <a:endParaRPr lang="en-US" sz="1050" dirty="0"/>
          </a:p>
        </p:txBody>
      </p:sp>
      <p:sp>
        <p:nvSpPr>
          <p:cNvPr id="23" name="Text 21"/>
          <p:cNvSpPr/>
          <p:nvPr/>
        </p:nvSpPr>
        <p:spPr>
          <a:xfrm>
            <a:off x="3037678" y="2322576"/>
            <a:ext cx="513727" cy="292608"/>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2</a:t>
            </a:r>
            <a:endParaRPr lang="en-US" sz="1050" dirty="0"/>
          </a:p>
        </p:txBody>
      </p:sp>
      <p:sp>
        <p:nvSpPr>
          <p:cNvPr id="24" name="Text 22"/>
          <p:cNvSpPr/>
          <p:nvPr/>
        </p:nvSpPr>
        <p:spPr>
          <a:xfrm>
            <a:off x="3661133" y="2322576"/>
            <a:ext cx="591658" cy="292608"/>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10</a:t>
            </a:r>
            <a:endParaRPr lang="en-US" sz="1050" dirty="0"/>
          </a:p>
        </p:txBody>
      </p:sp>
      <p:sp>
        <p:nvSpPr>
          <p:cNvPr id="25" name="Text 23"/>
          <p:cNvSpPr/>
          <p:nvPr/>
        </p:nvSpPr>
        <p:spPr>
          <a:xfrm>
            <a:off x="4362519" y="2322576"/>
            <a:ext cx="903386" cy="292608"/>
          </a:xfrm>
          <a:prstGeom prst="rect">
            <a:avLst/>
          </a:prstGeom>
          <a:noFill/>
          <a:ln/>
        </p:spPr>
        <p:txBody>
          <a:bodyPr wrap="square" lIns="0" tIns="0" rIns="0" bIns="0" rtlCol="0" anchor="ctr"/>
          <a:lstStyle/>
          <a:p>
            <a:pPr algn="ctr" indent="0" marL="0">
              <a:buNone/>
            </a:pPr>
            <a:r>
              <a:rPr lang="en-US" sz="1050" b="1" dirty="0">
                <a:solidFill>
                  <a:srgbClr val="F0A429"/>
                </a:solidFill>
                <a:latin typeface="Calibri" pitchFamily="34" charset="0"/>
                <a:ea typeface="Calibri" pitchFamily="34" charset="-122"/>
                <a:cs typeface="Calibri" pitchFamily="34" charset="-120"/>
              </a:rPr>
              <a:t>3</a:t>
            </a:r>
            <a:endParaRPr lang="en-US" sz="1050" dirty="0"/>
          </a:p>
        </p:txBody>
      </p:sp>
      <p:sp>
        <p:nvSpPr>
          <p:cNvPr id="26" name="Text 24"/>
          <p:cNvSpPr/>
          <p:nvPr/>
        </p:nvSpPr>
        <p:spPr>
          <a:xfrm>
            <a:off x="5375633" y="2322576"/>
            <a:ext cx="825454" cy="292608"/>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950.00</a:t>
            </a:r>
            <a:endParaRPr lang="en-US" sz="1050" dirty="0"/>
          </a:p>
        </p:txBody>
      </p:sp>
      <p:sp>
        <p:nvSpPr>
          <p:cNvPr id="27" name="Text 25"/>
          <p:cNvSpPr/>
          <p:nvPr/>
        </p:nvSpPr>
        <p:spPr>
          <a:xfrm>
            <a:off x="6310815" y="2322576"/>
            <a:ext cx="1059249" cy="292608"/>
          </a:xfrm>
          <a:prstGeom prst="rect">
            <a:avLst/>
          </a:prstGeom>
          <a:noFill/>
          <a:ln/>
        </p:spPr>
        <p:txBody>
          <a:bodyPr wrap="square" lIns="0" tIns="0" rIns="0" bIns="0" rtlCol="0" anchor="ctr"/>
          <a:lstStyle/>
          <a:p>
            <a:pPr algn="r" indent="0" marL="0">
              <a:buNone/>
            </a:pPr>
            <a:r>
              <a:rPr lang="en-US" sz="1050" b="1" dirty="0">
                <a:solidFill>
                  <a:srgbClr val="F0A429"/>
                </a:solidFill>
                <a:latin typeface="Calibri" pitchFamily="34" charset="0"/>
                <a:ea typeface="Calibri" pitchFamily="34" charset="-122"/>
                <a:cs typeface="Calibri" pitchFamily="34" charset="-120"/>
              </a:rPr>
              <a:t>₱27,906</a:t>
            </a:r>
            <a:endParaRPr lang="en-US" sz="1050" dirty="0"/>
          </a:p>
        </p:txBody>
      </p:sp>
      <p:sp>
        <p:nvSpPr>
          <p:cNvPr id="28" name="Shape 26"/>
          <p:cNvSpPr/>
          <p:nvPr/>
        </p:nvSpPr>
        <p:spPr>
          <a:xfrm>
            <a:off x="566928" y="2615184"/>
            <a:ext cx="6858000" cy="292608"/>
          </a:xfrm>
          <a:prstGeom prst="rect">
            <a:avLst/>
          </a:prstGeom>
          <a:solidFill>
            <a:srgbClr val="161B22"/>
          </a:solidFill>
          <a:ln w="6350">
            <a:solidFill>
              <a:srgbClr val="30363D"/>
            </a:solidFill>
            <a:prstDash val="solid"/>
          </a:ln>
        </p:spPr>
        <p:txBody>
          <a:bodyPr/>
          <a:p/>
        </p:txBody>
      </p:sp>
      <p:sp>
        <p:nvSpPr>
          <p:cNvPr id="29" name="Text 27"/>
          <p:cNvSpPr/>
          <p:nvPr/>
        </p:nvSpPr>
        <p:spPr>
          <a:xfrm>
            <a:off x="621792" y="2615184"/>
            <a:ext cx="2306158" cy="292608"/>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Machinist</a:t>
            </a:r>
            <a:endParaRPr lang="en-US" sz="1050" dirty="0"/>
          </a:p>
        </p:txBody>
      </p:sp>
      <p:sp>
        <p:nvSpPr>
          <p:cNvPr id="30" name="Text 28"/>
          <p:cNvSpPr/>
          <p:nvPr/>
        </p:nvSpPr>
        <p:spPr>
          <a:xfrm>
            <a:off x="3037678" y="2615184"/>
            <a:ext cx="513727" cy="292608"/>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1</a:t>
            </a:r>
            <a:endParaRPr lang="en-US" sz="1050" dirty="0"/>
          </a:p>
        </p:txBody>
      </p:sp>
      <p:sp>
        <p:nvSpPr>
          <p:cNvPr id="31" name="Text 29"/>
          <p:cNvSpPr/>
          <p:nvPr/>
        </p:nvSpPr>
        <p:spPr>
          <a:xfrm>
            <a:off x="3661133" y="2615184"/>
            <a:ext cx="591658" cy="292608"/>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10</a:t>
            </a:r>
            <a:endParaRPr lang="en-US" sz="1050" dirty="0"/>
          </a:p>
        </p:txBody>
      </p:sp>
      <p:sp>
        <p:nvSpPr>
          <p:cNvPr id="32" name="Text 30"/>
          <p:cNvSpPr/>
          <p:nvPr/>
        </p:nvSpPr>
        <p:spPr>
          <a:xfrm>
            <a:off x="4362519" y="2615184"/>
            <a:ext cx="903386" cy="292608"/>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0</a:t>
            </a:r>
            <a:endParaRPr lang="en-US" sz="1050" dirty="0"/>
          </a:p>
        </p:txBody>
      </p:sp>
      <p:sp>
        <p:nvSpPr>
          <p:cNvPr id="33" name="Text 31"/>
          <p:cNvSpPr/>
          <p:nvPr/>
        </p:nvSpPr>
        <p:spPr>
          <a:xfrm>
            <a:off x="5375633" y="2615184"/>
            <a:ext cx="825454" cy="292608"/>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1,050.00</a:t>
            </a:r>
            <a:endParaRPr lang="en-US" sz="1050" dirty="0"/>
          </a:p>
        </p:txBody>
      </p:sp>
      <p:sp>
        <p:nvSpPr>
          <p:cNvPr id="34" name="Text 32"/>
          <p:cNvSpPr/>
          <p:nvPr/>
        </p:nvSpPr>
        <p:spPr>
          <a:xfrm>
            <a:off x="6310815" y="2615184"/>
            <a:ext cx="1059249" cy="292608"/>
          </a:xfrm>
          <a:prstGeom prst="rect">
            <a:avLst/>
          </a:prstGeom>
          <a:noFill/>
          <a:ln/>
        </p:spPr>
        <p:txBody>
          <a:bodyPr wrap="square" lIns="0" tIns="0" rIns="0" bIns="0" rtlCol="0" anchor="ctr"/>
          <a:lstStyle/>
          <a:p>
            <a:pPr algn="r" indent="0" marL="0">
              <a:buNone/>
            </a:pPr>
            <a:r>
              <a:rPr lang="en-US" sz="1050" b="1" dirty="0">
                <a:solidFill>
                  <a:srgbClr val="F0A429"/>
                </a:solidFill>
                <a:latin typeface="Calibri" pitchFamily="34" charset="0"/>
                <a:ea typeface="Calibri" pitchFamily="34" charset="-122"/>
                <a:cs typeface="Calibri" pitchFamily="34" charset="-120"/>
              </a:rPr>
              <a:t>₱10,500</a:t>
            </a:r>
            <a:endParaRPr lang="en-US" sz="1050" dirty="0"/>
          </a:p>
        </p:txBody>
      </p:sp>
      <p:sp>
        <p:nvSpPr>
          <p:cNvPr id="35" name="Shape 33"/>
          <p:cNvSpPr/>
          <p:nvPr/>
        </p:nvSpPr>
        <p:spPr>
          <a:xfrm>
            <a:off x="566928" y="3136392"/>
            <a:ext cx="6858000" cy="1371600"/>
          </a:xfrm>
          <a:prstGeom prst="roundRect">
            <a:avLst>
              <a:gd name="adj" fmla="val 5333"/>
            </a:avLst>
          </a:prstGeom>
          <a:solidFill>
            <a:srgbClr val="2A1F0B"/>
          </a:solidFill>
          <a:ln w="12700">
            <a:solidFill>
              <a:srgbClr val="5C4813"/>
            </a:solidFill>
            <a:prstDash val="solid"/>
          </a:ln>
          <a:effectLst>
            <a:outerShdw sx="100000" sy="100000" kx="0" ky="0" algn="bl" rotWithShape="0" blurRad="152400" dist="38100" dir="5400000">
              <a:srgbClr val="000000">
                <a:alpha val="45000"/>
              </a:srgbClr>
            </a:outerShdw>
          </a:effectLst>
        </p:spPr>
        <p:txBody>
          <a:bodyPr/>
          <a:p/>
        </p:txBody>
      </p:sp>
      <p:sp>
        <p:nvSpPr>
          <p:cNvPr id="36" name="Text 34"/>
          <p:cNvSpPr/>
          <p:nvPr/>
        </p:nvSpPr>
        <p:spPr>
          <a:xfrm>
            <a:off x="822960" y="3291840"/>
            <a:ext cx="6309360" cy="292608"/>
          </a:xfrm>
          <a:prstGeom prst="rect">
            <a:avLst/>
          </a:prstGeom>
          <a:noFill/>
          <a:ln/>
        </p:spPr>
        <p:txBody>
          <a:bodyPr wrap="square" lIns="0" tIns="0" rIns="0" bIns="0" rtlCol="0" anchor="ctr"/>
          <a:lstStyle/>
          <a:p>
            <a:pPr indent="0" marL="0">
              <a:buNone/>
            </a:pPr>
            <a:r>
              <a:rPr lang="en-US" sz="1450" b="1" dirty="0">
                <a:solidFill>
                  <a:srgbClr val="F0A429"/>
                </a:solidFill>
                <a:latin typeface="Arial" pitchFamily="34" charset="0"/>
                <a:ea typeface="Arial" pitchFamily="34" charset="-122"/>
                <a:cs typeface="Arial" pitchFamily="34" charset="-120"/>
              </a:rPr>
              <a:t>OT hours are PER DAY</a:t>
            </a:r>
            <a:endParaRPr lang="en-US" sz="1450" dirty="0"/>
          </a:p>
        </p:txBody>
      </p:sp>
      <p:sp>
        <p:nvSpPr>
          <p:cNvPr id="37" name="Text 35"/>
          <p:cNvSpPr/>
          <p:nvPr/>
        </p:nvSpPr>
        <p:spPr>
          <a:xfrm>
            <a:off x="822960" y="3639312"/>
            <a:ext cx="6309360" cy="777240"/>
          </a:xfrm>
          <a:prstGeom prst="rect">
            <a:avLst/>
          </a:prstGeom>
          <a:noFill/>
          <a:ln/>
        </p:spPr>
        <p:txBody>
          <a:bodyPr wrap="square" lIns="0" tIns="0" rIns="0" bIns="0" rtlCol="0" anchor="t"/>
          <a:lstStyle/>
          <a:p>
            <a:pPr algn="l" indent="0" marL="0">
              <a:lnSpc>
                <a:spcPts val="1600"/>
              </a:lnSpc>
              <a:buNone/>
            </a:pPr>
            <a:r>
              <a:rPr lang="en-US" sz="1200" dirty="0">
                <a:solidFill>
                  <a:srgbClr val="E6EDF3"/>
                </a:solidFill>
                <a:latin typeface="Calibri" pitchFamily="34" charset="0"/>
                <a:ea typeface="Calibri" pitchFamily="34" charset="-122"/>
                <a:cs typeface="Calibri" pitchFamily="34" charset="-120"/>
              </a:rPr>
              <a:t>3 hours over 10 days is charged as 30 hours, matching the OT HRS column on our own manpower loading sheet. Overtime is paid at 1.25 × the hourly rate (day rate ÷ 8) unless you change the OT rate on this CE.</a:t>
            </a:r>
            <a:endParaRPr lang="en-US" sz="1200" dirty="0"/>
          </a:p>
        </p:txBody>
      </p:sp>
      <p:sp>
        <p:nvSpPr>
          <p:cNvPr id="38" name="Shape 36"/>
          <p:cNvSpPr/>
          <p:nvPr/>
        </p:nvSpPr>
        <p:spPr>
          <a:xfrm>
            <a:off x="566928" y="4690872"/>
            <a:ext cx="6858000" cy="1371600"/>
          </a:xfrm>
          <a:prstGeom prst="roundRect">
            <a:avLst>
              <a:gd name="adj" fmla="val 5333"/>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9" name="Text 37"/>
          <p:cNvSpPr/>
          <p:nvPr/>
        </p:nvSpPr>
        <p:spPr>
          <a:xfrm>
            <a:off x="822960" y="4846320"/>
            <a:ext cx="630936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The Scope Task column</a:t>
            </a:r>
            <a:endParaRPr lang="en-US" sz="1400" dirty="0"/>
          </a:p>
        </p:txBody>
      </p:sp>
      <p:sp>
        <p:nvSpPr>
          <p:cNvPr id="40" name="Text 38"/>
          <p:cNvSpPr/>
          <p:nvPr/>
        </p:nvSpPr>
        <p:spPr>
          <a:xfrm>
            <a:off x="822960" y="5175504"/>
            <a:ext cx="6309360" cy="822960"/>
          </a:xfrm>
          <a:prstGeom prst="rect">
            <a:avLst/>
          </a:prstGeom>
          <a:noFill/>
          <a:ln/>
        </p:spPr>
        <p:txBody>
          <a:bodyPr wrap="square" lIns="0" tIns="0" rIns="0" bIns="0" rtlCol="0" anchor="t"/>
          <a:lstStyle/>
          <a:p>
            <a:pPr algn="l" indent="0" marL="0">
              <a:lnSpc>
                <a:spcPts val="1500"/>
              </a:lnSpc>
              <a:buNone/>
            </a:pPr>
            <a:r>
              <a:rPr lang="en-US" sz="1150" dirty="0">
                <a:solidFill>
                  <a:srgbClr val="9AA4AF"/>
                </a:solidFill>
                <a:latin typeface="Calibri" pitchFamily="34" charset="0"/>
                <a:ea typeface="Calibri" pitchFamily="34" charset="-122"/>
                <a:cs typeface="Calibri" pitchFamily="34" charset="-120"/>
              </a:rPr>
              <a:t>Every row shows which scope task it belongs to, so two rows for one role are explained. Rows are numbered; each shift ends with SUB TOTAL (×multiplier), pax and cost. Row Total is pay plus overtime; benefits land in the grand total.</a:t>
            </a:r>
            <a:endParaRPr lang="en-US" sz="1150" dirty="0"/>
          </a:p>
        </p:txBody>
      </p:sp>
      <p:sp>
        <p:nvSpPr>
          <p:cNvPr id="41" name="Shape 39"/>
          <p:cNvSpPr/>
          <p:nvPr/>
        </p:nvSpPr>
        <p:spPr>
          <a:xfrm>
            <a:off x="7635240" y="2048256"/>
            <a:ext cx="3977640" cy="1243584"/>
          </a:xfrm>
          <a:prstGeom prst="roundRect">
            <a:avLst>
              <a:gd name="adj" fmla="val 588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2" name="Text 40"/>
          <p:cNvSpPr/>
          <p:nvPr/>
        </p:nvSpPr>
        <p:spPr>
          <a:xfrm>
            <a:off x="7863840" y="2194560"/>
            <a:ext cx="356616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Shifts — and their multipliers</a:t>
            </a:r>
            <a:endParaRPr lang="en-US" sz="1400" dirty="0"/>
          </a:p>
        </p:txBody>
      </p:sp>
      <p:sp>
        <p:nvSpPr>
          <p:cNvPr id="43" name="Text 41"/>
          <p:cNvSpPr/>
          <p:nvPr/>
        </p:nvSpPr>
        <p:spPr>
          <a:xfrm>
            <a:off x="7863840" y="2505456"/>
            <a:ext cx="3566160" cy="713232"/>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New CEs start on the company standard (Admin → Shift Multipliers). Edit a box to change this CE only; ● marks one off the standard.</a:t>
            </a:r>
            <a:endParaRPr lang="en-US" sz="1100" dirty="0"/>
          </a:p>
        </p:txBody>
      </p:sp>
      <p:sp>
        <p:nvSpPr>
          <p:cNvPr id="44" name="Shape 42"/>
          <p:cNvSpPr/>
          <p:nvPr/>
        </p:nvSpPr>
        <p:spPr>
          <a:xfrm>
            <a:off x="7635240" y="3419856"/>
            <a:ext cx="3977640" cy="1243584"/>
          </a:xfrm>
          <a:prstGeom prst="roundRect">
            <a:avLst>
              <a:gd name="adj" fmla="val 588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5" name="Text 43"/>
          <p:cNvSpPr/>
          <p:nvPr/>
        </p:nvSpPr>
        <p:spPr>
          <a:xfrm>
            <a:off x="7863840" y="3566160"/>
            <a:ext cx="356616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Benefits</a:t>
            </a:r>
            <a:endParaRPr lang="en-US" sz="1400" dirty="0"/>
          </a:p>
        </p:txBody>
      </p:sp>
      <p:sp>
        <p:nvSpPr>
          <p:cNvPr id="46" name="Text 44"/>
          <p:cNvSpPr/>
          <p:nvPr/>
        </p:nvSpPr>
        <p:spPr>
          <a:xfrm>
            <a:off x="7863840" y="3877056"/>
            <a:ext cx="3566160" cy="713232"/>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13th month, SSS, HDMF/PHIC and SIL are added automatically, per role, in C.7. The next slide shows how to read it.</a:t>
            </a:r>
            <a:endParaRPr lang="en-US" sz="1100" dirty="0"/>
          </a:p>
        </p:txBody>
      </p:sp>
      <p:sp>
        <p:nvSpPr>
          <p:cNvPr id="47" name="Shape 45"/>
          <p:cNvSpPr/>
          <p:nvPr/>
        </p:nvSpPr>
        <p:spPr>
          <a:xfrm>
            <a:off x="7635240" y="4791456"/>
            <a:ext cx="3977640" cy="1243584"/>
          </a:xfrm>
          <a:prstGeom prst="roundRect">
            <a:avLst>
              <a:gd name="adj" fmla="val 588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8" name="Text 46"/>
          <p:cNvSpPr/>
          <p:nvPr/>
        </p:nvSpPr>
        <p:spPr>
          <a:xfrm>
            <a:off x="7863840" y="4937760"/>
            <a:ext cx="356616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Incentive</a:t>
            </a:r>
            <a:endParaRPr lang="en-US" sz="1400" dirty="0"/>
          </a:p>
        </p:txBody>
      </p:sp>
      <p:sp>
        <p:nvSpPr>
          <p:cNvPr id="49" name="Text 47"/>
          <p:cNvSpPr/>
          <p:nvPr/>
        </p:nvSpPr>
        <p:spPr>
          <a:xfrm>
            <a:off x="7863840" y="5248656"/>
            <a:ext cx="3566160" cy="713232"/>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Per person, per day, from the Masterlist. Charged in C.7 Benefits. Not charged on ShopWorks.</a:t>
            </a:r>
            <a:endParaRPr lang="en-US" sz="1100" dirty="0"/>
          </a:p>
        </p:txBody>
      </p:sp>
      <p:sp>
        <p:nvSpPr>
          <p:cNvPr id="50" name="Text 48"/>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51" name="Text 49"/>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4 · BENEFITS &amp; OTHERS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Reading C.7, and the Incentive</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Benefits are calculated for you. This is how the table on the Manpower tab and the printed CE lays them out.</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One line per role, shifts under it</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role on more than one shift shows a subtotal line, with each shift listed under it by name: Regular Day, Sunday Day…</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QTY: the same person works the regular, Sunday and holiday days, so those do not add. Day and night crews are different people — 1 on days + 1 on nights is 2</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DAYS is the man-days divided by QTY. Hover it to see each shift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ECC is ₱30 per person per month (26 working days, rounded up), shared across the role’s shifts — shown in its own ECC column. Older CEs keep ₱30 per shift line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The last row gives Total manpower — the headcount</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Incentive</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Per person, per day, added in C.7. It used to be called Per diem</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Comes from the Masterlist when you pick or type the role; Sync Rates brings it up to date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If the Masterlist now says something different, an "ML ₱200" button beside it adopts the new figure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ShopWorks CEs charge no Incentive, and the column is hidden</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4 · CONSOLIDATE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One crew, several tasks</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 same electrician appears under every task that needs one. Combine them into the crew you actually mobilise.</a:t>
            </a:r>
            <a:endParaRPr lang="en-US" sz="1400" dirty="0"/>
          </a:p>
        </p:txBody>
      </p:sp>
      <p:sp>
        <p:nvSpPr>
          <p:cNvPr id="5" name="Text 3"/>
          <p:cNvSpPr/>
          <p:nvPr/>
        </p:nvSpPr>
        <p:spPr>
          <a:xfrm>
            <a:off x="566928" y="1911096"/>
            <a:ext cx="2743200" cy="256032"/>
          </a:xfrm>
          <a:prstGeom prst="rect">
            <a:avLst/>
          </a:prstGeom>
          <a:noFill/>
          <a:ln/>
        </p:spPr>
        <p:txBody>
          <a:bodyPr wrap="square" lIns="0" tIns="0" rIns="0" bIns="0" rtlCol="0" anchor="ctr"/>
          <a:lstStyle/>
          <a:p>
            <a:pPr algn="l" indent="0" marL="0">
              <a:buNone/>
            </a:pPr>
            <a:endParaRPr lang="en-US" sz="850" dirty="0"/>
          </a:p>
        </p:txBody>
      </p:sp>
      <p:sp>
        <p:nvSpPr>
          <p:cNvPr id="6" name="Text 4"/>
          <p:cNvSpPr/>
          <p:nvPr/>
        </p:nvSpPr>
        <p:spPr>
          <a:xfrm>
            <a:off x="3310128" y="1911096"/>
            <a:ext cx="1143000" cy="256032"/>
          </a:xfrm>
          <a:prstGeom prst="rect">
            <a:avLst/>
          </a:prstGeom>
          <a:noFill/>
          <a:ln/>
        </p:spPr>
        <p:txBody>
          <a:bodyPr wrap="square" lIns="0" tIns="0" rIns="0" bIns="0" rtlCol="0" anchor="ctr"/>
          <a:lstStyle/>
          <a:p>
            <a:pPr algn="ctr" indent="0" marL="0">
              <a:buNone/>
            </a:pPr>
            <a:r>
              <a:rPr lang="en-US" sz="850" b="1" spc="100" kern="0" dirty="0">
                <a:solidFill>
                  <a:srgbClr val="9AA4AF"/>
                </a:solidFill>
                <a:latin typeface="Calibri" pitchFamily="34" charset="0"/>
                <a:ea typeface="Calibri" pitchFamily="34" charset="-122"/>
                <a:cs typeface="Calibri" pitchFamily="34" charset="-120"/>
              </a:rPr>
              <a:t>PAX</a:t>
            </a:r>
            <a:endParaRPr lang="en-US" sz="850" dirty="0"/>
          </a:p>
        </p:txBody>
      </p:sp>
      <p:sp>
        <p:nvSpPr>
          <p:cNvPr id="7" name="Text 5"/>
          <p:cNvSpPr/>
          <p:nvPr/>
        </p:nvSpPr>
        <p:spPr>
          <a:xfrm>
            <a:off x="4453128" y="1911096"/>
            <a:ext cx="1143000" cy="256032"/>
          </a:xfrm>
          <a:prstGeom prst="rect">
            <a:avLst/>
          </a:prstGeom>
          <a:noFill/>
          <a:ln/>
        </p:spPr>
        <p:txBody>
          <a:bodyPr wrap="square" lIns="0" tIns="0" rIns="0" bIns="0" rtlCol="0" anchor="ctr"/>
          <a:lstStyle/>
          <a:p>
            <a:pPr algn="ctr" indent="0" marL="0">
              <a:buNone/>
            </a:pPr>
            <a:r>
              <a:rPr lang="en-US" sz="850" b="1" spc="100" kern="0" dirty="0">
                <a:solidFill>
                  <a:srgbClr val="9AA4AF"/>
                </a:solidFill>
                <a:latin typeface="Calibri" pitchFamily="34" charset="0"/>
                <a:ea typeface="Calibri" pitchFamily="34" charset="-122"/>
                <a:cs typeface="Calibri" pitchFamily="34" charset="-120"/>
              </a:rPr>
              <a:t>DAYS</a:t>
            </a:r>
            <a:endParaRPr lang="en-US" sz="850" dirty="0"/>
          </a:p>
        </p:txBody>
      </p:sp>
      <p:sp>
        <p:nvSpPr>
          <p:cNvPr id="8" name="Text 6"/>
          <p:cNvSpPr/>
          <p:nvPr/>
        </p:nvSpPr>
        <p:spPr>
          <a:xfrm>
            <a:off x="5596128" y="1911096"/>
            <a:ext cx="1828800" cy="256032"/>
          </a:xfrm>
          <a:prstGeom prst="rect">
            <a:avLst/>
          </a:prstGeom>
          <a:noFill/>
          <a:ln/>
        </p:spPr>
        <p:txBody>
          <a:bodyPr wrap="square" lIns="0" tIns="0" rIns="0" bIns="0" rtlCol="0" anchor="ctr"/>
          <a:lstStyle/>
          <a:p>
            <a:pPr algn="r" indent="0" marL="0">
              <a:buNone/>
            </a:pPr>
            <a:r>
              <a:rPr lang="en-US" sz="850" b="1" spc="100" kern="0" dirty="0">
                <a:solidFill>
                  <a:srgbClr val="9AA4AF"/>
                </a:solidFill>
                <a:latin typeface="Calibri" pitchFamily="34" charset="0"/>
                <a:ea typeface="Calibri" pitchFamily="34" charset="-122"/>
                <a:cs typeface="Calibri" pitchFamily="34" charset="-120"/>
              </a:rPr>
              <a:t>COST</a:t>
            </a:r>
            <a:endParaRPr lang="en-US" sz="850" dirty="0"/>
          </a:p>
        </p:txBody>
      </p:sp>
      <p:sp>
        <p:nvSpPr>
          <p:cNvPr id="9" name="Shape 7"/>
          <p:cNvSpPr/>
          <p:nvPr/>
        </p:nvSpPr>
        <p:spPr>
          <a:xfrm>
            <a:off x="566928" y="2185416"/>
            <a:ext cx="6858000" cy="347472"/>
          </a:xfrm>
          <a:prstGeom prst="rect">
            <a:avLst/>
          </a:prstGeom>
          <a:solidFill>
            <a:srgbClr val="1C2128"/>
          </a:solidFill>
          <a:ln w="6350">
            <a:solidFill>
              <a:srgbClr val="30363D"/>
            </a:solidFill>
            <a:prstDash val="solid"/>
          </a:ln>
        </p:spPr>
        <p:txBody>
          <a:bodyPr/>
          <a:p/>
        </p:txBody>
      </p:sp>
      <p:sp>
        <p:nvSpPr>
          <p:cNvPr id="10" name="Text 8"/>
          <p:cNvSpPr/>
          <p:nvPr/>
        </p:nvSpPr>
        <p:spPr>
          <a:xfrm>
            <a:off x="621792" y="2185416"/>
            <a:ext cx="2633472" cy="347472"/>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Task 1  Cut and prep</a:t>
            </a:r>
            <a:endParaRPr lang="en-US" sz="1050" dirty="0"/>
          </a:p>
        </p:txBody>
      </p:sp>
      <p:sp>
        <p:nvSpPr>
          <p:cNvPr id="11" name="Text 9"/>
          <p:cNvSpPr/>
          <p:nvPr/>
        </p:nvSpPr>
        <p:spPr>
          <a:xfrm>
            <a:off x="3364992" y="2185416"/>
            <a:ext cx="1033272" cy="347472"/>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1</a:t>
            </a:r>
            <a:endParaRPr lang="en-US" sz="1050" dirty="0"/>
          </a:p>
        </p:txBody>
      </p:sp>
      <p:sp>
        <p:nvSpPr>
          <p:cNvPr id="12" name="Text 10"/>
          <p:cNvSpPr/>
          <p:nvPr/>
        </p:nvSpPr>
        <p:spPr>
          <a:xfrm>
            <a:off x="4507992" y="2185416"/>
            <a:ext cx="1033272" cy="347472"/>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2</a:t>
            </a:r>
            <a:endParaRPr lang="en-US" sz="1050" dirty="0"/>
          </a:p>
        </p:txBody>
      </p:sp>
      <p:sp>
        <p:nvSpPr>
          <p:cNvPr id="13" name="Text 11"/>
          <p:cNvSpPr/>
          <p:nvPr/>
        </p:nvSpPr>
        <p:spPr>
          <a:xfrm>
            <a:off x="5650992" y="2185416"/>
            <a:ext cx="1719072" cy="347472"/>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₱1,700</a:t>
            </a:r>
            <a:endParaRPr lang="en-US" sz="1050" dirty="0"/>
          </a:p>
        </p:txBody>
      </p:sp>
      <p:sp>
        <p:nvSpPr>
          <p:cNvPr id="14" name="Shape 12"/>
          <p:cNvSpPr/>
          <p:nvPr/>
        </p:nvSpPr>
        <p:spPr>
          <a:xfrm>
            <a:off x="566928" y="2532888"/>
            <a:ext cx="6858000" cy="347472"/>
          </a:xfrm>
          <a:prstGeom prst="rect">
            <a:avLst/>
          </a:prstGeom>
          <a:solidFill>
            <a:srgbClr val="161B22"/>
          </a:solidFill>
          <a:ln w="6350">
            <a:solidFill>
              <a:srgbClr val="30363D"/>
            </a:solidFill>
            <a:prstDash val="solid"/>
          </a:ln>
        </p:spPr>
        <p:txBody>
          <a:bodyPr/>
          <a:p/>
        </p:txBody>
      </p:sp>
      <p:sp>
        <p:nvSpPr>
          <p:cNvPr id="15" name="Text 13"/>
          <p:cNvSpPr/>
          <p:nvPr/>
        </p:nvSpPr>
        <p:spPr>
          <a:xfrm>
            <a:off x="621792" y="2532888"/>
            <a:ext cx="2633472" cy="347472"/>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Task 2  Final machining</a:t>
            </a:r>
            <a:endParaRPr lang="en-US" sz="1050" dirty="0"/>
          </a:p>
        </p:txBody>
      </p:sp>
      <p:sp>
        <p:nvSpPr>
          <p:cNvPr id="16" name="Text 14"/>
          <p:cNvSpPr/>
          <p:nvPr/>
        </p:nvSpPr>
        <p:spPr>
          <a:xfrm>
            <a:off x="3364992" y="2532888"/>
            <a:ext cx="1033272" cy="347472"/>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3</a:t>
            </a:r>
            <a:endParaRPr lang="en-US" sz="1050" dirty="0"/>
          </a:p>
        </p:txBody>
      </p:sp>
      <p:sp>
        <p:nvSpPr>
          <p:cNvPr id="17" name="Text 15"/>
          <p:cNvSpPr/>
          <p:nvPr/>
        </p:nvSpPr>
        <p:spPr>
          <a:xfrm>
            <a:off x="4507992" y="2532888"/>
            <a:ext cx="1033272" cy="347472"/>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5</a:t>
            </a:r>
            <a:endParaRPr lang="en-US" sz="1050" dirty="0"/>
          </a:p>
        </p:txBody>
      </p:sp>
      <p:sp>
        <p:nvSpPr>
          <p:cNvPr id="18" name="Text 16"/>
          <p:cNvSpPr/>
          <p:nvPr/>
        </p:nvSpPr>
        <p:spPr>
          <a:xfrm>
            <a:off x="5650992" y="2532888"/>
            <a:ext cx="1719072" cy="347472"/>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₱12,750</a:t>
            </a:r>
            <a:endParaRPr lang="en-US" sz="1050" dirty="0"/>
          </a:p>
        </p:txBody>
      </p:sp>
      <p:sp>
        <p:nvSpPr>
          <p:cNvPr id="19" name="Shape 17"/>
          <p:cNvSpPr/>
          <p:nvPr/>
        </p:nvSpPr>
        <p:spPr>
          <a:xfrm>
            <a:off x="566928" y="2880360"/>
            <a:ext cx="6858000" cy="347472"/>
          </a:xfrm>
          <a:prstGeom prst="rect">
            <a:avLst/>
          </a:prstGeom>
          <a:solidFill>
            <a:srgbClr val="1C2128"/>
          </a:solidFill>
          <a:ln w="6350">
            <a:solidFill>
              <a:srgbClr val="30363D"/>
            </a:solidFill>
            <a:prstDash val="solid"/>
          </a:ln>
        </p:spPr>
        <p:txBody>
          <a:bodyPr/>
          <a:p/>
        </p:txBody>
      </p:sp>
      <p:sp>
        <p:nvSpPr>
          <p:cNvPr id="20" name="Text 18"/>
          <p:cNvSpPr/>
          <p:nvPr/>
        </p:nvSpPr>
        <p:spPr>
          <a:xfrm>
            <a:off x="621792" y="2880360"/>
            <a:ext cx="2633472" cy="347472"/>
          </a:xfrm>
          <a:prstGeom prst="rect">
            <a:avLst/>
          </a:prstGeom>
          <a:noFill/>
          <a:ln/>
        </p:spPr>
        <p:txBody>
          <a:bodyPr wrap="square" lIns="0" tIns="0" rIns="0" bIns="0" rtlCol="0" anchor="ctr"/>
          <a:lstStyle/>
          <a:p>
            <a:pPr algn="l" indent="0" marL="0">
              <a:buNone/>
            </a:pPr>
            <a:r>
              <a:rPr lang="en-US" sz="1050" dirty="0">
                <a:solidFill>
                  <a:srgbClr val="9AA4AF"/>
                </a:solidFill>
                <a:latin typeface="Calibri" pitchFamily="34" charset="0"/>
                <a:ea typeface="Calibri" pitchFamily="34" charset="-122"/>
                <a:cs typeface="Calibri" pitchFamily="34" charset="-120"/>
              </a:rPr>
              <a:t>Rows added up</a:t>
            </a:r>
            <a:endParaRPr lang="en-US" sz="1050" dirty="0"/>
          </a:p>
        </p:txBody>
      </p:sp>
      <p:sp>
        <p:nvSpPr>
          <p:cNvPr id="21" name="Text 19"/>
          <p:cNvSpPr/>
          <p:nvPr/>
        </p:nvSpPr>
        <p:spPr>
          <a:xfrm>
            <a:off x="3364992" y="2880360"/>
            <a:ext cx="1033272" cy="347472"/>
          </a:xfrm>
          <a:prstGeom prst="rect">
            <a:avLst/>
          </a:prstGeom>
          <a:noFill/>
          <a:ln/>
        </p:spPr>
        <p:txBody>
          <a:bodyPr wrap="square" lIns="0" tIns="0" rIns="0" bIns="0" rtlCol="0" anchor="ctr"/>
          <a:lstStyle/>
          <a:p>
            <a:pPr algn="ctr" indent="0" marL="0">
              <a:buNone/>
            </a:pPr>
            <a:endParaRPr lang="en-US" sz="1050" dirty="0"/>
          </a:p>
        </p:txBody>
      </p:sp>
      <p:sp>
        <p:nvSpPr>
          <p:cNvPr id="22" name="Text 20"/>
          <p:cNvSpPr/>
          <p:nvPr/>
        </p:nvSpPr>
        <p:spPr>
          <a:xfrm>
            <a:off x="4507992" y="2880360"/>
            <a:ext cx="1033272" cy="347472"/>
          </a:xfrm>
          <a:prstGeom prst="rect">
            <a:avLst/>
          </a:prstGeom>
          <a:noFill/>
          <a:ln/>
        </p:spPr>
        <p:txBody>
          <a:bodyPr wrap="square" lIns="0" tIns="0" rIns="0" bIns="0" rtlCol="0" anchor="ctr"/>
          <a:lstStyle/>
          <a:p>
            <a:pPr algn="ctr" indent="0" marL="0">
              <a:buNone/>
            </a:pPr>
            <a:endParaRPr lang="en-US" sz="1050" dirty="0"/>
          </a:p>
        </p:txBody>
      </p:sp>
      <p:sp>
        <p:nvSpPr>
          <p:cNvPr id="23" name="Text 21"/>
          <p:cNvSpPr/>
          <p:nvPr/>
        </p:nvSpPr>
        <p:spPr>
          <a:xfrm>
            <a:off x="5650992" y="2880360"/>
            <a:ext cx="1719072" cy="347472"/>
          </a:xfrm>
          <a:prstGeom prst="rect">
            <a:avLst/>
          </a:prstGeom>
          <a:noFill/>
          <a:ln/>
        </p:spPr>
        <p:txBody>
          <a:bodyPr wrap="square" lIns="0" tIns="0" rIns="0" bIns="0" rtlCol="0" anchor="ctr"/>
          <a:lstStyle/>
          <a:p>
            <a:pPr algn="r" indent="0" marL="0">
              <a:buNone/>
            </a:pPr>
            <a:r>
              <a:rPr lang="en-US" sz="1050" dirty="0">
                <a:solidFill>
                  <a:srgbClr val="9AA4AF"/>
                </a:solidFill>
                <a:latin typeface="Calibri" pitchFamily="34" charset="0"/>
                <a:ea typeface="Calibri" pitchFamily="34" charset="-122"/>
                <a:cs typeface="Calibri" pitchFamily="34" charset="-120"/>
              </a:rPr>
              <a:t>₱14,450</a:t>
            </a:r>
            <a:endParaRPr lang="en-US" sz="1050" dirty="0"/>
          </a:p>
        </p:txBody>
      </p:sp>
      <p:sp>
        <p:nvSpPr>
          <p:cNvPr id="24" name="Shape 22"/>
          <p:cNvSpPr/>
          <p:nvPr/>
        </p:nvSpPr>
        <p:spPr>
          <a:xfrm>
            <a:off x="566928" y="3227832"/>
            <a:ext cx="6858000" cy="347472"/>
          </a:xfrm>
          <a:prstGeom prst="rect">
            <a:avLst/>
          </a:prstGeom>
          <a:solidFill>
            <a:srgbClr val="161B22"/>
          </a:solidFill>
          <a:ln w="6350">
            <a:solidFill>
              <a:srgbClr val="30363D"/>
            </a:solidFill>
            <a:prstDash val="solid"/>
          </a:ln>
        </p:spPr>
        <p:txBody>
          <a:bodyPr/>
          <a:p/>
        </p:txBody>
      </p:sp>
      <p:sp>
        <p:nvSpPr>
          <p:cNvPr id="25" name="Text 23"/>
          <p:cNvSpPr/>
          <p:nvPr/>
        </p:nvSpPr>
        <p:spPr>
          <a:xfrm>
            <a:off x="621792" y="3227832"/>
            <a:ext cx="2633472" cy="347472"/>
          </a:xfrm>
          <a:prstGeom prst="rect">
            <a:avLst/>
          </a:prstGeom>
          <a:noFill/>
          <a:ln/>
        </p:spPr>
        <p:txBody>
          <a:bodyPr wrap="square" lIns="0" tIns="0" rIns="0" bIns="0" rtlCol="0" anchor="ctr"/>
          <a:lstStyle/>
          <a:p>
            <a:pPr algn="l" indent="0" marL="0">
              <a:buNone/>
            </a:pPr>
            <a:r>
              <a:rPr lang="en-US" sz="1050" b="1" dirty="0">
                <a:solidFill>
                  <a:srgbClr val="F0A429"/>
                </a:solidFill>
                <a:latin typeface="Calibri" pitchFamily="34" charset="0"/>
                <a:ea typeface="Calibri" pitchFamily="34" charset="-122"/>
                <a:cs typeface="Calibri" pitchFamily="34" charset="-120"/>
              </a:rPr>
              <a:t>CONSOLIDATED CREW</a:t>
            </a:r>
            <a:endParaRPr lang="en-US" sz="1050" dirty="0"/>
          </a:p>
        </p:txBody>
      </p:sp>
      <p:sp>
        <p:nvSpPr>
          <p:cNvPr id="26" name="Text 24"/>
          <p:cNvSpPr/>
          <p:nvPr/>
        </p:nvSpPr>
        <p:spPr>
          <a:xfrm>
            <a:off x="3364992" y="3227832"/>
            <a:ext cx="1033272" cy="347472"/>
          </a:xfrm>
          <a:prstGeom prst="rect">
            <a:avLst/>
          </a:prstGeom>
          <a:noFill/>
          <a:ln/>
        </p:spPr>
        <p:txBody>
          <a:bodyPr wrap="square" lIns="0" tIns="0" rIns="0" bIns="0" rtlCol="0" anchor="ctr"/>
          <a:lstStyle/>
          <a:p>
            <a:pPr algn="ctr" indent="0" marL="0">
              <a:buNone/>
            </a:pPr>
            <a:r>
              <a:rPr lang="en-US" sz="1050" b="1" dirty="0">
                <a:solidFill>
                  <a:srgbClr val="F0A429"/>
                </a:solidFill>
                <a:latin typeface="Calibri" pitchFamily="34" charset="0"/>
                <a:ea typeface="Calibri" pitchFamily="34" charset="-122"/>
                <a:cs typeface="Calibri" pitchFamily="34" charset="-120"/>
              </a:rPr>
              <a:t>3</a:t>
            </a:r>
            <a:endParaRPr lang="en-US" sz="1050" dirty="0"/>
          </a:p>
        </p:txBody>
      </p:sp>
      <p:sp>
        <p:nvSpPr>
          <p:cNvPr id="27" name="Text 25"/>
          <p:cNvSpPr/>
          <p:nvPr/>
        </p:nvSpPr>
        <p:spPr>
          <a:xfrm>
            <a:off x="4507992" y="3227832"/>
            <a:ext cx="1033272" cy="347472"/>
          </a:xfrm>
          <a:prstGeom prst="rect">
            <a:avLst/>
          </a:prstGeom>
          <a:noFill/>
          <a:ln/>
        </p:spPr>
        <p:txBody>
          <a:bodyPr wrap="square" lIns="0" tIns="0" rIns="0" bIns="0" rtlCol="0" anchor="ctr"/>
          <a:lstStyle/>
          <a:p>
            <a:pPr algn="ctr" indent="0" marL="0">
              <a:buNone/>
            </a:pPr>
            <a:r>
              <a:rPr lang="en-US" sz="1050" b="1" dirty="0">
                <a:solidFill>
                  <a:srgbClr val="F0A429"/>
                </a:solidFill>
                <a:latin typeface="Calibri" pitchFamily="34" charset="0"/>
                <a:ea typeface="Calibri" pitchFamily="34" charset="-122"/>
                <a:cs typeface="Calibri" pitchFamily="34" charset="-120"/>
              </a:rPr>
              <a:t>7</a:t>
            </a:r>
            <a:endParaRPr lang="en-US" sz="1050" dirty="0"/>
          </a:p>
        </p:txBody>
      </p:sp>
      <p:sp>
        <p:nvSpPr>
          <p:cNvPr id="28" name="Text 26"/>
          <p:cNvSpPr/>
          <p:nvPr/>
        </p:nvSpPr>
        <p:spPr>
          <a:xfrm>
            <a:off x="5650992" y="3227832"/>
            <a:ext cx="1719072" cy="347472"/>
          </a:xfrm>
          <a:prstGeom prst="rect">
            <a:avLst/>
          </a:prstGeom>
          <a:noFill/>
          <a:ln/>
        </p:spPr>
        <p:txBody>
          <a:bodyPr wrap="square" lIns="0" tIns="0" rIns="0" bIns="0" rtlCol="0" anchor="ctr"/>
          <a:lstStyle/>
          <a:p>
            <a:pPr algn="r" indent="0" marL="0">
              <a:buNone/>
            </a:pPr>
            <a:r>
              <a:rPr lang="en-US" sz="1050" b="1" dirty="0">
                <a:solidFill>
                  <a:srgbClr val="F0A429"/>
                </a:solidFill>
                <a:latin typeface="Calibri" pitchFamily="34" charset="0"/>
                <a:ea typeface="Calibri" pitchFamily="34" charset="-122"/>
                <a:cs typeface="Calibri" pitchFamily="34" charset="-120"/>
              </a:rPr>
              <a:t>₱17,850</a:t>
            </a:r>
            <a:endParaRPr lang="en-US" sz="1050" dirty="0"/>
          </a:p>
        </p:txBody>
      </p:sp>
      <p:sp>
        <p:nvSpPr>
          <p:cNvPr id="29" name="Shape 27"/>
          <p:cNvSpPr/>
          <p:nvPr/>
        </p:nvSpPr>
        <p:spPr>
          <a:xfrm>
            <a:off x="566928" y="3849624"/>
            <a:ext cx="6858000" cy="1371600"/>
          </a:xfrm>
          <a:prstGeom prst="roundRect">
            <a:avLst>
              <a:gd name="adj" fmla="val 5333"/>
            </a:avLst>
          </a:prstGeom>
          <a:solidFill>
            <a:srgbClr val="2A1F0B"/>
          </a:solidFill>
          <a:ln w="12700">
            <a:solidFill>
              <a:srgbClr val="5C4813"/>
            </a:solidFill>
            <a:prstDash val="solid"/>
          </a:ln>
          <a:effectLst>
            <a:outerShdw sx="100000" sy="100000" kx="0" ky="0" algn="bl" rotWithShape="0" blurRad="152400" dist="38100" dir="5400000">
              <a:srgbClr val="000000">
                <a:alpha val="45000"/>
              </a:srgbClr>
            </a:outerShdw>
          </a:effectLst>
        </p:spPr>
        <p:txBody>
          <a:bodyPr/>
          <a:p/>
        </p:txBody>
      </p:sp>
      <p:sp>
        <p:nvSpPr>
          <p:cNvPr id="30" name="Text 28"/>
          <p:cNvSpPr/>
          <p:nvPr/>
        </p:nvSpPr>
        <p:spPr>
          <a:xfrm>
            <a:off x="822960" y="4014216"/>
            <a:ext cx="6309360" cy="292608"/>
          </a:xfrm>
          <a:prstGeom prst="rect">
            <a:avLst/>
          </a:prstGeom>
          <a:noFill/>
          <a:ln/>
        </p:spPr>
        <p:txBody>
          <a:bodyPr wrap="square" lIns="0" tIns="0" rIns="0" bIns="0" rtlCol="0" anchor="ctr"/>
          <a:lstStyle/>
          <a:p>
            <a:pPr indent="0" marL="0">
              <a:buNone/>
            </a:pPr>
            <a:r>
              <a:rPr lang="en-US" sz="1450" b="1" dirty="0">
                <a:solidFill>
                  <a:srgbClr val="F0A429"/>
                </a:solidFill>
                <a:latin typeface="Arial" pitchFamily="34" charset="0"/>
                <a:ea typeface="Arial" pitchFamily="34" charset="-122"/>
                <a:cs typeface="Arial" pitchFamily="34" charset="-120"/>
              </a:rPr>
              <a:t>The largest PAX, for the total days</a:t>
            </a:r>
            <a:endParaRPr lang="en-US" sz="1450" dirty="0"/>
          </a:p>
        </p:txBody>
      </p:sp>
      <p:sp>
        <p:nvSpPr>
          <p:cNvPr id="31" name="Text 29"/>
          <p:cNvSpPr/>
          <p:nvPr/>
        </p:nvSpPr>
        <p:spPr>
          <a:xfrm>
            <a:off x="822960" y="4361688"/>
            <a:ext cx="6309360" cy="777240"/>
          </a:xfrm>
          <a:prstGeom prst="rect">
            <a:avLst/>
          </a:prstGeom>
          <a:noFill/>
          <a:ln/>
        </p:spPr>
        <p:txBody>
          <a:bodyPr wrap="square" lIns="0" tIns="0" rIns="0" bIns="0" rtlCol="0" anchor="t"/>
          <a:lstStyle/>
          <a:p>
            <a:pPr algn="l" indent="0" marL="0">
              <a:lnSpc>
                <a:spcPts val="1600"/>
              </a:lnSpc>
              <a:buNone/>
            </a:pPr>
            <a:r>
              <a:rPr lang="en-US" sz="1200" dirty="0">
                <a:solidFill>
                  <a:srgbClr val="E6EDF3"/>
                </a:solidFill>
                <a:latin typeface="Calibri" pitchFamily="34" charset="0"/>
                <a:ea typeface="Calibri" pitchFamily="34" charset="-122"/>
                <a:cs typeface="Calibri" pitchFamily="34" charset="-120"/>
              </a:rPr>
              <a:t>You mobilise 3 electricians for the whole 7 days and pay them whether or not task 1 needs all three. That is why consolidating COSTS MORE than adding the rows up — and why the higher figure is the right one.</a:t>
            </a:r>
            <a:endParaRPr lang="en-US" sz="1200" dirty="0"/>
          </a:p>
        </p:txBody>
      </p:sp>
      <p:sp>
        <p:nvSpPr>
          <p:cNvPr id="32" name="Shape 30"/>
          <p:cNvSpPr/>
          <p:nvPr/>
        </p:nvSpPr>
        <p:spPr>
          <a:xfrm>
            <a:off x="7635240" y="1911096"/>
            <a:ext cx="3977640" cy="1078992"/>
          </a:xfrm>
          <a:prstGeom prst="roundRect">
            <a:avLst>
              <a:gd name="adj" fmla="val 678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3" name="Text 31"/>
          <p:cNvSpPr/>
          <p:nvPr/>
        </p:nvSpPr>
        <p:spPr>
          <a:xfrm>
            <a:off x="7863840" y="2029968"/>
            <a:ext cx="3566160" cy="274320"/>
          </a:xfrm>
          <a:prstGeom prst="rect">
            <a:avLst/>
          </a:prstGeom>
          <a:noFill/>
          <a:ln/>
        </p:spPr>
        <p:txBody>
          <a:bodyPr wrap="square" lIns="0" tIns="0" rIns="0" bIns="0" rtlCol="0" anchor="ctr"/>
          <a:lstStyle/>
          <a:p>
            <a:pPr indent="0" marL="0">
              <a:buNone/>
            </a:pPr>
            <a:r>
              <a:rPr lang="en-US" sz="1300" b="1" dirty="0">
                <a:solidFill>
                  <a:srgbClr val="F0A429"/>
                </a:solidFill>
                <a:latin typeface="Arial" pitchFamily="34" charset="0"/>
                <a:ea typeface="Arial" pitchFamily="34" charset="-122"/>
                <a:cs typeface="Arial" pitchFamily="34" charset="-120"/>
              </a:rPr>
              <a:t>⇊ Consolidate crew</a:t>
            </a:r>
            <a:endParaRPr lang="en-US" sz="1300" dirty="0"/>
          </a:p>
        </p:txBody>
      </p:sp>
      <p:sp>
        <p:nvSpPr>
          <p:cNvPr id="34" name="Text 32"/>
          <p:cNvSpPr/>
          <p:nvPr/>
        </p:nvSpPr>
        <p:spPr>
          <a:xfrm>
            <a:off x="7863840" y="2322576"/>
            <a:ext cx="3566160" cy="603504"/>
          </a:xfrm>
          <a:prstGeom prst="rect">
            <a:avLst/>
          </a:prstGeom>
          <a:noFill/>
          <a:ln/>
        </p:spPr>
        <p:txBody>
          <a:bodyPr wrap="square" lIns="0" tIns="0" rIns="0" bIns="0" rtlCol="0" anchor="ctr"/>
          <a:lstStyle/>
          <a:p>
            <a:pPr indent="0" marL="0">
              <a:lnSpc>
                <a:spcPts val="1350"/>
              </a:lnSpc>
              <a:buNone/>
            </a:pPr>
            <a:r>
              <a:rPr lang="en-US" sz="1050" dirty="0">
                <a:solidFill>
                  <a:srgbClr val="9AA4AF"/>
                </a:solidFill>
                <a:latin typeface="Calibri" pitchFamily="34" charset="0"/>
                <a:ea typeface="Calibri" pitchFamily="34" charset="-122"/>
                <a:cs typeface="Calibri" pitchFamily="34" charset="-120"/>
              </a:rPr>
              <a:t>On the Manpower tab, under each shift. It shows the arithmetic and warns that the cost will rise before it changes anything.</a:t>
            </a:r>
            <a:endParaRPr lang="en-US" sz="1050" dirty="0"/>
          </a:p>
        </p:txBody>
      </p:sp>
      <p:sp>
        <p:nvSpPr>
          <p:cNvPr id="35" name="Shape 33"/>
          <p:cNvSpPr/>
          <p:nvPr/>
        </p:nvSpPr>
        <p:spPr>
          <a:xfrm>
            <a:off x="7635240" y="3118104"/>
            <a:ext cx="3977640" cy="1078992"/>
          </a:xfrm>
          <a:prstGeom prst="roundRect">
            <a:avLst>
              <a:gd name="adj" fmla="val 678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6" name="Text 34"/>
          <p:cNvSpPr/>
          <p:nvPr/>
        </p:nvSpPr>
        <p:spPr>
          <a:xfrm>
            <a:off x="7863840" y="3236976"/>
            <a:ext cx="3566160" cy="274320"/>
          </a:xfrm>
          <a:prstGeom prst="rect">
            <a:avLst/>
          </a:prstGeom>
          <a:noFill/>
          <a:ln/>
        </p:spPr>
        <p:txBody>
          <a:bodyPr wrap="square" lIns="0" tIns="0" rIns="0" bIns="0" rtlCol="0" anchor="ctr"/>
          <a:lstStyle/>
          <a:p>
            <a:pPr indent="0" marL="0">
              <a:buNone/>
            </a:pPr>
            <a:r>
              <a:rPr lang="en-US" sz="1300" b="1" dirty="0">
                <a:solidFill>
                  <a:srgbClr val="58A6FF"/>
                </a:solidFill>
                <a:latin typeface="Arial" pitchFamily="34" charset="0"/>
                <a:ea typeface="Arial" pitchFamily="34" charset="-122"/>
                <a:cs typeface="Arial" pitchFamily="34" charset="-120"/>
              </a:rPr>
              <a:t>Tools &amp; Equipment</a:t>
            </a:r>
            <a:endParaRPr lang="en-US" sz="1300" dirty="0"/>
          </a:p>
        </p:txBody>
      </p:sp>
      <p:sp>
        <p:nvSpPr>
          <p:cNvPr id="37" name="Text 35"/>
          <p:cNvSpPr/>
          <p:nvPr/>
        </p:nvSpPr>
        <p:spPr>
          <a:xfrm>
            <a:off x="7863840" y="3529584"/>
            <a:ext cx="3566160" cy="603504"/>
          </a:xfrm>
          <a:prstGeom prst="rect">
            <a:avLst/>
          </a:prstGeom>
          <a:noFill/>
          <a:ln/>
        </p:spPr>
        <p:txBody>
          <a:bodyPr wrap="square" lIns="0" tIns="0" rIns="0" bIns="0" rtlCol="0" anchor="ctr"/>
          <a:lstStyle/>
          <a:p>
            <a:pPr indent="0" marL="0">
              <a:lnSpc>
                <a:spcPts val="1350"/>
              </a:lnSpc>
              <a:buNone/>
            </a:pPr>
            <a:r>
              <a:rPr lang="en-US" sz="1050" dirty="0">
                <a:solidFill>
                  <a:srgbClr val="9AA4AF"/>
                </a:solidFill>
                <a:latin typeface="Calibri" pitchFamily="34" charset="0"/>
                <a:ea typeface="Calibri" pitchFamily="34" charset="-122"/>
                <a:cs typeface="Calibri" pitchFamily="34" charset="-120"/>
              </a:rPr>
              <a:t>Same rule — one compressor covers both tasks. Use ⇊ Combine on that tab.</a:t>
            </a:r>
            <a:endParaRPr lang="en-US" sz="1050" dirty="0"/>
          </a:p>
        </p:txBody>
      </p:sp>
      <p:sp>
        <p:nvSpPr>
          <p:cNvPr id="38" name="Shape 36"/>
          <p:cNvSpPr/>
          <p:nvPr/>
        </p:nvSpPr>
        <p:spPr>
          <a:xfrm>
            <a:off x="7635240" y="4325112"/>
            <a:ext cx="3977640" cy="1078992"/>
          </a:xfrm>
          <a:prstGeom prst="roundRect">
            <a:avLst>
              <a:gd name="adj" fmla="val 678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9" name="Text 37"/>
          <p:cNvSpPr/>
          <p:nvPr/>
        </p:nvSpPr>
        <p:spPr>
          <a:xfrm>
            <a:off x="7863840" y="4443984"/>
            <a:ext cx="3566160" cy="274320"/>
          </a:xfrm>
          <a:prstGeom prst="rect">
            <a:avLst/>
          </a:prstGeom>
          <a:noFill/>
          <a:ln/>
        </p:spPr>
        <p:txBody>
          <a:bodyPr wrap="square" lIns="0" tIns="0" rIns="0" bIns="0" rtlCol="0" anchor="ctr"/>
          <a:lstStyle/>
          <a:p>
            <a:pPr indent="0" marL="0">
              <a:buNone/>
            </a:pPr>
            <a:r>
              <a:rPr lang="en-US" sz="1300" b="1" dirty="0">
                <a:solidFill>
                  <a:srgbClr val="3FB950"/>
                </a:solidFill>
                <a:latin typeface="Arial" pitchFamily="34" charset="0"/>
                <a:ea typeface="Arial" pitchFamily="34" charset="-122"/>
                <a:cs typeface="Arial" pitchFamily="34" charset="-120"/>
              </a:rPr>
              <a:t>Materials · PPE · Misc.</a:t>
            </a:r>
            <a:endParaRPr lang="en-US" sz="1300" dirty="0"/>
          </a:p>
        </p:txBody>
      </p:sp>
      <p:sp>
        <p:nvSpPr>
          <p:cNvPr id="40" name="Text 38"/>
          <p:cNvSpPr/>
          <p:nvPr/>
        </p:nvSpPr>
        <p:spPr>
          <a:xfrm>
            <a:off x="7863840" y="4736592"/>
            <a:ext cx="3566160" cy="603504"/>
          </a:xfrm>
          <a:prstGeom prst="rect">
            <a:avLst/>
          </a:prstGeom>
          <a:noFill/>
          <a:ln/>
        </p:spPr>
        <p:txBody>
          <a:bodyPr wrap="square" lIns="0" tIns="0" rIns="0" bIns="0" rtlCol="0" anchor="ctr"/>
          <a:lstStyle/>
          <a:p>
            <a:pPr indent="0" marL="0">
              <a:lnSpc>
                <a:spcPts val="1350"/>
              </a:lnSpc>
              <a:buNone/>
            </a:pPr>
            <a:r>
              <a:rPr lang="en-US" sz="1050" dirty="0">
                <a:solidFill>
                  <a:srgbClr val="9AA4AF"/>
                </a:solidFill>
                <a:latin typeface="Calibri" pitchFamily="34" charset="0"/>
                <a:ea typeface="Calibri" pitchFamily="34" charset="-122"/>
                <a:cs typeface="Calibri" pitchFamily="34" charset="-120"/>
              </a:rPr>
              <a:t>The opposite: consumables are used up, so 5 L + 8 L = 13 L and the total does not change.</a:t>
            </a:r>
            <a:endParaRPr lang="en-US" sz="1050" dirty="0"/>
          </a:p>
        </p:txBody>
      </p:sp>
      <p:sp>
        <p:nvSpPr>
          <p:cNvPr id="41" name="Shape 39"/>
          <p:cNvSpPr/>
          <p:nvPr/>
        </p:nvSpPr>
        <p:spPr>
          <a:xfrm>
            <a:off x="7635240" y="5522976"/>
            <a:ext cx="3977640" cy="868680"/>
          </a:xfrm>
          <a:prstGeom prst="roundRect">
            <a:avLst>
              <a:gd name="adj" fmla="val 8421"/>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2" name="Text 40"/>
          <p:cNvSpPr/>
          <p:nvPr/>
        </p:nvSpPr>
        <p:spPr>
          <a:xfrm>
            <a:off x="7863840" y="5632704"/>
            <a:ext cx="3566160" cy="274320"/>
          </a:xfrm>
          <a:prstGeom prst="rect">
            <a:avLst/>
          </a:prstGeom>
          <a:noFill/>
          <a:ln/>
        </p:spPr>
        <p:txBody>
          <a:bodyPr wrap="square" lIns="0" tIns="0" rIns="0" bIns="0" rtlCol="0" anchor="ctr"/>
          <a:lstStyle/>
          <a:p>
            <a:pPr indent="0" marL="0">
              <a:buNone/>
            </a:pPr>
            <a:r>
              <a:rPr lang="en-US" sz="1300" b="1" dirty="0">
                <a:solidFill>
                  <a:srgbClr val="E6EDF3"/>
                </a:solidFill>
                <a:latin typeface="Arial" pitchFamily="34" charset="0"/>
                <a:ea typeface="Arial" pitchFamily="34" charset="-122"/>
                <a:cs typeface="Arial" pitchFamily="34" charset="-120"/>
              </a:rPr>
              <a:t>Your tasks keep their costs</a:t>
            </a:r>
            <a:endParaRPr lang="en-US" sz="1300" dirty="0"/>
          </a:p>
        </p:txBody>
      </p:sp>
      <p:sp>
        <p:nvSpPr>
          <p:cNvPr id="43" name="Text 41"/>
          <p:cNvSpPr/>
          <p:nvPr/>
        </p:nvSpPr>
        <p:spPr>
          <a:xfrm>
            <a:off x="7863840" y="5925312"/>
            <a:ext cx="3566160" cy="411480"/>
          </a:xfrm>
          <a:prstGeom prst="rect">
            <a:avLst/>
          </a:prstGeom>
          <a:noFill/>
          <a:ln/>
        </p:spPr>
        <p:txBody>
          <a:bodyPr wrap="square" lIns="0" tIns="0" rIns="0" bIns="0" rtlCol="0" anchor="ctr"/>
          <a:lstStyle/>
          <a:p>
            <a:pPr indent="0" marL="0">
              <a:lnSpc>
                <a:spcPts val="1350"/>
              </a:lnSpc>
              <a:buNone/>
            </a:pPr>
            <a:r>
              <a:rPr lang="en-US" sz="1050" dirty="0">
                <a:solidFill>
                  <a:srgbClr val="9AA4AF"/>
                </a:solidFill>
                <a:latin typeface="Calibri" pitchFamily="34" charset="0"/>
                <a:ea typeface="Calibri" pitchFamily="34" charset="-122"/>
                <a:cs typeface="Calibri" pitchFamily="34" charset="-120"/>
              </a:rPr>
              <a:t>A consolidated row still appears under every task it serves, split in proportion.</a:t>
            </a:r>
            <a:endParaRPr lang="en-US" sz="1050" dirty="0"/>
          </a:p>
        </p:txBody>
      </p:sp>
      <p:sp>
        <p:nvSpPr>
          <p:cNvPr id="44" name="Shape 42"/>
          <p:cNvSpPr/>
          <p:nvPr/>
        </p:nvSpPr>
        <p:spPr>
          <a:xfrm>
            <a:off x="566928" y="5312664"/>
            <a:ext cx="6858000" cy="896112"/>
          </a:xfrm>
          <a:prstGeom prst="roundRect">
            <a:avLst>
              <a:gd name="adj" fmla="val 8163"/>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5" name="Text 43"/>
          <p:cNvSpPr/>
          <p:nvPr/>
        </p:nvSpPr>
        <p:spPr>
          <a:xfrm>
            <a:off x="822960" y="5440680"/>
            <a:ext cx="630936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Do it once, at the end</a:t>
            </a:r>
            <a:endParaRPr lang="en-US" sz="1350" dirty="0"/>
          </a:p>
        </p:txBody>
      </p:sp>
      <p:sp>
        <p:nvSpPr>
          <p:cNvPr id="46" name="Text 44"/>
          <p:cNvSpPr/>
          <p:nvPr/>
        </p:nvSpPr>
        <p:spPr>
          <a:xfrm>
            <a:off x="822960" y="5733288"/>
            <a:ext cx="6309360" cy="457200"/>
          </a:xfrm>
          <a:prstGeom prst="rect">
            <a:avLst/>
          </a:prstGeom>
          <a:noFill/>
          <a:ln/>
        </p:spPr>
        <p:txBody>
          <a:bodyPr wrap="square" lIns="0" tIns="0" rIns="0" bIns="0" rtlCol="0" anchor="t"/>
          <a:lstStyle/>
          <a:p>
            <a:pPr algn="l" indent="0" marL="0">
              <a:lnSpc>
                <a:spcPts val="1400"/>
              </a:lnSpc>
              <a:buNone/>
            </a:pPr>
            <a:r>
              <a:rPr lang="en-US" sz="1100" dirty="0">
                <a:solidFill>
                  <a:srgbClr val="9AA4AF"/>
                </a:solidFill>
                <a:latin typeface="Calibri" pitchFamily="34" charset="0"/>
                <a:ea typeface="Calibri" pitchFamily="34" charset="-122"/>
                <a:cs typeface="Calibri" pitchFamily="34" charset="-120"/>
              </a:rPr>
              <a:t>Plan per task in SOW Breakdown first, then consolidate just before you generate the CE. The printed form shows whatever rows exist when you press Generate.</a:t>
            </a:r>
            <a:endParaRPr lang="en-US" sz="1100" dirty="0"/>
          </a:p>
        </p:txBody>
      </p:sp>
      <p:sp>
        <p:nvSpPr>
          <p:cNvPr id="47" name="Text 45"/>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48" name="Text 46"/>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4 · MOBILIZATION &amp; DEMOBILIZATION</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 crew that travels, and what it costs</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On-site CEs have two cards at the top of the Manpower tab. Each has a manpower table, then its expense lines.</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Manpower, linked to the SOW Breakdown</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Crew from SOW Breakdown adds one SOW-tagged line per role and keeps it in step with the Manpower tab</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PAX is the most on any day shift plus any night shift — 4 welders on two tasks is 4, not 8</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Type over Pax or Rate if travel differs (orange box); ↺ follows the crew again. Days and OT are yours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Add Manpower for anyone who is not on the Manpower tab</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 Demobilization, ⧉ Copy from Mobilization copies the charges you tick; (MOB) becomes (DEMOB). Food allowance and SOW crew are not copied</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On the printed CE</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MOBILIZATION and DEMOBILIZATION are rows A and B of the cost summary</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Their section prints first: manpower with a SUB TOTAL of pax, then the charges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Every manpower SUB TOTAL shows pax; C.7 ends with TOTAL MANPOWER</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Both Excel exports carry a Mobilization sheet</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4 · FOOD ALLOWANCE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rates, counted from the crew</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Project manager, admin and skilled manpower are paid different meal allowances. The app counts heads for each rate.</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Where it is counted</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Mob / Demob: added with the crew — the pax who travel × the travel days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Accommodation: 🍽 Food allowance from crew — each role and shift a sub-item, pax × days worked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Lines tagged CREW follow the Manpower; delete them to stop</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Each role’s rate is set in the Masterlist Food Allowance column; Auto guesses from the name</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Keeping the rates right</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Rates are the Masterlist → Miscellaneous items MEAL ALLOWANCE (PM), (ADMIN), (SKILLED MANPOWER)</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new line takes today’s rate; a saved CE keeps what it was quoted at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Sync meal rates moves every meal line on the open CE to the current rate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The Food Allowance column is in the Masterlist template and import</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5 · TOOLS · MATERIALS · PPE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Equipment and consumables</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Text 5"/>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8" name="Text 6"/>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9" name="Shape 7"/>
          <p:cNvSpPr/>
          <p:nvPr/>
        </p:nvSpPr>
        <p:spPr>
          <a:xfrm>
            <a:off x="5507736"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804672" y="2185416"/>
            <a:ext cx="3108960" cy="310896"/>
          </a:xfrm>
          <a:prstGeom prst="rect">
            <a:avLst/>
          </a:prstGeom>
          <a:noFill/>
          <a:ln/>
        </p:spPr>
        <p:txBody>
          <a:bodyPr wrap="square" lIns="0" tIns="0" rIns="0" bIns="0" rtlCol="0" anchor="ctr"/>
          <a:lstStyle/>
          <a:p>
            <a:pPr indent="0" marL="0">
              <a:buNone/>
            </a:pPr>
            <a:r>
              <a:rPr lang="en-US" sz="1450" b="1" dirty="0">
                <a:solidFill>
                  <a:srgbClr val="F0A429"/>
                </a:solidFill>
                <a:latin typeface="Arial" pitchFamily="34" charset="0"/>
                <a:ea typeface="Arial" pitchFamily="34" charset="-122"/>
                <a:cs typeface="Arial" pitchFamily="34" charset="-120"/>
              </a:rPr>
              <a:t>Tools &amp; Equipment</a:t>
            </a:r>
            <a:endParaRPr lang="en-US" sz="1450" dirty="0"/>
          </a:p>
        </p:txBody>
      </p:sp>
      <p:sp>
        <p:nvSpPr>
          <p:cNvPr id="17" name="Text 15"/>
          <p:cNvSpPr/>
          <p:nvPr/>
        </p:nvSpPr>
        <p:spPr>
          <a:xfrm>
            <a:off x="804672"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Charged on a tier: per project, per day, or per hour used. Tier 2 — per day — is the default. On a Shopworks CE each row also carries the power it draws.</a:t>
            </a:r>
            <a:endParaRPr lang="en-US" sz="1150" dirty="0"/>
          </a:p>
        </p:txBody>
      </p:sp>
      <p:sp>
        <p:nvSpPr>
          <p:cNvPr id="18" name="Shape 16"/>
          <p:cNvSpPr/>
          <p:nvPr/>
        </p:nvSpPr>
        <p:spPr>
          <a:xfrm>
            <a:off x="4352544"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9" name="Text 17"/>
          <p:cNvSpPr/>
          <p:nvPr/>
        </p:nvSpPr>
        <p:spPr>
          <a:xfrm>
            <a:off x="4590288" y="2185416"/>
            <a:ext cx="3108960" cy="310896"/>
          </a:xfrm>
          <a:prstGeom prst="rect">
            <a:avLst/>
          </a:prstGeom>
          <a:noFill/>
          <a:ln/>
        </p:spPr>
        <p:txBody>
          <a:bodyPr wrap="square" lIns="0" tIns="0" rIns="0" bIns="0" rtlCol="0" anchor="ctr"/>
          <a:lstStyle/>
          <a:p>
            <a:pPr indent="0" marL="0">
              <a:buNone/>
            </a:pPr>
            <a:r>
              <a:rPr lang="en-US" sz="1450" b="1" dirty="0">
                <a:solidFill>
                  <a:srgbClr val="58A6FF"/>
                </a:solidFill>
                <a:latin typeface="Arial" pitchFamily="34" charset="0"/>
                <a:ea typeface="Arial" pitchFamily="34" charset="-122"/>
                <a:cs typeface="Arial" pitchFamily="34" charset="-120"/>
              </a:rPr>
              <a:t>Materials</a:t>
            </a:r>
            <a:endParaRPr lang="en-US" sz="1450" dirty="0"/>
          </a:p>
        </p:txBody>
      </p:sp>
      <p:sp>
        <p:nvSpPr>
          <p:cNvPr id="20" name="Text 18"/>
          <p:cNvSpPr/>
          <p:nvPr/>
        </p:nvSpPr>
        <p:spPr>
          <a:xfrm>
            <a:off x="4590288"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Consumables and spare parts. Charged qty × unit cost.</a:t>
            </a:r>
            <a:endParaRPr lang="en-US" sz="1150" dirty="0"/>
          </a:p>
        </p:txBody>
      </p:sp>
      <p:sp>
        <p:nvSpPr>
          <p:cNvPr id="21" name="Shape 19"/>
          <p:cNvSpPr/>
          <p:nvPr/>
        </p:nvSpPr>
        <p:spPr>
          <a:xfrm>
            <a:off x="8138160"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2" name="Text 20"/>
          <p:cNvSpPr/>
          <p:nvPr/>
        </p:nvSpPr>
        <p:spPr>
          <a:xfrm>
            <a:off x="8375904" y="2185416"/>
            <a:ext cx="3108960" cy="310896"/>
          </a:xfrm>
          <a:prstGeom prst="rect">
            <a:avLst/>
          </a:prstGeom>
          <a:noFill/>
          <a:ln/>
        </p:spPr>
        <p:txBody>
          <a:bodyPr wrap="square" lIns="0" tIns="0" rIns="0" bIns="0" rtlCol="0" anchor="ctr"/>
          <a:lstStyle/>
          <a:p>
            <a:pPr indent="0" marL="0">
              <a:buNone/>
            </a:pPr>
            <a:r>
              <a:rPr lang="en-US" sz="1450" b="1" dirty="0">
                <a:solidFill>
                  <a:srgbClr val="3FB950"/>
                </a:solidFill>
                <a:latin typeface="Arial" pitchFamily="34" charset="0"/>
                <a:ea typeface="Arial" pitchFamily="34" charset="-122"/>
                <a:cs typeface="Arial" pitchFamily="34" charset="-120"/>
              </a:rPr>
              <a:t>PPE</a:t>
            </a:r>
            <a:endParaRPr lang="en-US" sz="1450" dirty="0"/>
          </a:p>
        </p:txBody>
      </p:sp>
      <p:sp>
        <p:nvSpPr>
          <p:cNvPr id="23" name="Text 21"/>
          <p:cNvSpPr/>
          <p:nvPr/>
        </p:nvSpPr>
        <p:spPr>
          <a:xfrm>
            <a:off x="8375904"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Personal protective equipment, charged the same way.</a:t>
            </a:r>
            <a:endParaRPr lang="en-US" sz="1150" dirty="0"/>
          </a:p>
        </p:txBody>
      </p:sp>
      <p:sp>
        <p:nvSpPr>
          <p:cNvPr id="24" name="Shape 22"/>
          <p:cNvSpPr/>
          <p:nvPr/>
        </p:nvSpPr>
        <p:spPr>
          <a:xfrm>
            <a:off x="566928"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804672"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From Masterlist</a:t>
            </a:r>
            <a:endParaRPr lang="en-US" sz="1350" dirty="0"/>
          </a:p>
        </p:txBody>
      </p:sp>
      <p:sp>
        <p:nvSpPr>
          <p:cNvPr id="26" name="Text 24"/>
          <p:cNvSpPr/>
          <p:nvPr/>
        </p:nvSpPr>
        <p:spPr>
          <a:xfrm>
            <a:off x="804672"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Pick an item and its rate and unit come with it. Not on it yet? ＋ Add to Masterlist under the row (or ＋ Masterlist in the header) adds it for everyone.</a:t>
            </a:r>
            <a:endParaRPr lang="en-US" sz="1100" dirty="0"/>
          </a:p>
        </p:txBody>
      </p:sp>
      <p:sp>
        <p:nvSpPr>
          <p:cNvPr id="27" name="Shape 25"/>
          <p:cNvSpPr/>
          <p:nvPr/>
        </p:nvSpPr>
        <p:spPr>
          <a:xfrm>
            <a:off x="6309360"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6547104"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 Sync Rates</a:t>
            </a:r>
            <a:endParaRPr lang="en-US" sz="1350" dirty="0"/>
          </a:p>
        </p:txBody>
      </p:sp>
      <p:sp>
        <p:nvSpPr>
          <p:cNvPr id="29" name="Text 27"/>
          <p:cNvSpPr/>
          <p:nvPr/>
        </p:nvSpPr>
        <p:spPr>
          <a:xfrm>
            <a:off x="6547104"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Re-prices every matching row from the Masterlist, tier figures included. Also on the Summary tab, where it covers the whole CE at once — tools, materials and PPE together.</a:t>
            </a:r>
            <a:endParaRPr lang="en-US" sz="1100" dirty="0"/>
          </a:p>
        </p:txBody>
      </p:sp>
      <p:sp>
        <p:nvSpPr>
          <p:cNvPr id="30" name="Shape 28"/>
          <p:cNvSpPr/>
          <p:nvPr/>
        </p:nvSpPr>
        <p:spPr>
          <a:xfrm>
            <a:off x="566928"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Text 29"/>
          <p:cNvSpPr/>
          <p:nvPr/>
        </p:nvSpPr>
        <p:spPr>
          <a:xfrm>
            <a:off x="804672"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 Combine</a:t>
            </a:r>
            <a:endParaRPr lang="en-US" sz="1350" dirty="0"/>
          </a:p>
        </p:txBody>
      </p:sp>
      <p:sp>
        <p:nvSpPr>
          <p:cNvPr id="32" name="Text 30"/>
          <p:cNvSpPr/>
          <p:nvPr/>
        </p:nvSpPr>
        <p:spPr>
          <a:xfrm>
            <a:off x="804672"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Equipment: largest quantity any task needs, for the total days. Consumables: quantities simply add.</a:t>
            </a:r>
            <a:endParaRPr lang="en-US" sz="1100" dirty="0"/>
          </a:p>
        </p:txBody>
      </p:sp>
      <p:sp>
        <p:nvSpPr>
          <p:cNvPr id="33" name="Shape 31"/>
          <p:cNvSpPr/>
          <p:nvPr/>
        </p:nvSpPr>
        <p:spPr>
          <a:xfrm>
            <a:off x="6309360"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6547104"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Unit of measure</a:t>
            </a:r>
            <a:endParaRPr lang="en-US" sz="1350" dirty="0"/>
          </a:p>
        </p:txBody>
      </p:sp>
      <p:sp>
        <p:nvSpPr>
          <p:cNvPr id="35" name="Text 33"/>
          <p:cNvSpPr/>
          <p:nvPr/>
        </p:nvSpPr>
        <p:spPr>
          <a:xfrm>
            <a:off x="6547104"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Standard units keep their spelling (Pcs, Kg, mL, sq.m); any other is written Piece, not PIECE. ↺ Sync UOM takes the Masterlist item’s unit; costs do not change.</a:t>
            </a:r>
            <a:endParaRPr lang="en-US" sz="1100" dirty="0"/>
          </a:p>
        </p:txBody>
      </p:sp>
      <p:sp>
        <p:nvSpPr>
          <p:cNvPr id="36" name="Text 34"/>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7" name="Text 35"/>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5 · TIER PRICING</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Three ways to charge a tool</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Text 5"/>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8" name="Text 6"/>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9" name="Shape 7"/>
          <p:cNvSpPr/>
          <p:nvPr/>
        </p:nvSpPr>
        <p:spPr>
          <a:xfrm>
            <a:off x="5507736"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804672" y="2185416"/>
            <a:ext cx="3108960" cy="310896"/>
          </a:xfrm>
          <a:prstGeom prst="rect">
            <a:avLst/>
          </a:prstGeom>
          <a:noFill/>
          <a:ln/>
        </p:spPr>
        <p:txBody>
          <a:bodyPr wrap="square" lIns="0" tIns="0" rIns="0" bIns="0" rtlCol="0" anchor="ctr"/>
          <a:lstStyle/>
          <a:p>
            <a:pPr indent="0" marL="0">
              <a:buNone/>
            </a:pPr>
            <a:r>
              <a:rPr lang="en-US" sz="1450" b="1" dirty="0">
                <a:solidFill>
                  <a:srgbClr val="F0A429"/>
                </a:solidFill>
                <a:latin typeface="Arial" pitchFamily="34" charset="0"/>
                <a:ea typeface="Arial" pitchFamily="34" charset="-122"/>
                <a:cs typeface="Arial" pitchFamily="34" charset="-120"/>
              </a:rPr>
              <a:t>Tier 1 · per project</a:t>
            </a:r>
            <a:endParaRPr lang="en-US" sz="1450" dirty="0"/>
          </a:p>
        </p:txBody>
      </p:sp>
      <p:sp>
        <p:nvSpPr>
          <p:cNvPr id="17" name="Text 15"/>
          <p:cNvSpPr/>
          <p:nvPr/>
        </p:nvSpPr>
        <p:spPr>
          <a:xfrm>
            <a:off x="804672"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A flat share of what the tool costs to own for a year, whatever the duration. Two days and sixty days cost the same. Days and Hours grey out.</a:t>
            </a:r>
            <a:endParaRPr lang="en-US" sz="1150" dirty="0"/>
          </a:p>
        </p:txBody>
      </p:sp>
      <p:sp>
        <p:nvSpPr>
          <p:cNvPr id="18" name="Shape 16"/>
          <p:cNvSpPr/>
          <p:nvPr/>
        </p:nvSpPr>
        <p:spPr>
          <a:xfrm>
            <a:off x="4352544"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9" name="Text 17"/>
          <p:cNvSpPr/>
          <p:nvPr/>
        </p:nvSpPr>
        <p:spPr>
          <a:xfrm>
            <a:off x="4590288" y="2185416"/>
            <a:ext cx="3108960" cy="310896"/>
          </a:xfrm>
          <a:prstGeom prst="rect">
            <a:avLst/>
          </a:prstGeom>
          <a:noFill/>
          <a:ln/>
        </p:spPr>
        <p:txBody>
          <a:bodyPr wrap="square" lIns="0" tIns="0" rIns="0" bIns="0" rtlCol="0" anchor="ctr"/>
          <a:lstStyle/>
          <a:p>
            <a:pPr indent="0" marL="0">
              <a:buNone/>
            </a:pPr>
            <a:r>
              <a:rPr lang="en-US" sz="1450" b="1" dirty="0">
                <a:solidFill>
                  <a:srgbClr val="58A6FF"/>
                </a:solidFill>
                <a:latin typeface="Arial" pitchFamily="34" charset="0"/>
                <a:ea typeface="Arial" pitchFamily="34" charset="-122"/>
                <a:cs typeface="Arial" pitchFamily="34" charset="-120"/>
              </a:rPr>
              <a:t>Tier 2 · per day  (default)</a:t>
            </a:r>
            <a:endParaRPr lang="en-US" sz="1450" dirty="0"/>
          </a:p>
        </p:txBody>
      </p:sp>
      <p:sp>
        <p:nvSpPr>
          <p:cNvPr id="20" name="Text 18"/>
          <p:cNvSpPr/>
          <p:nvPr/>
        </p:nvSpPr>
        <p:spPr>
          <a:xfrm>
            <a:off x="4590288"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Qty × Days × the daily rate — exactly what the app has always done. A row that names no tier is Tier 2, so nothing already quoted has moved.</a:t>
            </a:r>
            <a:endParaRPr lang="en-US" sz="1150" dirty="0"/>
          </a:p>
        </p:txBody>
      </p:sp>
      <p:sp>
        <p:nvSpPr>
          <p:cNvPr id="21" name="Shape 19"/>
          <p:cNvSpPr/>
          <p:nvPr/>
        </p:nvSpPr>
        <p:spPr>
          <a:xfrm>
            <a:off x="8138160"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2" name="Text 20"/>
          <p:cNvSpPr/>
          <p:nvPr/>
        </p:nvSpPr>
        <p:spPr>
          <a:xfrm>
            <a:off x="8375904" y="2185416"/>
            <a:ext cx="3108960" cy="310896"/>
          </a:xfrm>
          <a:prstGeom prst="rect">
            <a:avLst/>
          </a:prstGeom>
          <a:noFill/>
          <a:ln/>
        </p:spPr>
        <p:txBody>
          <a:bodyPr wrap="square" lIns="0" tIns="0" rIns="0" bIns="0" rtlCol="0" anchor="ctr"/>
          <a:lstStyle/>
          <a:p>
            <a:pPr indent="0" marL="0">
              <a:buNone/>
            </a:pPr>
            <a:r>
              <a:rPr lang="en-US" sz="1450" b="1" dirty="0">
                <a:solidFill>
                  <a:srgbClr val="3FB950"/>
                </a:solidFill>
                <a:latin typeface="Arial" pitchFamily="34" charset="0"/>
                <a:ea typeface="Arial" pitchFamily="34" charset="-122"/>
                <a:cs typeface="Arial" pitchFamily="34" charset="-120"/>
              </a:rPr>
              <a:t>Tier 3 · per hour used</a:t>
            </a:r>
            <a:endParaRPr lang="en-US" sz="1450" dirty="0"/>
          </a:p>
        </p:txBody>
      </p:sp>
      <p:sp>
        <p:nvSpPr>
          <p:cNvPr id="23" name="Text 21"/>
          <p:cNvSpPr/>
          <p:nvPr/>
        </p:nvSpPr>
        <p:spPr>
          <a:xfrm>
            <a:off x="8375904"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Qty × Hours × the hourly rate. Type the hours the tool is really used. This is the tier for a short job on expensive equipment.</a:t>
            </a:r>
            <a:endParaRPr lang="en-US" sz="1150" dirty="0"/>
          </a:p>
        </p:txBody>
      </p:sp>
      <p:sp>
        <p:nvSpPr>
          <p:cNvPr id="24" name="Shape 22"/>
          <p:cNvSpPr/>
          <p:nvPr/>
        </p:nvSpPr>
        <p:spPr>
          <a:xfrm>
            <a:off x="566928"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804672"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Why Tier 3 exists</a:t>
            </a:r>
            <a:endParaRPr lang="en-US" sz="1350" dirty="0"/>
          </a:p>
        </p:txBody>
      </p:sp>
      <p:sp>
        <p:nvSpPr>
          <p:cNvPr id="26" name="Text 24"/>
          <p:cNvSpPr/>
          <p:nvPr/>
        </p:nvSpPr>
        <p:spPr>
          <a:xfrm>
            <a:off x="804672"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 high-value tool billed at a minimum day loses small jobs. A van on a 3-day job used 8 hours a day costs ₱1,479 on Tier 2 and ₱493 on Tier 3 — the same money, counted by the hour.</a:t>
            </a:r>
            <a:endParaRPr lang="en-US" sz="1100" dirty="0"/>
          </a:p>
        </p:txBody>
      </p:sp>
      <p:sp>
        <p:nvSpPr>
          <p:cNvPr id="27" name="Shape 25"/>
          <p:cNvSpPr/>
          <p:nvPr/>
        </p:nvSpPr>
        <p:spPr>
          <a:xfrm>
            <a:off x="6309360"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6547104"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Setting the tier</a:t>
            </a:r>
            <a:endParaRPr lang="en-US" sz="1350" dirty="0"/>
          </a:p>
        </p:txBody>
      </p:sp>
      <p:sp>
        <p:nvSpPr>
          <p:cNvPr id="29" name="Text 27"/>
          <p:cNvSpPr/>
          <p:nvPr/>
        </p:nvSpPr>
        <p:spPr>
          <a:xfrm>
            <a:off x="6547104"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Each row has a Tier box; the toolbar sets which tier NEW rows start on. Pick tools From Masterlist so the tier figures come with them. A Tier 1 or 3 row missing them shows a ⚠.</a:t>
            </a:r>
            <a:endParaRPr lang="en-US" sz="1100" dirty="0"/>
          </a:p>
        </p:txBody>
      </p:sp>
      <p:sp>
        <p:nvSpPr>
          <p:cNvPr id="30" name="Shape 28"/>
          <p:cNvSpPr/>
          <p:nvPr/>
        </p:nvSpPr>
        <p:spPr>
          <a:xfrm>
            <a:off x="566928"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Text 29"/>
          <p:cNvSpPr/>
          <p:nvPr/>
        </p:nvSpPr>
        <p:spPr>
          <a:xfrm>
            <a:off x="804672"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On the printed CE</a:t>
            </a:r>
            <a:endParaRPr lang="en-US" sz="1350" dirty="0"/>
          </a:p>
        </p:txBody>
      </p:sp>
      <p:sp>
        <p:nvSpPr>
          <p:cNvPr id="32" name="Text 30"/>
          <p:cNvSpPr/>
          <p:nvPr/>
        </p:nvSpPr>
        <p:spPr>
          <a:xfrm>
            <a:off x="804672"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The DAYS column is now BASIS, and reads "per project", "5 days" or "24 hrs" — so the client can see what they are being charged for.</a:t>
            </a:r>
            <a:endParaRPr lang="en-US" sz="1100" dirty="0"/>
          </a:p>
        </p:txBody>
      </p:sp>
      <p:sp>
        <p:nvSpPr>
          <p:cNvPr id="33" name="Shape 31"/>
          <p:cNvSpPr/>
          <p:nvPr/>
        </p:nvSpPr>
        <p:spPr>
          <a:xfrm>
            <a:off x="6309360"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6547104"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Judgement still required</a:t>
            </a:r>
            <a:endParaRPr lang="en-US" sz="1350" dirty="0"/>
          </a:p>
        </p:txBody>
      </p:sp>
      <p:sp>
        <p:nvSpPr>
          <p:cNvPr id="35" name="Text 33"/>
          <p:cNvSpPr/>
          <p:nvPr/>
        </p:nvSpPr>
        <p:spPr>
          <a:xfrm>
            <a:off x="6547104"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Tier 3 recovers about a sixth of what a tool costs to own per year, against half on Tier 2. It is a deliberate discount to win small work. On a long shutdown, use Tier 2 or 1.</a:t>
            </a:r>
            <a:endParaRPr lang="en-US" sz="1100" dirty="0"/>
          </a:p>
        </p:txBody>
      </p:sp>
      <p:sp>
        <p:nvSpPr>
          <p:cNvPr id="36" name="Text 34"/>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7" name="Text 35"/>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5 · POWER USAGE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Electricity the shop pays for</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Text 5"/>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8" name="Text 6"/>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9" name="Shape 7"/>
          <p:cNvSpPr/>
          <p:nvPr/>
        </p:nvSpPr>
        <p:spPr>
          <a:xfrm>
            <a:off x="5507736"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804672" y="2185416"/>
            <a:ext cx="3108960" cy="310896"/>
          </a:xfrm>
          <a:prstGeom prst="rect">
            <a:avLst/>
          </a:prstGeom>
          <a:noFill/>
          <a:ln/>
        </p:spPr>
        <p:txBody>
          <a:bodyPr wrap="square" lIns="0" tIns="0" rIns="0" bIns="0" rtlCol="0" anchor="ctr"/>
          <a:lstStyle/>
          <a:p>
            <a:pPr indent="0" marL="0">
              <a:buNone/>
            </a:pPr>
            <a:r>
              <a:rPr lang="en-US" sz="1450" b="1" dirty="0">
                <a:solidFill>
                  <a:srgbClr val="F0A429"/>
                </a:solidFill>
                <a:latin typeface="Arial" pitchFamily="34" charset="0"/>
                <a:ea typeface="Arial" pitchFamily="34" charset="-122"/>
                <a:cs typeface="Arial" pitchFamily="34" charset="-120"/>
              </a:rPr>
              <a:t>Shopworks only</a:t>
            </a:r>
            <a:endParaRPr lang="en-US" sz="1450" dirty="0"/>
          </a:p>
        </p:txBody>
      </p:sp>
      <p:sp>
        <p:nvSpPr>
          <p:cNvPr id="17" name="Text 15"/>
          <p:cNvSpPr/>
          <p:nvPr/>
        </p:nvSpPr>
        <p:spPr>
          <a:xfrm>
            <a:off x="804672"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Onsite jobs run on the client’s supply, so power is never charged there. The columns show on Shopworks CEs while an admin has ⚡ Tool Power ON.</a:t>
            </a:r>
            <a:endParaRPr lang="en-US" sz="1150" dirty="0"/>
          </a:p>
        </p:txBody>
      </p:sp>
      <p:sp>
        <p:nvSpPr>
          <p:cNvPr id="18" name="Shape 16"/>
          <p:cNvSpPr/>
          <p:nvPr/>
        </p:nvSpPr>
        <p:spPr>
          <a:xfrm>
            <a:off x="4352544"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9" name="Text 17"/>
          <p:cNvSpPr/>
          <p:nvPr/>
        </p:nvSpPr>
        <p:spPr>
          <a:xfrm>
            <a:off x="4590288" y="2185416"/>
            <a:ext cx="3108960" cy="310896"/>
          </a:xfrm>
          <a:prstGeom prst="rect">
            <a:avLst/>
          </a:prstGeom>
          <a:noFill/>
          <a:ln/>
        </p:spPr>
        <p:txBody>
          <a:bodyPr wrap="square" lIns="0" tIns="0" rIns="0" bIns="0" rtlCol="0" anchor="ctr"/>
          <a:lstStyle/>
          <a:p>
            <a:pPr indent="0" marL="0">
              <a:buNone/>
            </a:pPr>
            <a:r>
              <a:rPr lang="en-US" sz="1450" b="1" dirty="0">
                <a:solidFill>
                  <a:srgbClr val="58A6FF"/>
                </a:solidFill>
                <a:latin typeface="Arial" pitchFamily="34" charset="0"/>
                <a:ea typeface="Arial" pitchFamily="34" charset="-122"/>
                <a:cs typeface="Arial" pitchFamily="34" charset="-120"/>
              </a:rPr>
              <a:t>kW comes from the Masterlist</a:t>
            </a:r>
            <a:endParaRPr lang="en-US" sz="1450" dirty="0"/>
          </a:p>
        </p:txBody>
      </p:sp>
      <p:sp>
        <p:nvSpPr>
          <p:cNvPr id="20" name="Text 18"/>
          <p:cNvSpPr/>
          <p:nvPr/>
        </p:nvSpPr>
        <p:spPr>
          <a:xfrm>
            <a:off x="4590288"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Every tool can carry a power rating. Pick the item from the Masterlist and the rating arrives with the rate. Type it on the row for anything not in the list.</a:t>
            </a:r>
            <a:endParaRPr lang="en-US" sz="1150" dirty="0"/>
          </a:p>
        </p:txBody>
      </p:sp>
      <p:sp>
        <p:nvSpPr>
          <p:cNvPr id="21" name="Shape 19"/>
          <p:cNvSpPr/>
          <p:nvPr/>
        </p:nvSpPr>
        <p:spPr>
          <a:xfrm>
            <a:off x="8138160"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2" name="Text 20"/>
          <p:cNvSpPr/>
          <p:nvPr/>
        </p:nvSpPr>
        <p:spPr>
          <a:xfrm>
            <a:off x="8375904" y="2185416"/>
            <a:ext cx="3108960" cy="310896"/>
          </a:xfrm>
          <a:prstGeom prst="rect">
            <a:avLst/>
          </a:prstGeom>
          <a:noFill/>
          <a:ln/>
        </p:spPr>
        <p:txBody>
          <a:bodyPr wrap="square" lIns="0" tIns="0" rIns="0" bIns="0" rtlCol="0" anchor="ctr"/>
          <a:lstStyle/>
          <a:p>
            <a:pPr indent="0" marL="0">
              <a:buNone/>
            </a:pPr>
            <a:r>
              <a:rPr lang="en-US" sz="1450" b="1" dirty="0">
                <a:solidFill>
                  <a:srgbClr val="3FB950"/>
                </a:solidFill>
                <a:latin typeface="Arial" pitchFamily="34" charset="0"/>
                <a:ea typeface="Arial" pitchFamily="34" charset="-122"/>
                <a:cs typeface="Arial" pitchFamily="34" charset="-120"/>
              </a:rPr>
              <a:t>Running hrs — what it actually draws</a:t>
            </a:r>
            <a:endParaRPr lang="en-US" sz="1450" dirty="0"/>
          </a:p>
        </p:txBody>
      </p:sp>
      <p:sp>
        <p:nvSpPr>
          <p:cNvPr id="23" name="Text 21"/>
          <p:cNvSpPr/>
          <p:nvPr/>
        </p:nvSpPr>
        <p:spPr>
          <a:xfrm>
            <a:off x="8375904"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Hours the tool is really running, not how long it is on the floor. A grinder on site for five days does not draw for 120 hours. Independent of the tier.</a:t>
            </a:r>
            <a:endParaRPr lang="en-US" sz="1150" dirty="0"/>
          </a:p>
        </p:txBody>
      </p:sp>
      <p:sp>
        <p:nvSpPr>
          <p:cNvPr id="24" name="Shape 22"/>
          <p:cNvSpPr/>
          <p:nvPr/>
        </p:nvSpPr>
        <p:spPr>
          <a:xfrm>
            <a:off x="566928"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804672"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The electricity rate</a:t>
            </a:r>
            <a:endParaRPr lang="en-US" sz="1350" dirty="0"/>
          </a:p>
        </p:txBody>
      </p:sp>
      <p:sp>
        <p:nvSpPr>
          <p:cNvPr id="26" name="Text 24"/>
          <p:cNvSpPr/>
          <p:nvPr/>
        </p:nvSpPr>
        <p:spPr>
          <a:xfrm>
            <a:off x="804672"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Pesos per kWh, in the Tools &amp; Equipment header. Starts at ₱12.00. It belongs to THIS CE, so a utility increase never reprices an estimate already sent out.</a:t>
            </a:r>
            <a:endParaRPr lang="en-US" sz="1100" dirty="0"/>
          </a:p>
        </p:txBody>
      </p:sp>
      <p:sp>
        <p:nvSpPr>
          <p:cNvPr id="27" name="Shape 25"/>
          <p:cNvSpPr/>
          <p:nvPr/>
        </p:nvSpPr>
        <p:spPr>
          <a:xfrm>
            <a:off x="6309360"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6547104"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What it costs</a:t>
            </a:r>
            <a:endParaRPr lang="en-US" sz="1350" dirty="0"/>
          </a:p>
        </p:txBody>
      </p:sp>
      <p:sp>
        <p:nvSpPr>
          <p:cNvPr id="29" name="Text 27"/>
          <p:cNvSpPr/>
          <p:nvPr/>
        </p:nvSpPr>
        <p:spPr>
          <a:xfrm>
            <a:off x="6547104"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Qty × kW × running hrs × ₱/kWh. It shows in its own Power column and is added to the row total on top of the rental.</a:t>
            </a:r>
            <a:endParaRPr lang="en-US" sz="1100" dirty="0"/>
          </a:p>
        </p:txBody>
      </p:sp>
      <p:sp>
        <p:nvSpPr>
          <p:cNvPr id="30" name="Shape 28"/>
          <p:cNvSpPr/>
          <p:nvPr/>
        </p:nvSpPr>
        <p:spPr>
          <a:xfrm>
            <a:off x="566928"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Text 29"/>
          <p:cNvSpPr/>
          <p:nvPr/>
        </p:nvSpPr>
        <p:spPr>
          <a:xfrm>
            <a:off x="804672"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Charging no power at all</a:t>
            </a:r>
            <a:endParaRPr lang="en-US" sz="1350" dirty="0"/>
          </a:p>
        </p:txBody>
      </p:sp>
      <p:sp>
        <p:nvSpPr>
          <p:cNvPr id="32" name="Text 30"/>
          <p:cNvSpPr/>
          <p:nvPr/>
        </p:nvSpPr>
        <p:spPr>
          <a:xfrm>
            <a:off x="804672"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Set the rate to 0. The kW and running hours stay on the rows and nothing is billed — useful when power is inside an agreed shop rate.</a:t>
            </a:r>
            <a:endParaRPr lang="en-US" sz="1100" dirty="0"/>
          </a:p>
        </p:txBody>
      </p:sp>
      <p:sp>
        <p:nvSpPr>
          <p:cNvPr id="33" name="Shape 31"/>
          <p:cNvSpPr/>
          <p:nvPr/>
        </p:nvSpPr>
        <p:spPr>
          <a:xfrm>
            <a:off x="6309360"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6547104"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On the printed CE</a:t>
            </a:r>
            <a:endParaRPr lang="en-US" sz="1350" dirty="0"/>
          </a:p>
        </p:txBody>
      </p:sp>
      <p:sp>
        <p:nvSpPr>
          <p:cNvPr id="35" name="Text 33"/>
          <p:cNvSpPr/>
          <p:nvPr/>
        </p:nvSpPr>
        <p:spPr>
          <a:xfrm>
            <a:off x="6547104"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 POWER column sits beside BASIS, so the client can see why a machine costs what it does. A row with no rating shows a dash.</a:t>
            </a:r>
            <a:endParaRPr lang="en-US" sz="1100" dirty="0"/>
          </a:p>
        </p:txBody>
      </p:sp>
      <p:sp>
        <p:nvSpPr>
          <p:cNvPr id="36" name="Text 34"/>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7" name="Text 35"/>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CE TYPE · SHOP + SITE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One job, part in the shop, part on site</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Text 5"/>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8" name="Text 6"/>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9" name="Shape 7"/>
          <p:cNvSpPr/>
          <p:nvPr/>
        </p:nvSpPr>
        <p:spPr>
          <a:xfrm>
            <a:off x="5507736"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804672" y="2185416"/>
            <a:ext cx="3108960" cy="310896"/>
          </a:xfrm>
          <a:prstGeom prst="rect">
            <a:avLst/>
          </a:prstGeom>
          <a:noFill/>
          <a:ln/>
        </p:spPr>
        <p:txBody>
          <a:bodyPr wrap="square" lIns="0" tIns="0" rIns="0" bIns="0" rtlCol="0" anchor="ctr"/>
          <a:lstStyle/>
          <a:p>
            <a:pPr indent="0" marL="0">
              <a:buNone/>
            </a:pPr>
            <a:r>
              <a:rPr lang="en-US" sz="1450" b="1" dirty="0">
                <a:solidFill>
                  <a:srgbClr val="F0A429"/>
                </a:solidFill>
                <a:latin typeface="Arial" pitchFamily="34" charset="0"/>
                <a:ea typeface="Arial" pitchFamily="34" charset="-122"/>
                <a:cs typeface="Arial" pitchFamily="34" charset="-120"/>
              </a:rPr>
              <a:t>Pick it on Project Info</a:t>
            </a:r>
            <a:endParaRPr lang="en-US" sz="1450" dirty="0"/>
          </a:p>
        </p:txBody>
      </p:sp>
      <p:sp>
        <p:nvSpPr>
          <p:cNvPr id="17" name="Text 15"/>
          <p:cNvSpPr/>
          <p:nvPr/>
        </p:nvSpPr>
        <p:spPr>
          <a:xfrm>
            <a:off x="804672"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For a component pulled, repaired in our shop and reinstalled. It keeps mobilization and the Onsite Miscellaneous categories.</a:t>
            </a:r>
            <a:endParaRPr lang="en-US" sz="1150" dirty="0"/>
          </a:p>
        </p:txBody>
      </p:sp>
      <p:sp>
        <p:nvSpPr>
          <p:cNvPr id="18" name="Shape 16"/>
          <p:cNvSpPr/>
          <p:nvPr/>
        </p:nvSpPr>
        <p:spPr>
          <a:xfrm>
            <a:off x="4352544"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9" name="Text 17"/>
          <p:cNvSpPr/>
          <p:nvPr/>
        </p:nvSpPr>
        <p:spPr>
          <a:xfrm>
            <a:off x="4590288" y="2185416"/>
            <a:ext cx="3108960" cy="310896"/>
          </a:xfrm>
          <a:prstGeom prst="rect">
            <a:avLst/>
          </a:prstGeom>
          <a:noFill/>
          <a:ln/>
        </p:spPr>
        <p:txBody>
          <a:bodyPr wrap="square" lIns="0" tIns="0" rIns="0" bIns="0" rtlCol="0" anchor="ctr"/>
          <a:lstStyle/>
          <a:p>
            <a:pPr indent="0" marL="0">
              <a:buNone/>
            </a:pPr>
            <a:r>
              <a:rPr lang="en-US" sz="1450" b="1" dirty="0">
                <a:solidFill>
                  <a:srgbClr val="58A6FF"/>
                </a:solidFill>
                <a:latin typeface="Arial" pitchFamily="34" charset="0"/>
                <a:ea typeface="Arial" pitchFamily="34" charset="-122"/>
                <a:cs typeface="Arial" pitchFamily="34" charset="-120"/>
              </a:rPr>
              <a:t>Tag each scope task</a:t>
            </a:r>
            <a:endParaRPr lang="en-US" sz="1450" dirty="0"/>
          </a:p>
        </p:txBody>
      </p:sp>
      <p:sp>
        <p:nvSpPr>
          <p:cNvPr id="20" name="Text 18"/>
          <p:cNvSpPr/>
          <p:nvPr/>
        </p:nvSpPr>
        <p:spPr>
          <a:xfrm>
            <a:off x="4590288"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In SOW Breakdown every main task has a 🏗 Site / 🏭 Shop button. Sub-tasks follow their main task. Untagged counts as Site.</a:t>
            </a:r>
            <a:endParaRPr lang="en-US" sz="1150" dirty="0"/>
          </a:p>
        </p:txBody>
      </p:sp>
      <p:sp>
        <p:nvSpPr>
          <p:cNvPr id="21" name="Shape 19"/>
          <p:cNvSpPr/>
          <p:nvPr/>
        </p:nvSpPr>
        <p:spPr>
          <a:xfrm>
            <a:off x="8138160"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2" name="Text 20"/>
          <p:cNvSpPr/>
          <p:nvPr/>
        </p:nvSpPr>
        <p:spPr>
          <a:xfrm>
            <a:off x="8375904" y="2185416"/>
            <a:ext cx="3108960" cy="310896"/>
          </a:xfrm>
          <a:prstGeom prst="rect">
            <a:avLst/>
          </a:prstGeom>
          <a:noFill/>
          <a:ln/>
        </p:spPr>
        <p:txBody>
          <a:bodyPr wrap="square" lIns="0" tIns="0" rIns="0" bIns="0" rtlCol="0" anchor="ctr"/>
          <a:lstStyle/>
          <a:p>
            <a:pPr indent="0" marL="0">
              <a:buNone/>
            </a:pPr>
            <a:r>
              <a:rPr lang="en-US" sz="1450" b="1" dirty="0">
                <a:solidFill>
                  <a:srgbClr val="3FB950"/>
                </a:solidFill>
                <a:latin typeface="Arial" pitchFamily="34" charset="0"/>
                <a:ea typeface="Arial" pitchFamily="34" charset="-122"/>
                <a:cs typeface="Arial" pitchFamily="34" charset="-120"/>
              </a:rPr>
              <a:t>File the crew and tools</a:t>
            </a:r>
            <a:endParaRPr lang="en-US" sz="1450" dirty="0"/>
          </a:p>
        </p:txBody>
      </p:sp>
      <p:sp>
        <p:nvSpPr>
          <p:cNvPr id="23" name="Text 21"/>
          <p:cNvSpPr/>
          <p:nvPr/>
        </p:nvSpPr>
        <p:spPr>
          <a:xfrm>
            <a:off x="8375904"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Assign manpower and tools to their tasks. That link is how the app knows which days are site days and which tools run on shop power.</a:t>
            </a:r>
            <a:endParaRPr lang="en-US" sz="1150" dirty="0"/>
          </a:p>
        </p:txBody>
      </p:sp>
      <p:sp>
        <p:nvSpPr>
          <p:cNvPr id="24" name="Shape 22"/>
          <p:cNvSpPr/>
          <p:nvPr/>
        </p:nvSpPr>
        <p:spPr>
          <a:xfrm>
            <a:off x="566928"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804672"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Incentive: site days only</a:t>
            </a:r>
            <a:endParaRPr lang="en-US" sz="1350" dirty="0"/>
          </a:p>
        </p:txBody>
      </p:sp>
      <p:sp>
        <p:nvSpPr>
          <p:cNvPr id="26" name="Text 24"/>
          <p:cNvSpPr/>
          <p:nvPr/>
        </p:nvSpPr>
        <p:spPr>
          <a:xfrm>
            <a:off x="804672"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 crew row on a Site task earns the Incentive; on a Shop task it earns none. A row shared by both is split by its share.</a:t>
            </a:r>
            <a:endParaRPr lang="en-US" sz="1100" dirty="0"/>
          </a:p>
        </p:txBody>
      </p:sp>
      <p:sp>
        <p:nvSpPr>
          <p:cNvPr id="27" name="Shape 25"/>
          <p:cNvSpPr/>
          <p:nvPr/>
        </p:nvSpPr>
        <p:spPr>
          <a:xfrm>
            <a:off x="6309360"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6547104"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Power: shop tasks only</a:t>
            </a:r>
            <a:endParaRPr lang="en-US" sz="1350" dirty="0"/>
          </a:p>
        </p:txBody>
      </p:sp>
      <p:sp>
        <p:nvSpPr>
          <p:cNvPr id="29" name="Text 27"/>
          <p:cNvSpPr/>
          <p:nvPr/>
        </p:nvSpPr>
        <p:spPr>
          <a:xfrm>
            <a:off x="6547104"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 tool’s electricity is charged only for its Shop share. On site the client supplies the power, as on an Onsite CE.</a:t>
            </a:r>
            <a:endParaRPr lang="en-US" sz="1100" dirty="0"/>
          </a:p>
        </p:txBody>
      </p:sp>
      <p:sp>
        <p:nvSpPr>
          <p:cNvPr id="30" name="Shape 28"/>
          <p:cNvSpPr/>
          <p:nvPr/>
        </p:nvSpPr>
        <p:spPr>
          <a:xfrm>
            <a:off x="566928"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Text 29"/>
          <p:cNvSpPr/>
          <p:nvPr/>
        </p:nvSpPr>
        <p:spPr>
          <a:xfrm>
            <a:off x="804672"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Unassigned rows count as Site</a:t>
            </a:r>
            <a:endParaRPr lang="en-US" sz="1350" dirty="0"/>
          </a:p>
        </p:txBody>
      </p:sp>
      <p:sp>
        <p:nvSpPr>
          <p:cNvPr id="32" name="Text 30"/>
          <p:cNvSpPr/>
          <p:nvPr/>
        </p:nvSpPr>
        <p:spPr>
          <a:xfrm>
            <a:off x="804672"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 row filed to no task earns the Incentive and draws no power. File every row before you generate.</a:t>
            </a:r>
            <a:endParaRPr lang="en-US" sz="1100" dirty="0"/>
          </a:p>
        </p:txBody>
      </p:sp>
      <p:sp>
        <p:nvSpPr>
          <p:cNvPr id="33" name="Shape 31"/>
          <p:cNvSpPr/>
          <p:nvPr/>
        </p:nvSpPr>
        <p:spPr>
          <a:xfrm>
            <a:off x="6309360"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6547104"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On the printed CE</a:t>
            </a:r>
            <a:endParaRPr lang="en-US" sz="1350" dirty="0"/>
          </a:p>
        </p:txBody>
      </p:sp>
      <p:sp>
        <p:nvSpPr>
          <p:cNvPr id="35" name="Text 33"/>
          <p:cNvSpPr/>
          <p:nvPr/>
        </p:nvSpPr>
        <p:spPr>
          <a:xfrm>
            <a:off x="6547104"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CE TYPE prints as SHOP + SITE. The totals already apply both rules; there is no separate shop and site section.</a:t>
            </a:r>
            <a:endParaRPr lang="en-US" sz="1100" dirty="0"/>
          </a:p>
        </p:txBody>
      </p:sp>
      <p:sp>
        <p:nvSpPr>
          <p:cNvPr id="36" name="Text 34"/>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7" name="Text 35"/>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1">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5 · IMPORT A TOOL LIST</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A supplier’s kit list in one go</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Text 5"/>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8" name="Text 6"/>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9" name="Shape 7"/>
          <p:cNvSpPr/>
          <p:nvPr/>
        </p:nvSpPr>
        <p:spPr>
          <a:xfrm>
            <a:off x="5507736"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10" name="Text 8"/>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Tools</a:t>
            </a:r>
            <a:endParaRPr lang="en-US" sz="900" dirty="0"/>
          </a:p>
        </p:txBody>
      </p:sp>
      <p:sp>
        <p:nvSpPr>
          <p:cNvPr id="11" name="Text 9"/>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2" name="Text 10"/>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804672" y="2185416"/>
            <a:ext cx="3108960" cy="310896"/>
          </a:xfrm>
          <a:prstGeom prst="rect">
            <a:avLst/>
          </a:prstGeom>
          <a:noFill/>
          <a:ln/>
        </p:spPr>
        <p:txBody>
          <a:bodyPr wrap="square" lIns="0" tIns="0" rIns="0" bIns="0" rtlCol="0" anchor="ctr"/>
          <a:lstStyle/>
          <a:p>
            <a:pPr indent="0" marL="0">
              <a:buNone/>
            </a:pPr>
            <a:r>
              <a:rPr lang="en-US" sz="1450" b="1" dirty="0">
                <a:solidFill>
                  <a:srgbClr val="F0A429"/>
                </a:solidFill>
                <a:latin typeface="Arial" pitchFamily="34" charset="0"/>
                <a:ea typeface="Arial" pitchFamily="34" charset="-122"/>
                <a:cs typeface="Arial" pitchFamily="34" charset="-120"/>
              </a:rPr>
              <a:t>⇪ Import list</a:t>
            </a:r>
            <a:endParaRPr lang="en-US" sz="1450" dirty="0"/>
          </a:p>
        </p:txBody>
      </p:sp>
      <p:sp>
        <p:nvSpPr>
          <p:cNvPr id="17" name="Text 15"/>
          <p:cNvSpPr/>
          <p:nvPr/>
        </p:nvSpPr>
        <p:spPr>
          <a:xfrm>
            <a:off x="804672"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In the Tools &amp; Equipment, Materials and PPE toolbars. Takes a PDF kit report, an Excel or CSV list, or a Word or text file.</a:t>
            </a:r>
            <a:endParaRPr lang="en-US" sz="1150" dirty="0"/>
          </a:p>
        </p:txBody>
      </p:sp>
      <p:sp>
        <p:nvSpPr>
          <p:cNvPr id="18" name="Shape 16"/>
          <p:cNvSpPr/>
          <p:nvPr/>
        </p:nvSpPr>
        <p:spPr>
          <a:xfrm>
            <a:off x="4352544"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9" name="Text 17"/>
          <p:cNvSpPr/>
          <p:nvPr/>
        </p:nvSpPr>
        <p:spPr>
          <a:xfrm>
            <a:off x="4590288" y="2185416"/>
            <a:ext cx="3108960" cy="310896"/>
          </a:xfrm>
          <a:prstGeom prst="rect">
            <a:avLst/>
          </a:prstGeom>
          <a:noFill/>
          <a:ln/>
        </p:spPr>
        <p:txBody>
          <a:bodyPr wrap="square" lIns="0" tIns="0" rIns="0" bIns="0" rtlCol="0" anchor="ctr"/>
          <a:lstStyle/>
          <a:p>
            <a:pPr indent="0" marL="0">
              <a:buNone/>
            </a:pPr>
            <a:r>
              <a:rPr lang="en-US" sz="1450" b="1" dirty="0">
                <a:solidFill>
                  <a:srgbClr val="58A6FF"/>
                </a:solidFill>
                <a:latin typeface="Arial" pitchFamily="34" charset="0"/>
                <a:ea typeface="Arial" pitchFamily="34" charset="-122"/>
                <a:cs typeface="Arial" pitchFamily="34" charset="-120"/>
              </a:rPr>
              <a:t>What it reads</a:t>
            </a:r>
            <a:endParaRPr lang="en-US" sz="1450" dirty="0"/>
          </a:p>
        </p:txBody>
      </p:sp>
      <p:sp>
        <p:nvSpPr>
          <p:cNvPr id="20" name="Text 18"/>
          <p:cNvSpPr/>
          <p:nvPr/>
        </p:nvSpPr>
        <p:spPr>
          <a:xfrm>
            <a:off x="4590288"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Numbered lines (item, part no., qty, unit) or a table headed Description and Qty. Wrapped names and part numbers stay with their item.</a:t>
            </a:r>
            <a:endParaRPr lang="en-US" sz="1150" dirty="0"/>
          </a:p>
        </p:txBody>
      </p:sp>
      <p:sp>
        <p:nvSpPr>
          <p:cNvPr id="21" name="Shape 19"/>
          <p:cNvSpPr/>
          <p:nvPr/>
        </p:nvSpPr>
        <p:spPr>
          <a:xfrm>
            <a:off x="8138160" y="2002536"/>
            <a:ext cx="3566160" cy="1463040"/>
          </a:xfrm>
          <a:prstGeom prst="roundRect">
            <a:avLst>
              <a:gd name="adj" fmla="val 5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2" name="Text 20"/>
          <p:cNvSpPr/>
          <p:nvPr/>
        </p:nvSpPr>
        <p:spPr>
          <a:xfrm>
            <a:off x="8375904" y="2185416"/>
            <a:ext cx="3108960" cy="310896"/>
          </a:xfrm>
          <a:prstGeom prst="rect">
            <a:avLst/>
          </a:prstGeom>
          <a:noFill/>
          <a:ln/>
        </p:spPr>
        <p:txBody>
          <a:bodyPr wrap="square" lIns="0" tIns="0" rIns="0" bIns="0" rtlCol="0" anchor="ctr"/>
          <a:lstStyle/>
          <a:p>
            <a:pPr indent="0" marL="0">
              <a:buNone/>
            </a:pPr>
            <a:r>
              <a:rPr lang="en-US" sz="1450" b="1" dirty="0">
                <a:solidFill>
                  <a:srgbClr val="3FB950"/>
                </a:solidFill>
                <a:latin typeface="Arial" pitchFamily="34" charset="0"/>
                <a:ea typeface="Arial" pitchFamily="34" charset="-122"/>
                <a:cs typeface="Arial" pitchFamily="34" charset="-120"/>
              </a:rPr>
              <a:t>Check before it lands</a:t>
            </a:r>
            <a:endParaRPr lang="en-US" sz="1450" dirty="0"/>
          </a:p>
        </p:txBody>
      </p:sp>
      <p:sp>
        <p:nvSpPr>
          <p:cNvPr id="23" name="Text 21"/>
          <p:cNvSpPr/>
          <p:nvPr/>
        </p:nvSpPr>
        <p:spPr>
          <a:xfrm>
            <a:off x="8375904" y="2542032"/>
            <a:ext cx="3108960" cy="82296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A preview lists every item, all ticked. Untick what the job does not need, and fix a name or quantity before adding.</a:t>
            </a:r>
            <a:endParaRPr lang="en-US" sz="1150" dirty="0"/>
          </a:p>
        </p:txBody>
      </p:sp>
      <p:sp>
        <p:nvSpPr>
          <p:cNvPr id="24" name="Shape 22"/>
          <p:cNvSpPr/>
          <p:nvPr/>
        </p:nvSpPr>
        <p:spPr>
          <a:xfrm>
            <a:off x="566928"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804672"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Priced from the Masterlist</a:t>
            </a:r>
            <a:endParaRPr lang="en-US" sz="1350" dirty="0"/>
          </a:p>
        </p:txBody>
      </p:sp>
      <p:sp>
        <p:nvSpPr>
          <p:cNvPr id="26" name="Text 24"/>
          <p:cNvSpPr/>
          <p:nvPr/>
        </p:nvSpPr>
        <p:spPr>
          <a:xfrm>
            <a:off x="804672"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An item the Masterlist has comes in at its rate and unit. The preview shows which ones are on the list.</a:t>
            </a:r>
            <a:endParaRPr lang="en-US" sz="1100" dirty="0"/>
          </a:p>
        </p:txBody>
      </p:sp>
      <p:sp>
        <p:nvSpPr>
          <p:cNvPr id="27" name="Shape 25"/>
          <p:cNvSpPr/>
          <p:nvPr/>
        </p:nvSpPr>
        <p:spPr>
          <a:xfrm>
            <a:off x="6309360" y="3648456"/>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6547104" y="3767328"/>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The rest come in at ₱0</a:t>
            </a:r>
            <a:endParaRPr lang="en-US" sz="1350" dirty="0"/>
          </a:p>
        </p:txBody>
      </p:sp>
      <p:sp>
        <p:nvSpPr>
          <p:cNvPr id="29" name="Text 27"/>
          <p:cNvSpPr/>
          <p:nvPr/>
        </p:nvSpPr>
        <p:spPr>
          <a:xfrm>
            <a:off x="6547104" y="4069080"/>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The message after adding says how many need a rate. Type it on the row, or add the items with ＋ Masterlist.</a:t>
            </a:r>
            <a:endParaRPr lang="en-US" sz="1100" dirty="0"/>
          </a:p>
        </p:txBody>
      </p:sp>
      <p:sp>
        <p:nvSpPr>
          <p:cNvPr id="30" name="Shape 28"/>
          <p:cNvSpPr/>
          <p:nvPr/>
        </p:nvSpPr>
        <p:spPr>
          <a:xfrm>
            <a:off x="566928"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Text 29"/>
          <p:cNvSpPr/>
          <p:nvPr/>
        </p:nvSpPr>
        <p:spPr>
          <a:xfrm>
            <a:off x="804672"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Repeats are added up</a:t>
            </a:r>
            <a:endParaRPr lang="en-US" sz="1350" dirty="0"/>
          </a:p>
        </p:txBody>
      </p:sp>
      <p:sp>
        <p:nvSpPr>
          <p:cNvPr id="32" name="Text 30"/>
          <p:cNvSpPr/>
          <p:nvPr/>
        </p:nvSpPr>
        <p:spPr>
          <a:xfrm>
            <a:off x="804672"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The same item listed twice becomes one row with both quantities. Page headers and comments are left out.</a:t>
            </a:r>
            <a:endParaRPr lang="en-US" sz="1100" dirty="0"/>
          </a:p>
        </p:txBody>
      </p:sp>
      <p:sp>
        <p:nvSpPr>
          <p:cNvPr id="33" name="Shape 31"/>
          <p:cNvSpPr/>
          <p:nvPr/>
        </p:nvSpPr>
        <p:spPr>
          <a:xfrm>
            <a:off x="6309360" y="4818888"/>
            <a:ext cx="5532120" cy="1042416"/>
          </a:xfrm>
          <a:prstGeom prst="roundRect">
            <a:avLst>
              <a:gd name="adj" fmla="val 701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6547104" y="4937760"/>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Check the tier first</a:t>
            </a:r>
            <a:endParaRPr lang="en-US" sz="1350" dirty="0"/>
          </a:p>
        </p:txBody>
      </p:sp>
      <p:sp>
        <p:nvSpPr>
          <p:cNvPr id="35" name="Text 33"/>
          <p:cNvSpPr/>
          <p:nvPr/>
        </p:nvSpPr>
        <p:spPr>
          <a:xfrm>
            <a:off x="6547104" y="5239512"/>
            <a:ext cx="5074920" cy="566928"/>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Imported rows start on the tier set in New rows. A 42-page kit list is about 320 rows, so set it before you import.</a:t>
            </a:r>
            <a:endParaRPr lang="en-US" sz="1100" dirty="0"/>
          </a:p>
        </p:txBody>
      </p:sp>
      <p:sp>
        <p:nvSpPr>
          <p:cNvPr id="36" name="Text 34"/>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7" name="Text 35"/>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5 · QUANTITY CALCULATORS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How much to buy</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On the Materials tab, 🧮 Calculators works out quantities for babbitt, painting and welding.</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Using it</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Press 🧮 Calculators in the Materials toolbar; a drawer opens beside the table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Pick Babbitt, Painting or Welding and enter the job's measurements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Add a job for each bearing, surface or shaft; they are added up and rounded up once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Results show what to buy after losses, with the net quantity under it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Add lines creates ordinary rows; adding again updates the same rows</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What each one does</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Babbitt: bearing size gives kg of babbitt, bars and tin ingots. Bar and ingot weights can be changed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Painting: area ÷ spreading rate for each coat; thinner is 25% of all paint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Welding: weld metal for a shaft buildup, split between stick and TIG by rod size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Unit costs come from the Masterlist; a line it lacks is added at 0 for you to price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CE keeps its inputs and allowances, so reopening it shows how a quantity was worked out</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5 · QUANTITY CALCULATORS · ALLOWANCES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Losses are explicit and editable</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Every allowance is a loss percentage: you buy the net quantity ÷ (1 − loss), so a 25% loss is 1.33 times.</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The allowance table</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Each calculator shows its own table under the results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Columns: Standard, Published range, Team typical, Using and Status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Change Using on this CE; Status says standard, edited or outside range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Team typical is the median estimators used; press Use to take it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Estimates are tagged as such. Babbitt pour loss (20%) has no published figure: replace it with shop experience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Admins tick Edit the standards to change a default</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Welding, how it is worked out</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Weld metal = π × thickness × (diameter + thickness) × length × density, plus 10% for tacks, run-off and repairs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Stick: yield is 100% minus the electrode loss; 35% gives 65%</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TIG: yield comes from the stub and the rod length, so a shorter rod wastes more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Rod size changes the number of rods and the price per kg, not the kilograms of TIG rod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Consumable shares must add up to 100%; Add waits until they do</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6 · MISCELLANEOUS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Everything else the job carries</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Text 5"/>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8" name="Text 6"/>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9" name="Text 7"/>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Tools</a:t>
            </a:r>
            <a:endParaRPr lang="en-US" sz="900" dirty="0"/>
          </a:p>
        </p:txBody>
      </p:sp>
      <p:sp>
        <p:nvSpPr>
          <p:cNvPr id="10" name="Text 8"/>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1" name="Text 9"/>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2" name="Shape 10"/>
          <p:cNvSpPr/>
          <p:nvPr/>
        </p:nvSpPr>
        <p:spPr>
          <a:xfrm>
            <a:off x="9192768"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13" name="Text 11"/>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Misc.</a:t>
            </a:r>
            <a:endParaRPr lang="en-US" sz="900" dirty="0"/>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Summary</a:t>
            </a:r>
            <a:endParaRPr lang="en-US" sz="900" dirty="0"/>
          </a:p>
        </p:txBody>
      </p:sp>
      <p:sp>
        <p:nvSpPr>
          <p:cNvPr id="15" name="Shape 13"/>
          <p:cNvSpPr/>
          <p:nvPr/>
        </p:nvSpPr>
        <p:spPr>
          <a:xfrm>
            <a:off x="566928" y="2048256"/>
            <a:ext cx="3566160" cy="1078992"/>
          </a:xfrm>
          <a:prstGeom prst="roundRect">
            <a:avLst>
              <a:gd name="adj" fmla="val 678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Text 14"/>
          <p:cNvSpPr/>
          <p:nvPr/>
        </p:nvSpPr>
        <p:spPr>
          <a:xfrm>
            <a:off x="804672" y="2212848"/>
            <a:ext cx="3108960" cy="292608"/>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Accommodation</a:t>
            </a:r>
            <a:endParaRPr lang="en-US" sz="1350" dirty="0"/>
          </a:p>
        </p:txBody>
      </p:sp>
      <p:sp>
        <p:nvSpPr>
          <p:cNvPr id="17" name="Text 15"/>
          <p:cNvSpPr/>
          <p:nvPr/>
        </p:nvSpPr>
        <p:spPr>
          <a:xfrm>
            <a:off x="804672" y="2542032"/>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Lodging for the crew</a:t>
            </a:r>
            <a:endParaRPr lang="en-US" sz="1100" dirty="0"/>
          </a:p>
        </p:txBody>
      </p:sp>
      <p:sp>
        <p:nvSpPr>
          <p:cNvPr id="18" name="Shape 16"/>
          <p:cNvSpPr/>
          <p:nvPr/>
        </p:nvSpPr>
        <p:spPr>
          <a:xfrm>
            <a:off x="4352544" y="2048256"/>
            <a:ext cx="3566160" cy="1078992"/>
          </a:xfrm>
          <a:prstGeom prst="roundRect">
            <a:avLst>
              <a:gd name="adj" fmla="val 678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9" name="Text 17"/>
          <p:cNvSpPr/>
          <p:nvPr/>
        </p:nvSpPr>
        <p:spPr>
          <a:xfrm>
            <a:off x="4590288" y="2212848"/>
            <a:ext cx="3108960" cy="292608"/>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Transportation</a:t>
            </a:r>
            <a:endParaRPr lang="en-US" sz="1350" dirty="0"/>
          </a:p>
        </p:txBody>
      </p:sp>
      <p:sp>
        <p:nvSpPr>
          <p:cNvPr id="20" name="Text 18"/>
          <p:cNvSpPr/>
          <p:nvPr/>
        </p:nvSpPr>
        <p:spPr>
          <a:xfrm>
            <a:off x="4590288" y="2542032"/>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Getting people and equipment to site</a:t>
            </a:r>
            <a:endParaRPr lang="en-US" sz="1100" dirty="0"/>
          </a:p>
        </p:txBody>
      </p:sp>
      <p:sp>
        <p:nvSpPr>
          <p:cNvPr id="21" name="Shape 19"/>
          <p:cNvSpPr/>
          <p:nvPr/>
        </p:nvSpPr>
        <p:spPr>
          <a:xfrm>
            <a:off x="8138160" y="2048256"/>
            <a:ext cx="3566160" cy="1078992"/>
          </a:xfrm>
          <a:prstGeom prst="roundRect">
            <a:avLst>
              <a:gd name="adj" fmla="val 678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2" name="Text 20"/>
          <p:cNvSpPr/>
          <p:nvPr/>
        </p:nvSpPr>
        <p:spPr>
          <a:xfrm>
            <a:off x="8375904" y="2212848"/>
            <a:ext cx="3108960" cy="292608"/>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Requirements</a:t>
            </a:r>
            <a:endParaRPr lang="en-US" sz="1350" dirty="0"/>
          </a:p>
        </p:txBody>
      </p:sp>
      <p:sp>
        <p:nvSpPr>
          <p:cNvPr id="23" name="Text 21"/>
          <p:cNvSpPr/>
          <p:nvPr/>
        </p:nvSpPr>
        <p:spPr>
          <a:xfrm>
            <a:off x="8375904" y="2542032"/>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Permits, clearances, site requirements</a:t>
            </a:r>
            <a:endParaRPr lang="en-US" sz="1100" dirty="0"/>
          </a:p>
        </p:txBody>
      </p:sp>
      <p:sp>
        <p:nvSpPr>
          <p:cNvPr id="24" name="Shape 22"/>
          <p:cNvSpPr/>
          <p:nvPr/>
        </p:nvSpPr>
        <p:spPr>
          <a:xfrm>
            <a:off x="566928" y="3282696"/>
            <a:ext cx="3566160" cy="1078992"/>
          </a:xfrm>
          <a:prstGeom prst="roundRect">
            <a:avLst>
              <a:gd name="adj" fmla="val 678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804672" y="3447288"/>
            <a:ext cx="3108960" cy="292608"/>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Admin Cost</a:t>
            </a:r>
            <a:endParaRPr lang="en-US" sz="1350" dirty="0"/>
          </a:p>
        </p:txBody>
      </p:sp>
      <p:sp>
        <p:nvSpPr>
          <p:cNvPr id="26" name="Text 24"/>
          <p:cNvSpPr/>
          <p:nvPr/>
        </p:nvSpPr>
        <p:spPr>
          <a:xfrm>
            <a:off x="804672" y="3776472"/>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Documentation and coordination</a:t>
            </a:r>
            <a:endParaRPr lang="en-US" sz="1100" dirty="0"/>
          </a:p>
        </p:txBody>
      </p:sp>
      <p:sp>
        <p:nvSpPr>
          <p:cNvPr id="27" name="Shape 25"/>
          <p:cNvSpPr/>
          <p:nvPr/>
        </p:nvSpPr>
        <p:spPr>
          <a:xfrm>
            <a:off x="4352544" y="3282696"/>
            <a:ext cx="3566160" cy="1078992"/>
          </a:xfrm>
          <a:prstGeom prst="roundRect">
            <a:avLst>
              <a:gd name="adj" fmla="val 678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8" name="Text 26"/>
          <p:cNvSpPr/>
          <p:nvPr/>
        </p:nvSpPr>
        <p:spPr>
          <a:xfrm>
            <a:off x="4590288" y="3447288"/>
            <a:ext cx="3108960" cy="292608"/>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Third Party</a:t>
            </a:r>
            <a:endParaRPr lang="en-US" sz="1350" dirty="0"/>
          </a:p>
        </p:txBody>
      </p:sp>
      <p:sp>
        <p:nvSpPr>
          <p:cNvPr id="29" name="Text 27"/>
          <p:cNvSpPr/>
          <p:nvPr/>
        </p:nvSpPr>
        <p:spPr>
          <a:xfrm>
            <a:off x="4590288" y="3776472"/>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Subcontracted or specialist services</a:t>
            </a:r>
            <a:endParaRPr lang="en-US" sz="1100" dirty="0"/>
          </a:p>
        </p:txBody>
      </p:sp>
      <p:sp>
        <p:nvSpPr>
          <p:cNvPr id="30" name="Shape 28"/>
          <p:cNvSpPr/>
          <p:nvPr/>
        </p:nvSpPr>
        <p:spPr>
          <a:xfrm>
            <a:off x="8138160" y="3282696"/>
            <a:ext cx="3566160" cy="1078992"/>
          </a:xfrm>
          <a:prstGeom prst="roundRect">
            <a:avLst>
              <a:gd name="adj" fmla="val 678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1" name="Text 29"/>
          <p:cNvSpPr/>
          <p:nvPr/>
        </p:nvSpPr>
        <p:spPr>
          <a:xfrm>
            <a:off x="8375904" y="3447288"/>
            <a:ext cx="3108960" cy="292608"/>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Insurances</a:t>
            </a:r>
            <a:endParaRPr lang="en-US" sz="1350" dirty="0"/>
          </a:p>
        </p:txBody>
      </p:sp>
      <p:sp>
        <p:nvSpPr>
          <p:cNvPr id="32" name="Text 30"/>
          <p:cNvSpPr/>
          <p:nvPr/>
        </p:nvSpPr>
        <p:spPr>
          <a:xfrm>
            <a:off x="8375904" y="3776472"/>
            <a:ext cx="3108960" cy="45720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Cover required for the works</a:t>
            </a:r>
            <a:endParaRPr lang="en-US" sz="1100" dirty="0"/>
          </a:p>
        </p:txBody>
      </p:sp>
      <p:sp>
        <p:nvSpPr>
          <p:cNvPr id="33" name="Shape 31"/>
          <p:cNvSpPr/>
          <p:nvPr/>
        </p:nvSpPr>
        <p:spPr>
          <a:xfrm>
            <a:off x="566928" y="4608576"/>
            <a:ext cx="11055096" cy="1051560"/>
          </a:xfrm>
          <a:prstGeom prst="roundRect">
            <a:avLst>
              <a:gd name="adj" fmla="val 6957"/>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4" name="Text 32"/>
          <p:cNvSpPr/>
          <p:nvPr/>
        </p:nvSpPr>
        <p:spPr>
          <a:xfrm>
            <a:off x="841248" y="4754880"/>
            <a:ext cx="7315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Add as many lines as you need under each heading</a:t>
            </a:r>
            <a:endParaRPr lang="en-US" sz="1350" dirty="0"/>
          </a:p>
        </p:txBody>
      </p:sp>
      <p:sp>
        <p:nvSpPr>
          <p:cNvPr id="35" name="Text 33"/>
          <p:cNvSpPr/>
          <p:nvPr/>
        </p:nvSpPr>
        <p:spPr>
          <a:xfrm>
            <a:off x="841248" y="5056632"/>
            <a:ext cx="10515600" cy="457200"/>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Each line takes a description, quantity, unit, days and cost — blank days counts as 1. Food allowance for the stay can be counted from the crew (see Food allowance). Mobilisation and demobilisation are at the top of the Manpower tab.</a:t>
            </a:r>
            <a:endParaRPr lang="en-US" sz="1150" dirty="0"/>
          </a:p>
        </p:txBody>
      </p:sp>
      <p:sp>
        <p:nvSpPr>
          <p:cNvPr id="36" name="Text 34"/>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7" name="Text 35"/>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3">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7 · SUMMARY</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Price it and sign it</a:t>
            </a:r>
            <a:endParaRPr lang="en-US" sz="3200" dirty="0"/>
          </a:p>
        </p:txBody>
      </p:sp>
      <p:sp>
        <p:nvSpPr>
          <p:cNvPr id="4" name="Shape 2"/>
          <p:cNvSpPr/>
          <p:nvPr/>
        </p:nvSpPr>
        <p:spPr>
          <a:xfrm>
            <a:off x="566928" y="1362456"/>
            <a:ext cx="11055096" cy="420624"/>
          </a:xfrm>
          <a:prstGeom prst="roundRect">
            <a:avLst>
              <a:gd name="adj" fmla="val 13043"/>
            </a:avLst>
          </a:prstGeom>
          <a:solidFill>
            <a:srgbClr val="161B22"/>
          </a:solidFill>
          <a:ln w="12700">
            <a:solidFill>
              <a:srgbClr val="30363D"/>
            </a:solidFill>
            <a:prstDash val="solid"/>
          </a:ln>
        </p:spPr>
        <p:txBody>
          <a:bodyPr/>
          <a:p/>
        </p:txBody>
      </p:sp>
      <p:sp>
        <p:nvSpPr>
          <p:cNvPr id="5" name="Text 3"/>
          <p:cNvSpPr/>
          <p:nvPr/>
        </p:nvSpPr>
        <p:spPr>
          <a:xfrm>
            <a:off x="56692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Project Info</a:t>
            </a:r>
            <a:endParaRPr lang="en-US" sz="900" dirty="0"/>
          </a:p>
        </p:txBody>
      </p:sp>
      <p:sp>
        <p:nvSpPr>
          <p:cNvPr id="6" name="Text 4"/>
          <p:cNvSpPr/>
          <p:nvPr/>
        </p:nvSpPr>
        <p:spPr>
          <a:xfrm>
            <a:off x="179527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Scope of Work</a:t>
            </a:r>
            <a:endParaRPr lang="en-US" sz="900" dirty="0"/>
          </a:p>
        </p:txBody>
      </p:sp>
      <p:sp>
        <p:nvSpPr>
          <p:cNvPr id="7" name="Text 5"/>
          <p:cNvSpPr/>
          <p:nvPr/>
        </p:nvSpPr>
        <p:spPr>
          <a:xfrm>
            <a:off x="302361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SOW Breakdown</a:t>
            </a:r>
            <a:endParaRPr lang="en-US" sz="900" dirty="0"/>
          </a:p>
        </p:txBody>
      </p:sp>
      <p:sp>
        <p:nvSpPr>
          <p:cNvPr id="8" name="Text 6"/>
          <p:cNvSpPr/>
          <p:nvPr/>
        </p:nvSpPr>
        <p:spPr>
          <a:xfrm>
            <a:off x="4251960"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Manpower</a:t>
            </a:r>
            <a:endParaRPr lang="en-US" sz="900" dirty="0"/>
          </a:p>
        </p:txBody>
      </p:sp>
      <p:sp>
        <p:nvSpPr>
          <p:cNvPr id="9" name="Text 7"/>
          <p:cNvSpPr/>
          <p:nvPr/>
        </p:nvSpPr>
        <p:spPr>
          <a:xfrm>
            <a:off x="5480304"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Tools</a:t>
            </a:r>
            <a:endParaRPr lang="en-US" sz="900" dirty="0"/>
          </a:p>
        </p:txBody>
      </p:sp>
      <p:sp>
        <p:nvSpPr>
          <p:cNvPr id="10" name="Text 8"/>
          <p:cNvSpPr/>
          <p:nvPr/>
        </p:nvSpPr>
        <p:spPr>
          <a:xfrm>
            <a:off x="6708648"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Materials</a:t>
            </a:r>
            <a:endParaRPr lang="en-US" sz="900" dirty="0"/>
          </a:p>
        </p:txBody>
      </p:sp>
      <p:sp>
        <p:nvSpPr>
          <p:cNvPr id="11" name="Text 9"/>
          <p:cNvSpPr/>
          <p:nvPr/>
        </p:nvSpPr>
        <p:spPr>
          <a:xfrm>
            <a:off x="7936992"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PPE</a:t>
            </a:r>
            <a:endParaRPr lang="en-US" sz="900" dirty="0"/>
          </a:p>
        </p:txBody>
      </p:sp>
      <p:sp>
        <p:nvSpPr>
          <p:cNvPr id="12" name="Text 10"/>
          <p:cNvSpPr/>
          <p:nvPr/>
        </p:nvSpPr>
        <p:spPr>
          <a:xfrm>
            <a:off x="9165336" y="1408176"/>
            <a:ext cx="1228344" cy="329184"/>
          </a:xfrm>
          <a:prstGeom prst="rect">
            <a:avLst/>
          </a:prstGeom>
          <a:noFill/>
          <a:ln/>
        </p:spPr>
        <p:txBody>
          <a:bodyPr wrap="square" lIns="0" tIns="0" rIns="0" bIns="0" rtlCol="0" anchor="ctr"/>
          <a:lstStyle/>
          <a:p>
            <a:pPr algn="ctr" indent="0" marL="0">
              <a:buNone/>
            </a:pPr>
            <a:r>
              <a:rPr lang="en-US" sz="900" dirty="0">
                <a:solidFill>
                  <a:srgbClr val="9AA4AF"/>
                </a:solidFill>
                <a:latin typeface="Calibri" pitchFamily="34" charset="0"/>
                <a:ea typeface="Calibri" pitchFamily="34" charset="-122"/>
                <a:cs typeface="Calibri" pitchFamily="34" charset="-120"/>
              </a:rPr>
              <a:t>Misc.</a:t>
            </a:r>
            <a:endParaRPr lang="en-US" sz="900" dirty="0"/>
          </a:p>
        </p:txBody>
      </p:sp>
      <p:sp>
        <p:nvSpPr>
          <p:cNvPr id="13" name="Shape 11"/>
          <p:cNvSpPr/>
          <p:nvPr/>
        </p:nvSpPr>
        <p:spPr>
          <a:xfrm>
            <a:off x="10421112" y="1408176"/>
            <a:ext cx="1173480" cy="329184"/>
          </a:xfrm>
          <a:prstGeom prst="roundRect">
            <a:avLst>
              <a:gd name="adj" fmla="val 13889"/>
            </a:avLst>
          </a:prstGeom>
          <a:solidFill>
            <a:srgbClr val="F0A429"/>
          </a:solidFill>
          <a:ln w="12700">
            <a:solidFill>
              <a:srgbClr val="F0A429"/>
            </a:solidFill>
            <a:prstDash val="solid"/>
          </a:ln>
        </p:spPr>
        <p:txBody>
          <a:bodyPr/>
          <a:p/>
        </p:txBody>
      </p:sp>
      <p:sp>
        <p:nvSpPr>
          <p:cNvPr id="14" name="Text 12"/>
          <p:cNvSpPr/>
          <p:nvPr/>
        </p:nvSpPr>
        <p:spPr>
          <a:xfrm>
            <a:off x="10393680" y="1408176"/>
            <a:ext cx="1228344" cy="329184"/>
          </a:xfrm>
          <a:prstGeom prst="rect">
            <a:avLst/>
          </a:prstGeom>
          <a:noFill/>
          <a:ln/>
        </p:spPr>
        <p:txBody>
          <a:bodyPr wrap="square" lIns="0" tIns="0" rIns="0" bIns="0" rtlCol="0" anchor="ctr"/>
          <a:lstStyle/>
          <a:p>
            <a:pPr algn="ctr" indent="0" marL="0">
              <a:buNone/>
            </a:pPr>
            <a:r>
              <a:rPr lang="en-US" sz="900" b="1" dirty="0">
                <a:solidFill>
                  <a:srgbClr val="000000"/>
                </a:solidFill>
                <a:latin typeface="Calibri" pitchFamily="34" charset="0"/>
                <a:ea typeface="Calibri" pitchFamily="34" charset="-122"/>
                <a:cs typeface="Calibri" pitchFamily="34" charset="-120"/>
              </a:rPr>
              <a:t>Summary</a:t>
            </a:r>
            <a:endParaRPr lang="en-US" sz="900" dirty="0"/>
          </a:p>
        </p:txBody>
      </p:sp>
      <p:sp>
        <p:nvSpPr>
          <p:cNvPr id="15" name="Text 13"/>
          <p:cNvSpPr/>
          <p:nvPr/>
        </p:nvSpPr>
        <p:spPr>
          <a:xfrm>
            <a:off x="566928" y="2048256"/>
            <a:ext cx="3945699" cy="256032"/>
          </a:xfrm>
          <a:prstGeom prst="rect">
            <a:avLst/>
          </a:prstGeom>
          <a:noFill/>
          <a:ln/>
        </p:spPr>
        <p:txBody>
          <a:bodyPr wrap="square" lIns="0" tIns="0" rIns="0" bIns="0" rtlCol="0" anchor="ctr"/>
          <a:lstStyle/>
          <a:p>
            <a:pPr algn="l" indent="0" marL="0">
              <a:buNone/>
            </a:pPr>
            <a:r>
              <a:rPr lang="en-US" sz="850" b="1" spc="100" kern="0" dirty="0">
                <a:solidFill>
                  <a:srgbClr val="9AA4AF"/>
                </a:solidFill>
                <a:latin typeface="Calibri" pitchFamily="34" charset="0"/>
                <a:ea typeface="Calibri" pitchFamily="34" charset="-122"/>
                <a:cs typeface="Calibri" pitchFamily="34" charset="-120"/>
              </a:rPr>
              <a:t>SECTION</a:t>
            </a:r>
            <a:endParaRPr lang="en-US" sz="850" dirty="0"/>
          </a:p>
        </p:txBody>
      </p:sp>
      <p:sp>
        <p:nvSpPr>
          <p:cNvPr id="16" name="Text 14"/>
          <p:cNvSpPr/>
          <p:nvPr/>
        </p:nvSpPr>
        <p:spPr>
          <a:xfrm>
            <a:off x="4512627" y="2048256"/>
            <a:ext cx="1784959" cy="256032"/>
          </a:xfrm>
          <a:prstGeom prst="rect">
            <a:avLst/>
          </a:prstGeom>
          <a:noFill/>
          <a:ln/>
        </p:spPr>
        <p:txBody>
          <a:bodyPr wrap="square" lIns="0" tIns="0" rIns="0" bIns="0" rtlCol="0" anchor="ctr"/>
          <a:lstStyle/>
          <a:p>
            <a:pPr algn="r" indent="0" marL="0">
              <a:buNone/>
            </a:pPr>
            <a:r>
              <a:rPr lang="en-US" sz="850" b="1" spc="100" kern="0" dirty="0">
                <a:solidFill>
                  <a:srgbClr val="9AA4AF"/>
                </a:solidFill>
                <a:latin typeface="Calibri" pitchFamily="34" charset="0"/>
                <a:ea typeface="Calibri" pitchFamily="34" charset="-122"/>
                <a:cs typeface="Calibri" pitchFamily="34" charset="-120"/>
              </a:rPr>
              <a:t>AMOUNT</a:t>
            </a:r>
            <a:endParaRPr lang="en-US" sz="850" dirty="0"/>
          </a:p>
        </p:txBody>
      </p:sp>
      <p:sp>
        <p:nvSpPr>
          <p:cNvPr id="17" name="Text 15"/>
          <p:cNvSpPr/>
          <p:nvPr/>
        </p:nvSpPr>
        <p:spPr>
          <a:xfrm>
            <a:off x="6297586" y="2048256"/>
            <a:ext cx="1127342" cy="256032"/>
          </a:xfrm>
          <a:prstGeom prst="rect">
            <a:avLst/>
          </a:prstGeom>
          <a:noFill/>
          <a:ln/>
        </p:spPr>
        <p:txBody>
          <a:bodyPr wrap="square" lIns="0" tIns="0" rIns="0" bIns="0" rtlCol="0" anchor="ctr"/>
          <a:lstStyle/>
          <a:p>
            <a:pPr algn="r" indent="0" marL="0">
              <a:buNone/>
            </a:pPr>
            <a:r>
              <a:rPr lang="en-US" sz="850" b="1" spc="100" kern="0" dirty="0">
                <a:solidFill>
                  <a:srgbClr val="9AA4AF"/>
                </a:solidFill>
                <a:latin typeface="Calibri" pitchFamily="34" charset="0"/>
                <a:ea typeface="Calibri" pitchFamily="34" charset="-122"/>
                <a:cs typeface="Calibri" pitchFamily="34" charset="-120"/>
              </a:rPr>
              <a:t>SHARE</a:t>
            </a:r>
            <a:endParaRPr lang="en-US" sz="850" dirty="0"/>
          </a:p>
        </p:txBody>
      </p:sp>
      <p:sp>
        <p:nvSpPr>
          <p:cNvPr id="18" name="Shape 16"/>
          <p:cNvSpPr/>
          <p:nvPr/>
        </p:nvSpPr>
        <p:spPr>
          <a:xfrm>
            <a:off x="566928" y="2322576"/>
            <a:ext cx="6858000" cy="310896"/>
          </a:xfrm>
          <a:prstGeom prst="rect">
            <a:avLst/>
          </a:prstGeom>
          <a:solidFill>
            <a:srgbClr val="1C2128"/>
          </a:solidFill>
          <a:ln w="6350">
            <a:solidFill>
              <a:srgbClr val="30363D"/>
            </a:solidFill>
            <a:prstDash val="solid"/>
          </a:ln>
        </p:spPr>
        <p:txBody>
          <a:bodyPr/>
          <a:p/>
        </p:txBody>
      </p:sp>
      <p:sp>
        <p:nvSpPr>
          <p:cNvPr id="19" name="Text 17"/>
          <p:cNvSpPr/>
          <p:nvPr/>
        </p:nvSpPr>
        <p:spPr>
          <a:xfrm>
            <a:off x="621792" y="2322576"/>
            <a:ext cx="3835971" cy="310896"/>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Manpower</a:t>
            </a:r>
            <a:endParaRPr lang="en-US" sz="1050" dirty="0"/>
          </a:p>
        </p:txBody>
      </p:sp>
      <p:sp>
        <p:nvSpPr>
          <p:cNvPr id="20" name="Text 18"/>
          <p:cNvSpPr/>
          <p:nvPr/>
        </p:nvSpPr>
        <p:spPr>
          <a:xfrm>
            <a:off x="4567491" y="2322576"/>
            <a:ext cx="1675231" cy="310896"/>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₱38,217.00</a:t>
            </a:r>
            <a:endParaRPr lang="en-US" sz="1050" dirty="0"/>
          </a:p>
        </p:txBody>
      </p:sp>
      <p:sp>
        <p:nvSpPr>
          <p:cNvPr id="21" name="Text 19"/>
          <p:cNvSpPr/>
          <p:nvPr/>
        </p:nvSpPr>
        <p:spPr>
          <a:xfrm>
            <a:off x="6352450" y="2322576"/>
            <a:ext cx="1017614" cy="310896"/>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72.6%</a:t>
            </a:r>
            <a:endParaRPr lang="en-US" sz="1050" dirty="0"/>
          </a:p>
        </p:txBody>
      </p:sp>
      <p:sp>
        <p:nvSpPr>
          <p:cNvPr id="22" name="Shape 20"/>
          <p:cNvSpPr/>
          <p:nvPr/>
        </p:nvSpPr>
        <p:spPr>
          <a:xfrm>
            <a:off x="566928" y="2633472"/>
            <a:ext cx="6858000" cy="310896"/>
          </a:xfrm>
          <a:prstGeom prst="rect">
            <a:avLst/>
          </a:prstGeom>
          <a:solidFill>
            <a:srgbClr val="161B22"/>
          </a:solidFill>
          <a:ln w="6350">
            <a:solidFill>
              <a:srgbClr val="30363D"/>
            </a:solidFill>
            <a:prstDash val="solid"/>
          </a:ln>
        </p:spPr>
        <p:txBody>
          <a:bodyPr/>
          <a:p/>
        </p:txBody>
      </p:sp>
      <p:sp>
        <p:nvSpPr>
          <p:cNvPr id="23" name="Text 21"/>
          <p:cNvSpPr/>
          <p:nvPr/>
        </p:nvSpPr>
        <p:spPr>
          <a:xfrm>
            <a:off x="621792" y="2633472"/>
            <a:ext cx="3835971" cy="310896"/>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Tools &amp; Equipment</a:t>
            </a:r>
            <a:endParaRPr lang="en-US" sz="1050" dirty="0"/>
          </a:p>
        </p:txBody>
      </p:sp>
      <p:sp>
        <p:nvSpPr>
          <p:cNvPr id="24" name="Text 22"/>
          <p:cNvSpPr/>
          <p:nvPr/>
        </p:nvSpPr>
        <p:spPr>
          <a:xfrm>
            <a:off x="4567491" y="2633472"/>
            <a:ext cx="1675231" cy="310896"/>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₱8,400.00</a:t>
            </a:r>
            <a:endParaRPr lang="en-US" sz="1050" dirty="0"/>
          </a:p>
        </p:txBody>
      </p:sp>
      <p:sp>
        <p:nvSpPr>
          <p:cNvPr id="25" name="Text 23"/>
          <p:cNvSpPr/>
          <p:nvPr/>
        </p:nvSpPr>
        <p:spPr>
          <a:xfrm>
            <a:off x="6352450" y="2633472"/>
            <a:ext cx="1017614" cy="310896"/>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16.0%</a:t>
            </a:r>
            <a:endParaRPr lang="en-US" sz="1050" dirty="0"/>
          </a:p>
        </p:txBody>
      </p:sp>
      <p:sp>
        <p:nvSpPr>
          <p:cNvPr id="26" name="Shape 24"/>
          <p:cNvSpPr/>
          <p:nvPr/>
        </p:nvSpPr>
        <p:spPr>
          <a:xfrm>
            <a:off x="566928" y="2944368"/>
            <a:ext cx="6858000" cy="310896"/>
          </a:xfrm>
          <a:prstGeom prst="rect">
            <a:avLst/>
          </a:prstGeom>
          <a:solidFill>
            <a:srgbClr val="1C2128"/>
          </a:solidFill>
          <a:ln w="6350">
            <a:solidFill>
              <a:srgbClr val="30363D"/>
            </a:solidFill>
            <a:prstDash val="solid"/>
          </a:ln>
        </p:spPr>
        <p:txBody>
          <a:bodyPr/>
          <a:p/>
        </p:txBody>
      </p:sp>
      <p:sp>
        <p:nvSpPr>
          <p:cNvPr id="27" name="Text 25"/>
          <p:cNvSpPr/>
          <p:nvPr/>
        </p:nvSpPr>
        <p:spPr>
          <a:xfrm>
            <a:off x="621792" y="2944368"/>
            <a:ext cx="3835971" cy="310896"/>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Materials · PPE · Misc.</a:t>
            </a:r>
            <a:endParaRPr lang="en-US" sz="1050" dirty="0"/>
          </a:p>
        </p:txBody>
      </p:sp>
      <p:sp>
        <p:nvSpPr>
          <p:cNvPr id="28" name="Text 26"/>
          <p:cNvSpPr/>
          <p:nvPr/>
        </p:nvSpPr>
        <p:spPr>
          <a:xfrm>
            <a:off x="4567491" y="2944368"/>
            <a:ext cx="1675231" cy="310896"/>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₱6,000.00</a:t>
            </a:r>
            <a:endParaRPr lang="en-US" sz="1050" dirty="0"/>
          </a:p>
        </p:txBody>
      </p:sp>
      <p:sp>
        <p:nvSpPr>
          <p:cNvPr id="29" name="Text 27"/>
          <p:cNvSpPr/>
          <p:nvPr/>
        </p:nvSpPr>
        <p:spPr>
          <a:xfrm>
            <a:off x="6352450" y="2944368"/>
            <a:ext cx="1017614" cy="310896"/>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11.4%</a:t>
            </a:r>
            <a:endParaRPr lang="en-US" sz="1050" dirty="0"/>
          </a:p>
        </p:txBody>
      </p:sp>
      <p:sp>
        <p:nvSpPr>
          <p:cNvPr id="30" name="Shape 28"/>
          <p:cNvSpPr/>
          <p:nvPr/>
        </p:nvSpPr>
        <p:spPr>
          <a:xfrm>
            <a:off x="566928" y="3255264"/>
            <a:ext cx="6858000" cy="310896"/>
          </a:xfrm>
          <a:prstGeom prst="rect">
            <a:avLst/>
          </a:prstGeom>
          <a:solidFill>
            <a:srgbClr val="161B22"/>
          </a:solidFill>
          <a:ln w="6350">
            <a:solidFill>
              <a:srgbClr val="30363D"/>
            </a:solidFill>
            <a:prstDash val="solid"/>
          </a:ln>
        </p:spPr>
        <p:txBody>
          <a:bodyPr/>
          <a:p/>
        </p:txBody>
      </p:sp>
      <p:sp>
        <p:nvSpPr>
          <p:cNvPr id="31" name="Text 29"/>
          <p:cNvSpPr/>
          <p:nvPr/>
        </p:nvSpPr>
        <p:spPr>
          <a:xfrm>
            <a:off x="621792" y="3255264"/>
            <a:ext cx="3835971" cy="310896"/>
          </a:xfrm>
          <a:prstGeom prst="rect">
            <a:avLst/>
          </a:prstGeom>
          <a:noFill/>
          <a:ln/>
        </p:spPr>
        <p:txBody>
          <a:bodyPr wrap="square" lIns="0" tIns="0" rIns="0" bIns="0" rtlCol="0" anchor="ctr"/>
          <a:lstStyle/>
          <a:p>
            <a:pPr algn="l" indent="0" marL="0">
              <a:buNone/>
            </a:pPr>
            <a:r>
              <a:rPr lang="en-US" sz="1050" b="1" dirty="0">
                <a:solidFill>
                  <a:srgbClr val="E6EDF3"/>
                </a:solidFill>
                <a:latin typeface="Calibri" pitchFamily="34" charset="0"/>
                <a:ea typeface="Calibri" pitchFamily="34" charset="-122"/>
                <a:cs typeface="Calibri" pitchFamily="34" charset="-120"/>
              </a:rPr>
              <a:t>TOTAL AMOUNT</a:t>
            </a:r>
            <a:endParaRPr lang="en-US" sz="1050" dirty="0"/>
          </a:p>
        </p:txBody>
      </p:sp>
      <p:sp>
        <p:nvSpPr>
          <p:cNvPr id="32" name="Text 30"/>
          <p:cNvSpPr/>
          <p:nvPr/>
        </p:nvSpPr>
        <p:spPr>
          <a:xfrm>
            <a:off x="4567491" y="3255264"/>
            <a:ext cx="1675231" cy="310896"/>
          </a:xfrm>
          <a:prstGeom prst="rect">
            <a:avLst/>
          </a:prstGeom>
          <a:noFill/>
          <a:ln/>
        </p:spPr>
        <p:txBody>
          <a:bodyPr wrap="square" lIns="0" tIns="0" rIns="0" bIns="0" rtlCol="0" anchor="ctr"/>
          <a:lstStyle/>
          <a:p>
            <a:pPr algn="r" indent="0" marL="0">
              <a:buNone/>
            </a:pPr>
            <a:r>
              <a:rPr lang="en-US" sz="1050" b="1" dirty="0">
                <a:solidFill>
                  <a:srgbClr val="E6EDF3"/>
                </a:solidFill>
                <a:latin typeface="Calibri" pitchFamily="34" charset="0"/>
                <a:ea typeface="Calibri" pitchFamily="34" charset="-122"/>
                <a:cs typeface="Calibri" pitchFamily="34" charset="-120"/>
              </a:rPr>
              <a:t>₱52,617.00</a:t>
            </a:r>
            <a:endParaRPr lang="en-US" sz="1050" dirty="0"/>
          </a:p>
        </p:txBody>
      </p:sp>
      <p:sp>
        <p:nvSpPr>
          <p:cNvPr id="33" name="Text 31"/>
          <p:cNvSpPr/>
          <p:nvPr/>
        </p:nvSpPr>
        <p:spPr>
          <a:xfrm>
            <a:off x="6352450" y="3255264"/>
            <a:ext cx="1017614" cy="310896"/>
          </a:xfrm>
          <a:prstGeom prst="rect">
            <a:avLst/>
          </a:prstGeom>
          <a:noFill/>
          <a:ln/>
        </p:spPr>
        <p:txBody>
          <a:bodyPr wrap="square" lIns="0" tIns="0" rIns="0" bIns="0" rtlCol="0" anchor="ctr"/>
          <a:lstStyle/>
          <a:p>
            <a:pPr algn="r" indent="0" marL="0">
              <a:buNone/>
            </a:pPr>
            <a:r>
              <a:rPr lang="en-US" sz="1050" b="1" dirty="0">
                <a:solidFill>
                  <a:srgbClr val="E6EDF3"/>
                </a:solidFill>
                <a:latin typeface="Calibri" pitchFamily="34" charset="0"/>
                <a:ea typeface="Calibri" pitchFamily="34" charset="-122"/>
                <a:cs typeface="Calibri" pitchFamily="34" charset="-120"/>
              </a:rPr>
              <a:t>100%</a:t>
            </a:r>
            <a:endParaRPr lang="en-US" sz="1050" dirty="0"/>
          </a:p>
        </p:txBody>
      </p:sp>
      <p:sp>
        <p:nvSpPr>
          <p:cNvPr id="34" name="Shape 32"/>
          <p:cNvSpPr/>
          <p:nvPr/>
        </p:nvSpPr>
        <p:spPr>
          <a:xfrm>
            <a:off x="566928" y="3566160"/>
            <a:ext cx="6858000" cy="310896"/>
          </a:xfrm>
          <a:prstGeom prst="rect">
            <a:avLst/>
          </a:prstGeom>
          <a:solidFill>
            <a:srgbClr val="1C2128"/>
          </a:solidFill>
          <a:ln w="6350">
            <a:solidFill>
              <a:srgbClr val="30363D"/>
            </a:solidFill>
            <a:prstDash val="solid"/>
          </a:ln>
        </p:spPr>
        <p:txBody>
          <a:bodyPr/>
          <a:p/>
        </p:txBody>
      </p:sp>
      <p:sp>
        <p:nvSpPr>
          <p:cNvPr id="35" name="Text 33"/>
          <p:cNvSpPr/>
          <p:nvPr/>
        </p:nvSpPr>
        <p:spPr>
          <a:xfrm>
            <a:off x="621792" y="3566160"/>
            <a:ext cx="3835971" cy="310896"/>
          </a:xfrm>
          <a:prstGeom prst="rect">
            <a:avLst/>
          </a:prstGeom>
          <a:noFill/>
          <a:ln/>
        </p:spPr>
        <p:txBody>
          <a:bodyPr wrap="square" lIns="0" tIns="0" rIns="0" bIns="0" rtlCol="0" anchor="ctr"/>
          <a:lstStyle/>
          <a:p>
            <a:pPr algn="l" indent="0" marL="0">
              <a:buNone/>
            </a:pPr>
            <a:r>
              <a:rPr lang="en-US" sz="1050" b="1" dirty="0">
                <a:solidFill>
                  <a:srgbClr val="3FB950"/>
                </a:solidFill>
                <a:latin typeface="Calibri" pitchFamily="34" charset="0"/>
                <a:ea typeface="Calibri" pitchFamily="34" charset="-122"/>
                <a:cs typeface="Calibri" pitchFamily="34" charset="-120"/>
              </a:rPr>
              <a:t>SELLING PRICE  (+15% margin)</a:t>
            </a:r>
            <a:endParaRPr lang="en-US" sz="1050" dirty="0"/>
          </a:p>
        </p:txBody>
      </p:sp>
      <p:sp>
        <p:nvSpPr>
          <p:cNvPr id="36" name="Text 34"/>
          <p:cNvSpPr/>
          <p:nvPr/>
        </p:nvSpPr>
        <p:spPr>
          <a:xfrm>
            <a:off x="4567491" y="3566160"/>
            <a:ext cx="1675231" cy="310896"/>
          </a:xfrm>
          <a:prstGeom prst="rect">
            <a:avLst/>
          </a:prstGeom>
          <a:noFill/>
          <a:ln/>
        </p:spPr>
        <p:txBody>
          <a:bodyPr wrap="square" lIns="0" tIns="0" rIns="0" bIns="0" rtlCol="0" anchor="ctr"/>
          <a:lstStyle/>
          <a:p>
            <a:pPr algn="r" indent="0" marL="0">
              <a:buNone/>
            </a:pPr>
            <a:r>
              <a:rPr lang="en-US" sz="1050" b="1" dirty="0">
                <a:solidFill>
                  <a:srgbClr val="3FB950"/>
                </a:solidFill>
                <a:latin typeface="Calibri" pitchFamily="34" charset="0"/>
                <a:ea typeface="Calibri" pitchFamily="34" charset="-122"/>
                <a:cs typeface="Calibri" pitchFamily="34" charset="-120"/>
              </a:rPr>
              <a:t>₱60,509.55</a:t>
            </a:r>
            <a:endParaRPr lang="en-US" sz="1050" dirty="0"/>
          </a:p>
        </p:txBody>
      </p:sp>
      <p:sp>
        <p:nvSpPr>
          <p:cNvPr id="37" name="Text 35"/>
          <p:cNvSpPr/>
          <p:nvPr/>
        </p:nvSpPr>
        <p:spPr>
          <a:xfrm>
            <a:off x="6352450" y="3566160"/>
            <a:ext cx="1017614" cy="310896"/>
          </a:xfrm>
          <a:prstGeom prst="rect">
            <a:avLst/>
          </a:prstGeom>
          <a:noFill/>
          <a:ln/>
        </p:spPr>
        <p:txBody>
          <a:bodyPr wrap="square" lIns="0" tIns="0" rIns="0" bIns="0" rtlCol="0" anchor="ctr"/>
          <a:lstStyle/>
          <a:p>
            <a:pPr algn="r" indent="0" marL="0">
              <a:buNone/>
            </a:pPr>
            <a:endParaRPr lang="en-US" sz="1050" dirty="0"/>
          </a:p>
        </p:txBody>
      </p:sp>
      <p:sp>
        <p:nvSpPr>
          <p:cNvPr id="38" name="Shape 36"/>
          <p:cNvSpPr/>
          <p:nvPr/>
        </p:nvSpPr>
        <p:spPr>
          <a:xfrm>
            <a:off x="7635240" y="2048256"/>
            <a:ext cx="3977640" cy="1243584"/>
          </a:xfrm>
          <a:prstGeom prst="roundRect">
            <a:avLst>
              <a:gd name="adj" fmla="val 588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9" name="Text 37"/>
          <p:cNvSpPr/>
          <p:nvPr/>
        </p:nvSpPr>
        <p:spPr>
          <a:xfrm>
            <a:off x="7863840" y="2176272"/>
            <a:ext cx="3566160" cy="274320"/>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Margin %</a:t>
            </a:r>
            <a:endParaRPr lang="en-US" sz="1350" dirty="0"/>
          </a:p>
        </p:txBody>
      </p:sp>
      <p:sp>
        <p:nvSpPr>
          <p:cNvPr id="40" name="Text 38"/>
          <p:cNvSpPr/>
          <p:nvPr/>
        </p:nvSpPr>
        <p:spPr>
          <a:xfrm>
            <a:off x="7863840" y="2487168"/>
            <a:ext cx="3566160" cy="73152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Sets the selling price. Leave it at 0 and the CE prints at cost — Check CE will warn you.</a:t>
            </a:r>
            <a:endParaRPr lang="en-US" sz="1100" dirty="0"/>
          </a:p>
        </p:txBody>
      </p:sp>
      <p:sp>
        <p:nvSpPr>
          <p:cNvPr id="41" name="Shape 39"/>
          <p:cNvSpPr/>
          <p:nvPr/>
        </p:nvSpPr>
        <p:spPr>
          <a:xfrm>
            <a:off x="7635240" y="3419856"/>
            <a:ext cx="3977640" cy="1243584"/>
          </a:xfrm>
          <a:prstGeom prst="roundRect">
            <a:avLst>
              <a:gd name="adj" fmla="val 588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2" name="Text 40"/>
          <p:cNvSpPr/>
          <p:nvPr/>
        </p:nvSpPr>
        <p:spPr>
          <a:xfrm>
            <a:off x="7863840" y="3547872"/>
            <a:ext cx="3566160" cy="274320"/>
          </a:xfrm>
          <a:prstGeom prst="rect">
            <a:avLst/>
          </a:prstGeom>
          <a:noFill/>
          <a:ln/>
        </p:spPr>
        <p:txBody>
          <a:bodyPr wrap="square" lIns="0" tIns="0" rIns="0" bIns="0" rtlCol="0" anchor="ctr"/>
          <a:lstStyle/>
          <a:p>
            <a:pPr indent="0" marL="0">
              <a:buNone/>
            </a:pPr>
            <a:r>
              <a:rPr lang="en-US" sz="1350" b="1" dirty="0">
                <a:solidFill>
                  <a:srgbClr val="58A6FF"/>
                </a:solidFill>
                <a:latin typeface="Arial" pitchFamily="34" charset="0"/>
                <a:ea typeface="Arial" pitchFamily="34" charset="-122"/>
                <a:cs typeface="Arial" pitchFamily="34" charset="-120"/>
              </a:rPr>
              <a:t>Notes / Remarks</a:t>
            </a:r>
            <a:endParaRPr lang="en-US" sz="1350" dirty="0"/>
          </a:p>
        </p:txBody>
      </p:sp>
      <p:sp>
        <p:nvSpPr>
          <p:cNvPr id="43" name="Text 41"/>
          <p:cNvSpPr/>
          <p:nvPr/>
        </p:nvSpPr>
        <p:spPr>
          <a:xfrm>
            <a:off x="7863840" y="3858768"/>
            <a:ext cx="3566160" cy="73152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Assumptions, exclusions, validity. Printed as a numbered NOTE list. Breakdown notes from SOW Breakdown join them automatically.</a:t>
            </a:r>
            <a:endParaRPr lang="en-US" sz="1100" dirty="0"/>
          </a:p>
        </p:txBody>
      </p:sp>
      <p:sp>
        <p:nvSpPr>
          <p:cNvPr id="44" name="Shape 42"/>
          <p:cNvSpPr/>
          <p:nvPr/>
        </p:nvSpPr>
        <p:spPr>
          <a:xfrm>
            <a:off x="7635240" y="4791456"/>
            <a:ext cx="3977640" cy="1243584"/>
          </a:xfrm>
          <a:prstGeom prst="roundRect">
            <a:avLst>
              <a:gd name="adj" fmla="val 588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5" name="Text 43"/>
          <p:cNvSpPr/>
          <p:nvPr/>
        </p:nvSpPr>
        <p:spPr>
          <a:xfrm>
            <a:off x="7863840" y="4919472"/>
            <a:ext cx="3566160" cy="274320"/>
          </a:xfrm>
          <a:prstGeom prst="rect">
            <a:avLst/>
          </a:prstGeom>
          <a:noFill/>
          <a:ln/>
        </p:spPr>
        <p:txBody>
          <a:bodyPr wrap="square" lIns="0" tIns="0" rIns="0" bIns="0" rtlCol="0" anchor="ctr"/>
          <a:lstStyle/>
          <a:p>
            <a:pPr indent="0" marL="0">
              <a:buNone/>
            </a:pPr>
            <a:r>
              <a:rPr lang="en-US" sz="1350" b="1" dirty="0">
                <a:solidFill>
                  <a:srgbClr val="A78BFA"/>
                </a:solidFill>
                <a:latin typeface="Arial" pitchFamily="34" charset="0"/>
                <a:ea typeface="Arial" pitchFamily="34" charset="-122"/>
                <a:cs typeface="Arial" pitchFamily="34" charset="-120"/>
              </a:rPr>
              <a:t>Signatories</a:t>
            </a:r>
            <a:endParaRPr lang="en-US" sz="1350" dirty="0"/>
          </a:p>
        </p:txBody>
      </p:sp>
      <p:sp>
        <p:nvSpPr>
          <p:cNvPr id="46" name="Text 44"/>
          <p:cNvSpPr/>
          <p:nvPr/>
        </p:nvSpPr>
        <p:spPr>
          <a:xfrm>
            <a:off x="7863840" y="5230368"/>
            <a:ext cx="3566160" cy="73152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Filled from the CE Defaults preset. Link a line to a user and give it a Step to route it for approval in the app (see Approvals). Unlinked lines are signed by hand as before.</a:t>
            </a:r>
            <a:endParaRPr lang="en-US" sz="1100" dirty="0"/>
          </a:p>
        </p:txBody>
      </p:sp>
      <p:sp>
        <p:nvSpPr>
          <p:cNvPr id="47" name="Text 45"/>
          <p:cNvSpPr/>
          <p:nvPr/>
        </p:nvSpPr>
        <p:spPr>
          <a:xfrm>
            <a:off x="566928" y="4059936"/>
            <a:ext cx="6858000" cy="292608"/>
          </a:xfrm>
          <a:prstGeom prst="rect">
            <a:avLst/>
          </a:prstGeom>
          <a:noFill/>
          <a:ln/>
        </p:spPr>
        <p:txBody>
          <a:bodyPr wrap="square" lIns="0" tIns="0" rIns="0" bIns="0" rtlCol="0" anchor="ctr"/>
          <a:lstStyle/>
          <a:p>
            <a:pPr indent="0" marL="0">
              <a:buNone/>
            </a:pPr>
            <a:r>
              <a:rPr lang="en-US" sz="1150" dirty="0">
                <a:solidFill>
                  <a:srgbClr val="9AA4AF"/>
                </a:solidFill>
                <a:latin typeface="Calibri" pitchFamily="34" charset="0"/>
                <a:ea typeface="Calibri" pitchFamily="34" charset="-122"/>
                <a:cs typeface="Calibri" pitchFamily="34" charset="-120"/>
              </a:rPr>
              <a:t>Unit price = (total − costs charged once per job, e.g. transport) ÷ Quantity. The once-per-job total shows under it.</a:t>
            </a:r>
            <a:endParaRPr lang="en-US" sz="1150" dirty="0"/>
          </a:p>
        </p:txBody>
      </p:sp>
      <p:sp>
        <p:nvSpPr>
          <p:cNvPr id="48" name="Shape 46"/>
          <p:cNvSpPr/>
          <p:nvPr/>
        </p:nvSpPr>
        <p:spPr>
          <a:xfrm>
            <a:off x="566928" y="4443984"/>
            <a:ext cx="6858000" cy="1591056"/>
          </a:xfrm>
          <a:prstGeom prst="roundRect">
            <a:avLst>
              <a:gd name="adj" fmla="val 4598"/>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9" name="Text 47"/>
          <p:cNvSpPr/>
          <p:nvPr/>
        </p:nvSpPr>
        <p:spPr>
          <a:xfrm>
            <a:off x="822960" y="4608576"/>
            <a:ext cx="630936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Also on this tab</a:t>
            </a:r>
            <a:endParaRPr lang="en-US" sz="1400" dirty="0"/>
          </a:p>
        </p:txBody>
      </p:sp>
      <p:sp>
        <p:nvSpPr>
          <p:cNvPr id="50" name="Text 48"/>
          <p:cNvSpPr/>
          <p:nvPr/>
        </p:nvSpPr>
        <p:spPr>
          <a:xfrm>
            <a:off x="822960" y="4919472"/>
            <a:ext cx="6309360" cy="1005840"/>
          </a:xfrm>
          <a:prstGeom prst="rect">
            <a:avLst/>
          </a:prstGeom>
          <a:noFill/>
          <a:ln/>
        </p:spPr>
        <p:txBody>
          <a:bodyPr wrap="square" lIns="0" tIns="0" rIns="0" bIns="0" rtlCol="0" anchor="t"/>
          <a:lstStyle/>
          <a:p>
            <a:pPr marL="342900" indent="-342900">
              <a:lnSpc>
                <a:spcPts val="1450"/>
              </a:lnSpc>
              <a:spcAft>
                <a:spcPts val="400"/>
              </a:spcAft>
              <a:buSzPct val="100000"/>
              <a:buChar char="●"/>
            </a:pPr>
            <a:r>
              <a:rPr lang="en-US" sz="1150" dirty="0">
                <a:solidFill>
                  <a:srgbClr val="9AA4AF"/>
                </a:solidFill>
                <a:latin typeface="Calibri" pitchFamily="34" charset="0"/>
                <a:ea typeface="Calibri" pitchFamily="34" charset="-122"/>
                <a:cs typeface="Calibri" pitchFamily="34" charset="-120"/>
              </a:rPr>
              <a:t>Highlighted costs — show one line, or several added up, separately on the printed CE</a:t>
            </a:r>
            <a:endParaRPr lang="en-US" sz="1150" dirty="0"/>
          </a:p>
          <a:p>
            <a:pPr marL="342900" indent="-342900">
              <a:lnSpc>
                <a:spcPts val="1450"/>
              </a:lnSpc>
              <a:spcAft>
                <a:spcPts val="400"/>
              </a:spcAft>
              <a:buSzPct val="100000"/>
              <a:buChar char="●"/>
            </a:pPr>
            <a:r>
              <a:rPr lang="en-US" sz="1150" dirty="0">
                <a:solidFill>
                  <a:srgbClr val="9AA4AF"/>
                </a:solidFill>
                <a:latin typeface="Calibri" pitchFamily="34" charset="0"/>
                <a:ea typeface="Calibri" pitchFamily="34" charset="-122"/>
                <a:cs typeface="Calibri" pitchFamily="34" charset="-120"/>
              </a:rPr>
              <a:t>Services summary — restate the total by service (next slide)</a:t>
            </a:r>
            <a:endParaRPr lang="en-US" sz="1150" dirty="0"/>
          </a:p>
          <a:p>
            <a:pPr marL="342900" indent="-342900">
              <a:lnSpc>
                <a:spcPts val="1450"/>
              </a:lnSpc>
              <a:spcAft>
                <a:spcPts val="400"/>
              </a:spcAft>
              <a:buSzPct val="100000"/>
              <a:buChar char="●"/>
            </a:pPr>
            <a:r>
              <a:rPr lang="en-US" sz="1150" dirty="0">
                <a:solidFill>
                  <a:srgbClr val="9AA4AF"/>
                </a:solidFill>
                <a:latin typeface="Calibri" pitchFamily="34" charset="0"/>
                <a:ea typeface="Calibri" pitchFamily="34" charset="-122"/>
                <a:cs typeface="Calibri" pitchFamily="34" charset="-120"/>
              </a:rPr>
              <a:t>↺ Sync Rates — re-price the whole CE from the Masterlist before requoting</a:t>
            </a:r>
            <a:endParaRPr lang="en-US" sz="1150" dirty="0"/>
          </a:p>
          <a:p>
            <a:pPr marL="342900" indent="-342900">
              <a:lnSpc>
                <a:spcPts val="1450"/>
              </a:lnSpc>
              <a:spcAft>
                <a:spcPts val="400"/>
              </a:spcAft>
              <a:buSzPct val="100000"/>
              <a:buChar char="●"/>
            </a:pPr>
            <a:r>
              <a:rPr lang="en-US" sz="1150" dirty="0">
                <a:solidFill>
                  <a:srgbClr val="9AA4AF"/>
                </a:solidFill>
                <a:latin typeface="Calibri" pitchFamily="34" charset="0"/>
                <a:ea typeface="Calibri" pitchFamily="34" charset="-122"/>
                <a:cs typeface="Calibri" pitchFamily="34" charset="-120"/>
              </a:rPr>
              <a:t>Internal Verification Notes — your own note against each cost group; typed, never generated</a:t>
            </a:r>
            <a:endParaRPr lang="en-US" sz="1150" dirty="0"/>
          </a:p>
        </p:txBody>
      </p:sp>
      <p:sp>
        <p:nvSpPr>
          <p:cNvPr id="51" name="Text 4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52" name="Text 5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7 · SERVICES SUMMARY</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Restate the total by service</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For clients who want SAND BLASTING WORKS, WELDING WORKS… listed under the cost total. Off unless you turn it on.</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Setting it up</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 the Summary tab, tick Services summary on this CE. The card previews exactly what will print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 SOW Breakdown, type a Service group on each main scope item — e.g. WELDING WORKS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Items with the same group print as one line; sub-items go with their main item</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Only resources filed against a scope item count toward its group</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What prints</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SERVICES block under the total: one line per group, then Other misc. to the project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Other misc. is everything no group carries — mob/demob, unlinked rows, items with no group</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So the services total always equals the total amount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If the services add up to more, a cost is counted twice: the card turns red and the block does not print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Both Excel exports carry the same block</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8 · QUALITY GATE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Check CE before you save</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 panel on the right of the Summary tab lists everything worth a second look. Click Go → on any line to jump straight to it.</a:t>
            </a:r>
            <a:endParaRPr lang="en-US" sz="1400" dirty="0"/>
          </a:p>
        </p:txBody>
      </p:sp>
      <p:sp>
        <p:nvSpPr>
          <p:cNvPr id="5" name="Shape 3"/>
          <p:cNvSpPr/>
          <p:nvPr/>
        </p:nvSpPr>
        <p:spPr>
          <a:xfrm>
            <a:off x="566928" y="1911096"/>
            <a:ext cx="5532120" cy="2148840"/>
          </a:xfrm>
          <a:prstGeom prst="roundRect">
            <a:avLst>
              <a:gd name="adj" fmla="val 3404"/>
            </a:avLst>
          </a:prstGeom>
          <a:solidFill>
            <a:srgbClr val="2A1616"/>
          </a:solidFill>
          <a:ln w="12700">
            <a:solidFill>
              <a:srgbClr val="5C2020"/>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093976"/>
            <a:ext cx="2743200" cy="292608"/>
          </a:xfrm>
          <a:prstGeom prst="rect">
            <a:avLst/>
          </a:prstGeom>
          <a:noFill/>
          <a:ln/>
        </p:spPr>
        <p:txBody>
          <a:bodyPr wrap="square" lIns="0" tIns="0" rIns="0" bIns="0" rtlCol="0" anchor="ctr"/>
          <a:lstStyle/>
          <a:p>
            <a:pPr indent="0" marL="0">
              <a:buNone/>
            </a:pPr>
            <a:r>
              <a:rPr lang="en-US" sz="1500" b="1" dirty="0">
                <a:solidFill>
                  <a:srgbClr val="F85149"/>
                </a:solidFill>
                <a:latin typeface="Arial" pitchFamily="34" charset="0"/>
                <a:ea typeface="Arial" pitchFamily="34" charset="-122"/>
                <a:cs typeface="Arial" pitchFamily="34" charset="-120"/>
              </a:rPr>
              <a:t>To fix</a:t>
            </a:r>
            <a:endParaRPr lang="en-US" sz="1500" dirty="0"/>
          </a:p>
        </p:txBody>
      </p:sp>
      <p:sp>
        <p:nvSpPr>
          <p:cNvPr id="7" name="Text 5"/>
          <p:cNvSpPr/>
          <p:nvPr/>
        </p:nvSpPr>
        <p:spPr>
          <a:xfrm>
            <a:off x="841248" y="2487168"/>
            <a:ext cx="5029200" cy="14630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Grand total is ₱0.00</a:t>
            </a:r>
            <a:endParaRPr lang="en-US" sz="1200" dirty="0"/>
          </a:p>
          <a:p>
            <a:pPr marL="342900" indent="-342900">
              <a:lnSpc>
                <a:spcPts val="1600"/>
              </a:lnSpc>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A line item priced at ₱0.00</a:t>
            </a:r>
            <a:endParaRPr lang="en-US" sz="1200" dirty="0"/>
          </a:p>
          <a:p>
            <a:pPr marL="342900" indent="-342900">
              <a:lnSpc>
                <a:spcPts val="1600"/>
              </a:lnSpc>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No client name or project description</a:t>
            </a:r>
            <a:endParaRPr lang="en-US" sz="1200" dirty="0"/>
          </a:p>
          <a:p>
            <a:pPr marL="342900" indent="-342900">
              <a:lnSpc>
                <a:spcPts val="1600"/>
              </a:lnSpc>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A highlighted cost pointing at something deleted</a:t>
            </a:r>
            <a:endParaRPr lang="en-US" sz="1200" dirty="0"/>
          </a:p>
        </p:txBody>
      </p:sp>
      <p:sp>
        <p:nvSpPr>
          <p:cNvPr id="8" name="Shape 6"/>
          <p:cNvSpPr/>
          <p:nvPr/>
        </p:nvSpPr>
        <p:spPr>
          <a:xfrm>
            <a:off x="6400800" y="1911096"/>
            <a:ext cx="5221224" cy="2148840"/>
          </a:xfrm>
          <a:prstGeom prst="roundRect">
            <a:avLst>
              <a:gd name="adj" fmla="val 3404"/>
            </a:avLst>
          </a:prstGeom>
          <a:solidFill>
            <a:srgbClr val="2A1F0B"/>
          </a:solidFill>
          <a:ln w="12700">
            <a:solidFill>
              <a:srgbClr val="5C4813"/>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093976"/>
            <a:ext cx="2743200" cy="292608"/>
          </a:xfrm>
          <a:prstGeom prst="rect">
            <a:avLst/>
          </a:prstGeom>
          <a:noFill/>
          <a:ln/>
        </p:spPr>
        <p:txBody>
          <a:bodyPr wrap="square" lIns="0" tIns="0" rIns="0" bIns="0" rtlCol="0" anchor="ctr"/>
          <a:lstStyle/>
          <a:p>
            <a:pPr indent="0" marL="0">
              <a:buNone/>
            </a:pPr>
            <a:r>
              <a:rPr lang="en-US" sz="1500" b="1" dirty="0">
                <a:solidFill>
                  <a:srgbClr val="F0A429"/>
                </a:solidFill>
                <a:latin typeface="Arial" pitchFamily="34" charset="0"/>
                <a:ea typeface="Arial" pitchFamily="34" charset="-122"/>
                <a:cs typeface="Arial" pitchFamily="34" charset="-120"/>
              </a:rPr>
              <a:t>To review</a:t>
            </a:r>
            <a:endParaRPr lang="en-US" sz="1500" dirty="0"/>
          </a:p>
        </p:txBody>
      </p:sp>
      <p:sp>
        <p:nvSpPr>
          <p:cNvPr id="10" name="Text 8"/>
          <p:cNvSpPr/>
          <p:nvPr/>
        </p:nvSpPr>
        <p:spPr>
          <a:xfrm>
            <a:off x="6675120" y="2487168"/>
            <a:ext cx="4709160" cy="1463040"/>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Margin is 0% — selling price equals cost</a:t>
            </a:r>
            <a:endParaRPr lang="en-US" sz="1200" dirty="0"/>
          </a:p>
          <a:p>
            <a:pPr marL="342900" indent="-342900">
              <a:lnSpc>
                <a:spcPts val="1600"/>
              </a:lnSpc>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Quantity is blank, so unit price falls back to 1</a:t>
            </a:r>
            <a:endParaRPr lang="en-US" sz="1200" dirty="0"/>
          </a:p>
          <a:p>
            <a:pPr marL="342900" indent="-342900">
              <a:lnSpc>
                <a:spcPts val="1600"/>
              </a:lnSpc>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Resource rows not assigned to a scope task</a:t>
            </a:r>
            <a:endParaRPr lang="en-US" sz="1200" dirty="0"/>
          </a:p>
          <a:p>
            <a:pPr marL="342900" indent="-342900">
              <a:lnSpc>
                <a:spcPts val="1600"/>
              </a:lnSpc>
              <a:spcAft>
                <a:spcPts val="700"/>
              </a:spcAft>
              <a:buSzPct val="100000"/>
              <a:buChar char="●"/>
            </a:pPr>
            <a:r>
              <a:rPr lang="en-US" sz="1200" dirty="0">
                <a:solidFill>
                  <a:srgbClr val="E6EDF3"/>
                </a:solidFill>
                <a:latin typeface="Calibri" pitchFamily="34" charset="0"/>
                <a:ea typeface="Calibri" pitchFamily="34" charset="-122"/>
                <a:cs typeface="Calibri" pitchFamily="34" charset="-120"/>
              </a:rPr>
              <a:t>No Scope of Work items</a:t>
            </a:r>
            <a:endParaRPr lang="en-US" sz="1200" dirty="0"/>
          </a:p>
        </p:txBody>
      </p:sp>
      <p:sp>
        <p:nvSpPr>
          <p:cNvPr id="11" name="Shape 9"/>
          <p:cNvSpPr/>
          <p:nvPr/>
        </p:nvSpPr>
        <p:spPr>
          <a:xfrm>
            <a:off x="566928" y="4242816"/>
            <a:ext cx="11055096" cy="1234440"/>
          </a:xfrm>
          <a:prstGeom prst="roundRect">
            <a:avLst>
              <a:gd name="adj" fmla="val 5926"/>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2" name="Text 10"/>
          <p:cNvSpPr/>
          <p:nvPr/>
        </p:nvSpPr>
        <p:spPr>
          <a:xfrm>
            <a:off x="841248" y="4407408"/>
            <a:ext cx="54864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The app blocks a save only for these</a:t>
            </a:r>
            <a:endParaRPr lang="en-US" sz="1350" dirty="0"/>
          </a:p>
        </p:txBody>
      </p:sp>
      <p:sp>
        <p:nvSpPr>
          <p:cNvPr id="13" name="Text 11"/>
          <p:cNvSpPr/>
          <p:nvPr/>
        </p:nvSpPr>
        <p:spPr>
          <a:xfrm>
            <a:off x="841248" y="4718304"/>
            <a:ext cx="10515600" cy="566928"/>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A missing CE Number, a missing Client name, a CE Number already used by another estimate, or a negative cost. Everything else on Check CE is advice — you can save past it, but read it first.</a:t>
            </a:r>
            <a:endParaRPr lang="en-US" sz="1150" dirty="0"/>
          </a:p>
        </p:txBody>
      </p:sp>
      <p:sp>
        <p:nvSpPr>
          <p:cNvPr id="14" name="Text 12"/>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5" name="Text 13"/>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8 · KEEPING YOUR WORK</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Save, draft, revise, clone</a:t>
            </a:r>
            <a:endParaRPr lang="en-US" sz="3200" dirty="0"/>
          </a:p>
        </p:txBody>
      </p:sp>
      <p:sp>
        <p:nvSpPr>
          <p:cNvPr id="4" name="Shape 2"/>
          <p:cNvSpPr/>
          <p:nvPr/>
        </p:nvSpPr>
        <p:spPr>
          <a:xfrm>
            <a:off x="566928" y="1408176"/>
            <a:ext cx="7040880" cy="731520"/>
          </a:xfrm>
          <a:prstGeom prst="roundRect">
            <a:avLst>
              <a:gd name="adj" fmla="val 10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5" name="Shape 3"/>
          <p:cNvSpPr/>
          <p:nvPr/>
        </p:nvSpPr>
        <p:spPr>
          <a:xfrm>
            <a:off x="749808" y="1554480"/>
            <a:ext cx="1234440" cy="438912"/>
          </a:xfrm>
          <a:prstGeom prst="roundRect">
            <a:avLst>
              <a:gd name="adj" fmla="val 12500"/>
            </a:avLst>
          </a:prstGeom>
          <a:solidFill>
            <a:srgbClr val="F0A429"/>
          </a:solidFill>
          <a:ln w="12700">
            <a:solidFill>
              <a:srgbClr val="F0A429"/>
            </a:solidFill>
            <a:prstDash val="solid"/>
          </a:ln>
        </p:spPr>
        <p:txBody>
          <a:bodyPr/>
          <a:p/>
        </p:txBody>
      </p:sp>
      <p:sp>
        <p:nvSpPr>
          <p:cNvPr id="6" name="Text 4"/>
          <p:cNvSpPr/>
          <p:nvPr/>
        </p:nvSpPr>
        <p:spPr>
          <a:xfrm>
            <a:off x="749808" y="1554480"/>
            <a:ext cx="1234440" cy="438912"/>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Save</a:t>
            </a:r>
            <a:endParaRPr lang="en-US" sz="1200" dirty="0"/>
          </a:p>
        </p:txBody>
      </p:sp>
      <p:sp>
        <p:nvSpPr>
          <p:cNvPr id="7" name="Text 5"/>
          <p:cNvSpPr/>
          <p:nvPr/>
        </p:nvSpPr>
        <p:spPr>
          <a:xfrm>
            <a:off x="2139696" y="1499616"/>
            <a:ext cx="4846320" cy="548640"/>
          </a:xfrm>
          <a:prstGeom prst="rect">
            <a:avLst/>
          </a:prstGeom>
          <a:noFill/>
          <a:ln/>
        </p:spPr>
        <p:txBody>
          <a:bodyPr wrap="square" lIns="0" tIns="0" rIns="0" bIns="0" rtlCol="0" anchor="ctr"/>
          <a:lstStyle/>
          <a:p>
            <a:pPr indent="0" marL="0">
              <a:lnSpc>
                <a:spcPts val="1450"/>
              </a:lnSpc>
              <a:buNone/>
            </a:pPr>
            <a:r>
              <a:rPr lang="en-US" sz="1150" dirty="0">
                <a:solidFill>
                  <a:srgbClr val="E6EDF3"/>
                </a:solidFill>
                <a:latin typeface="Calibri" pitchFamily="34" charset="0"/>
                <a:ea typeface="Calibri" pitchFamily="34" charset="-122"/>
                <a:cs typeface="Calibri" pitchFamily="34" charset="-120"/>
              </a:rPr>
              <a:t>Stores the CE and shares it with the team. The CE Number must be unique, and Discipline is required. On the Summary the Keep group reads Resume Work · Draft · Save · Revise; hover any button for what it does.</a:t>
            </a:r>
            <a:endParaRPr lang="en-US" sz="1150" dirty="0"/>
          </a:p>
        </p:txBody>
      </p:sp>
      <p:sp>
        <p:nvSpPr>
          <p:cNvPr id="8" name="Text 6"/>
          <p:cNvSpPr/>
          <p:nvPr/>
        </p:nvSpPr>
        <p:spPr>
          <a:xfrm>
            <a:off x="6986016" y="1554480"/>
            <a:ext cx="548640" cy="438912"/>
          </a:xfrm>
          <a:prstGeom prst="rect">
            <a:avLst/>
          </a:prstGeom>
          <a:noFill/>
          <a:ln/>
        </p:spPr>
        <p:txBody>
          <a:bodyPr wrap="square" lIns="0" tIns="0" rIns="0" bIns="0" rtlCol="0" anchor="ctr"/>
          <a:lstStyle/>
          <a:p>
            <a:pPr algn="r" indent="0" marL="0">
              <a:buNone/>
            </a:pPr>
            <a:r>
              <a:rPr lang="en-US" sz="950" dirty="0">
                <a:solidFill>
                  <a:srgbClr val="9AA4AF"/>
                </a:solidFill>
                <a:latin typeface="Courier New" pitchFamily="34" charset="0"/>
                <a:ea typeface="Courier New" pitchFamily="34" charset="-122"/>
                <a:cs typeface="Courier New" pitchFamily="34" charset="-120"/>
              </a:rPr>
              <a:t>Ctrl + S</a:t>
            </a:r>
            <a:endParaRPr lang="en-US" sz="950" dirty="0"/>
          </a:p>
        </p:txBody>
      </p:sp>
      <p:sp>
        <p:nvSpPr>
          <p:cNvPr id="9" name="Shape 7"/>
          <p:cNvSpPr/>
          <p:nvPr/>
        </p:nvSpPr>
        <p:spPr>
          <a:xfrm>
            <a:off x="566928" y="2249424"/>
            <a:ext cx="7040880" cy="731520"/>
          </a:xfrm>
          <a:prstGeom prst="roundRect">
            <a:avLst>
              <a:gd name="adj" fmla="val 10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0" name="Shape 8"/>
          <p:cNvSpPr/>
          <p:nvPr/>
        </p:nvSpPr>
        <p:spPr>
          <a:xfrm>
            <a:off x="749808" y="2395728"/>
            <a:ext cx="1234440" cy="438912"/>
          </a:xfrm>
          <a:prstGeom prst="roundRect">
            <a:avLst>
              <a:gd name="adj" fmla="val 12500"/>
            </a:avLst>
          </a:prstGeom>
          <a:solidFill>
            <a:srgbClr val="58A6FF"/>
          </a:solidFill>
          <a:ln w="12700">
            <a:solidFill>
              <a:srgbClr val="58A6FF"/>
            </a:solidFill>
            <a:prstDash val="solid"/>
          </a:ln>
        </p:spPr>
        <p:txBody>
          <a:bodyPr/>
          <a:p/>
        </p:txBody>
      </p:sp>
      <p:sp>
        <p:nvSpPr>
          <p:cNvPr id="11" name="Text 9"/>
          <p:cNvSpPr/>
          <p:nvPr/>
        </p:nvSpPr>
        <p:spPr>
          <a:xfrm>
            <a:off x="749808" y="2395728"/>
            <a:ext cx="1234440" cy="438912"/>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 Draft</a:t>
            </a:r>
            <a:endParaRPr lang="en-US" sz="1200" dirty="0"/>
          </a:p>
        </p:txBody>
      </p:sp>
      <p:sp>
        <p:nvSpPr>
          <p:cNvPr id="12" name="Text 10"/>
          <p:cNvSpPr/>
          <p:nvPr/>
        </p:nvSpPr>
        <p:spPr>
          <a:xfrm>
            <a:off x="2139696" y="2340864"/>
            <a:ext cx="4846320" cy="548640"/>
          </a:xfrm>
          <a:prstGeom prst="rect">
            <a:avLst/>
          </a:prstGeom>
          <a:noFill/>
          <a:ln/>
        </p:spPr>
        <p:txBody>
          <a:bodyPr wrap="square" lIns="0" tIns="0" rIns="0" bIns="0" rtlCol="0" anchor="ctr"/>
          <a:lstStyle/>
          <a:p>
            <a:pPr indent="0" marL="0">
              <a:lnSpc>
                <a:spcPts val="1450"/>
              </a:lnSpc>
              <a:buNone/>
            </a:pPr>
            <a:r>
              <a:rPr lang="en-US" sz="1150" dirty="0">
                <a:solidFill>
                  <a:srgbClr val="E6EDF3"/>
                </a:solidFill>
                <a:latin typeface="Calibri" pitchFamily="34" charset="0"/>
                <a:ea typeface="Calibri" pitchFamily="34" charset="-122"/>
                <a:cs typeface="Calibri" pitchFamily="34" charset="-120"/>
              </a:rPr>
              <a:t>Parks unfinished work for the team; it shows in CE Monitoring and saving clears it. Only its owner or an admin can delete one, after a warning.</a:t>
            </a:r>
            <a:endParaRPr lang="en-US" sz="1150" dirty="0"/>
          </a:p>
        </p:txBody>
      </p:sp>
      <p:sp>
        <p:nvSpPr>
          <p:cNvPr id="13" name="Shape 11"/>
          <p:cNvSpPr/>
          <p:nvPr/>
        </p:nvSpPr>
        <p:spPr>
          <a:xfrm>
            <a:off x="566928" y="3090672"/>
            <a:ext cx="7040880" cy="731520"/>
          </a:xfrm>
          <a:prstGeom prst="roundRect">
            <a:avLst>
              <a:gd name="adj" fmla="val 10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4" name="Shape 12"/>
          <p:cNvSpPr/>
          <p:nvPr/>
        </p:nvSpPr>
        <p:spPr>
          <a:xfrm>
            <a:off x="749808" y="3236976"/>
            <a:ext cx="1234440" cy="438912"/>
          </a:xfrm>
          <a:prstGeom prst="roundRect">
            <a:avLst>
              <a:gd name="adj" fmla="val 12500"/>
            </a:avLst>
          </a:prstGeom>
          <a:solidFill>
            <a:srgbClr val="A78BFA"/>
          </a:solidFill>
          <a:ln w="12700">
            <a:solidFill>
              <a:srgbClr val="A78BFA"/>
            </a:solidFill>
            <a:prstDash val="solid"/>
          </a:ln>
        </p:spPr>
        <p:txBody>
          <a:bodyPr/>
          <a:p/>
        </p:txBody>
      </p:sp>
      <p:sp>
        <p:nvSpPr>
          <p:cNvPr id="15" name="Text 13"/>
          <p:cNvSpPr/>
          <p:nvPr/>
        </p:nvSpPr>
        <p:spPr>
          <a:xfrm>
            <a:off x="749808" y="3236976"/>
            <a:ext cx="1234440" cy="438912"/>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 Revise</a:t>
            </a:r>
            <a:endParaRPr lang="en-US" sz="1200" dirty="0"/>
          </a:p>
        </p:txBody>
      </p:sp>
      <p:sp>
        <p:nvSpPr>
          <p:cNvPr id="16" name="Text 14"/>
          <p:cNvSpPr/>
          <p:nvPr/>
        </p:nvSpPr>
        <p:spPr>
          <a:xfrm>
            <a:off x="2139696" y="3182112"/>
            <a:ext cx="4846320" cy="548640"/>
          </a:xfrm>
          <a:prstGeom prst="rect">
            <a:avLst/>
          </a:prstGeom>
          <a:noFill/>
          <a:ln/>
        </p:spPr>
        <p:txBody>
          <a:bodyPr wrap="square" lIns="0" tIns="0" rIns="0" bIns="0" rtlCol="0" anchor="ctr"/>
          <a:lstStyle/>
          <a:p>
            <a:pPr indent="0" marL="0">
              <a:lnSpc>
                <a:spcPts val="1450"/>
              </a:lnSpc>
              <a:buNone/>
            </a:pPr>
            <a:r>
              <a:rPr lang="en-US" sz="1150" dirty="0">
                <a:solidFill>
                  <a:srgbClr val="E6EDF3"/>
                </a:solidFill>
                <a:latin typeface="Calibri" pitchFamily="34" charset="0"/>
                <a:ea typeface="Calibri" pitchFamily="34" charset="-122"/>
                <a:cs typeface="Calibri" pitchFamily="34" charset="-120"/>
              </a:rPr>
              <a:t>Creates the next revision (-R1, -R2) of the CE you have open, so the original is kept.</a:t>
            </a:r>
            <a:endParaRPr lang="en-US" sz="1150" dirty="0"/>
          </a:p>
        </p:txBody>
      </p:sp>
      <p:sp>
        <p:nvSpPr>
          <p:cNvPr id="17" name="Shape 15"/>
          <p:cNvSpPr/>
          <p:nvPr/>
        </p:nvSpPr>
        <p:spPr>
          <a:xfrm>
            <a:off x="566928" y="3931920"/>
            <a:ext cx="7040880" cy="731520"/>
          </a:xfrm>
          <a:prstGeom prst="roundRect">
            <a:avLst>
              <a:gd name="adj" fmla="val 10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8" name="Shape 16"/>
          <p:cNvSpPr/>
          <p:nvPr/>
        </p:nvSpPr>
        <p:spPr>
          <a:xfrm>
            <a:off x="749808" y="4078224"/>
            <a:ext cx="1234440" cy="438912"/>
          </a:xfrm>
          <a:prstGeom prst="roundRect">
            <a:avLst>
              <a:gd name="adj" fmla="val 12500"/>
            </a:avLst>
          </a:prstGeom>
          <a:solidFill>
            <a:srgbClr val="3FB950"/>
          </a:solidFill>
          <a:ln w="12700">
            <a:solidFill>
              <a:srgbClr val="3FB950"/>
            </a:solidFill>
            <a:prstDash val="solid"/>
          </a:ln>
        </p:spPr>
        <p:txBody>
          <a:bodyPr/>
          <a:p/>
        </p:txBody>
      </p:sp>
      <p:sp>
        <p:nvSpPr>
          <p:cNvPr id="19" name="Text 17"/>
          <p:cNvSpPr/>
          <p:nvPr/>
        </p:nvSpPr>
        <p:spPr>
          <a:xfrm>
            <a:off x="749808" y="4078224"/>
            <a:ext cx="1234440" cy="438912"/>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Clone</a:t>
            </a:r>
            <a:endParaRPr lang="en-US" sz="1200" dirty="0"/>
          </a:p>
        </p:txBody>
      </p:sp>
      <p:sp>
        <p:nvSpPr>
          <p:cNvPr id="20" name="Text 18"/>
          <p:cNvSpPr/>
          <p:nvPr/>
        </p:nvSpPr>
        <p:spPr>
          <a:xfrm>
            <a:off x="2139696" y="4023360"/>
            <a:ext cx="4846320" cy="548640"/>
          </a:xfrm>
          <a:prstGeom prst="rect">
            <a:avLst/>
          </a:prstGeom>
          <a:noFill/>
          <a:ln/>
        </p:spPr>
        <p:txBody>
          <a:bodyPr wrap="square" lIns="0" tIns="0" rIns="0" bIns="0" rtlCol="0" anchor="ctr"/>
          <a:lstStyle/>
          <a:p>
            <a:pPr indent="0" marL="0">
              <a:lnSpc>
                <a:spcPts val="1450"/>
              </a:lnSpc>
              <a:buNone/>
            </a:pPr>
            <a:r>
              <a:rPr lang="en-US" sz="1150" dirty="0">
                <a:solidFill>
                  <a:srgbClr val="E6EDF3"/>
                </a:solidFill>
                <a:latin typeface="Calibri" pitchFamily="34" charset="0"/>
                <a:ea typeface="Calibri" pitchFamily="34" charset="-122"/>
                <a:cs typeface="Calibri" pitchFamily="34" charset="-120"/>
              </a:rPr>
              <a:t>Copies an existing CE onto a fresh CE Number. The fastest way to quote a similar job.</a:t>
            </a:r>
            <a:endParaRPr lang="en-US" sz="1150" dirty="0"/>
          </a:p>
        </p:txBody>
      </p:sp>
      <p:sp>
        <p:nvSpPr>
          <p:cNvPr id="21" name="Shape 19"/>
          <p:cNvSpPr/>
          <p:nvPr/>
        </p:nvSpPr>
        <p:spPr>
          <a:xfrm>
            <a:off x="566928" y="4773168"/>
            <a:ext cx="7040880" cy="731520"/>
          </a:xfrm>
          <a:prstGeom prst="roundRect">
            <a:avLst>
              <a:gd name="adj" fmla="val 10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2" name="Shape 20"/>
          <p:cNvSpPr/>
          <p:nvPr/>
        </p:nvSpPr>
        <p:spPr>
          <a:xfrm>
            <a:off x="749808" y="4919472"/>
            <a:ext cx="1234440" cy="438912"/>
          </a:xfrm>
          <a:prstGeom prst="roundRect">
            <a:avLst>
              <a:gd name="adj" fmla="val 12500"/>
            </a:avLst>
          </a:prstGeom>
          <a:solidFill>
            <a:srgbClr val="9AA4AF"/>
          </a:solidFill>
          <a:ln w="12700">
            <a:solidFill>
              <a:srgbClr val="9AA4AF"/>
            </a:solidFill>
            <a:prstDash val="solid"/>
          </a:ln>
        </p:spPr>
        <p:txBody>
          <a:bodyPr/>
          <a:p/>
        </p:txBody>
      </p:sp>
      <p:sp>
        <p:nvSpPr>
          <p:cNvPr id="23" name="Text 21"/>
          <p:cNvSpPr/>
          <p:nvPr/>
        </p:nvSpPr>
        <p:spPr>
          <a:xfrm>
            <a:off x="749808" y="4919472"/>
            <a:ext cx="1234440" cy="438912"/>
          </a:xfrm>
          <a:prstGeom prst="rect">
            <a:avLst/>
          </a:prstGeom>
          <a:noFill/>
          <a:ln/>
        </p:spPr>
        <p:txBody>
          <a:bodyPr wrap="square" lIns="0" tIns="0" rIns="0" bIns="0" rtlCol="0" anchor="ctr"/>
          <a:lstStyle/>
          <a:p>
            <a:pPr algn="ctr" indent="0" marL="0">
              <a:buNone/>
            </a:pPr>
            <a:r>
              <a:rPr lang="en-US" sz="1200" b="1" dirty="0">
                <a:solidFill>
                  <a:srgbClr val="000000"/>
                </a:solidFill>
                <a:latin typeface="Arial" pitchFamily="34" charset="0"/>
                <a:ea typeface="Arial" pitchFamily="34" charset="-122"/>
                <a:cs typeface="Arial" pitchFamily="34" charset="-120"/>
              </a:rPr>
              <a:t>+ New</a:t>
            </a:r>
            <a:endParaRPr lang="en-US" sz="1200" dirty="0"/>
          </a:p>
        </p:txBody>
      </p:sp>
      <p:sp>
        <p:nvSpPr>
          <p:cNvPr id="24" name="Text 22"/>
          <p:cNvSpPr/>
          <p:nvPr/>
        </p:nvSpPr>
        <p:spPr>
          <a:xfrm>
            <a:off x="2139696" y="4864608"/>
            <a:ext cx="4846320" cy="548640"/>
          </a:xfrm>
          <a:prstGeom prst="rect">
            <a:avLst/>
          </a:prstGeom>
          <a:noFill/>
          <a:ln/>
        </p:spPr>
        <p:txBody>
          <a:bodyPr wrap="square" lIns="0" tIns="0" rIns="0" bIns="0" rtlCol="0" anchor="ctr"/>
          <a:lstStyle/>
          <a:p>
            <a:pPr indent="0" marL="0">
              <a:lnSpc>
                <a:spcPts val="1450"/>
              </a:lnSpc>
              <a:buNone/>
            </a:pPr>
            <a:r>
              <a:rPr lang="en-US" sz="1150" dirty="0">
                <a:solidFill>
                  <a:srgbClr val="E6EDF3"/>
                </a:solidFill>
                <a:latin typeface="Calibri" pitchFamily="34" charset="0"/>
                <a:ea typeface="Calibri" pitchFamily="34" charset="-122"/>
                <a:cs typeface="Calibri" pitchFamily="34" charset="-120"/>
              </a:rPr>
              <a:t>Clears everything and starts again. You will be warned about unsaved work.</a:t>
            </a:r>
            <a:endParaRPr lang="en-US" sz="1150" dirty="0"/>
          </a:p>
        </p:txBody>
      </p:sp>
      <p:sp>
        <p:nvSpPr>
          <p:cNvPr id="25" name="Text 23"/>
          <p:cNvSpPr/>
          <p:nvPr/>
        </p:nvSpPr>
        <p:spPr>
          <a:xfrm>
            <a:off x="6986016" y="4919472"/>
            <a:ext cx="548640" cy="438912"/>
          </a:xfrm>
          <a:prstGeom prst="rect">
            <a:avLst/>
          </a:prstGeom>
          <a:noFill/>
          <a:ln/>
        </p:spPr>
        <p:txBody>
          <a:bodyPr wrap="square" lIns="0" tIns="0" rIns="0" bIns="0" rtlCol="0" anchor="ctr"/>
          <a:lstStyle/>
          <a:p>
            <a:pPr algn="r" indent="0" marL="0">
              <a:buNone/>
            </a:pPr>
            <a:r>
              <a:rPr lang="en-US" sz="950" dirty="0">
                <a:solidFill>
                  <a:srgbClr val="9AA4AF"/>
                </a:solidFill>
                <a:latin typeface="Courier New" pitchFamily="34" charset="0"/>
                <a:ea typeface="Courier New" pitchFamily="34" charset="-122"/>
                <a:cs typeface="Courier New" pitchFamily="34" charset="-120"/>
              </a:rPr>
              <a:t>Ctrl + N</a:t>
            </a:r>
            <a:endParaRPr lang="en-US" sz="950" dirty="0"/>
          </a:p>
        </p:txBody>
      </p:sp>
      <p:sp>
        <p:nvSpPr>
          <p:cNvPr id="26" name="Shape 24"/>
          <p:cNvSpPr/>
          <p:nvPr/>
        </p:nvSpPr>
        <p:spPr>
          <a:xfrm>
            <a:off x="7818120" y="1408176"/>
            <a:ext cx="3803904" cy="1965960"/>
          </a:xfrm>
          <a:prstGeom prst="roundRect">
            <a:avLst>
              <a:gd name="adj" fmla="val 3721"/>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7" name="Text 25"/>
          <p:cNvSpPr/>
          <p:nvPr/>
        </p:nvSpPr>
        <p:spPr>
          <a:xfrm>
            <a:off x="8046720" y="1591056"/>
            <a:ext cx="3383280" cy="292608"/>
          </a:xfrm>
          <a:prstGeom prst="rect">
            <a:avLst/>
          </a:prstGeom>
          <a:noFill/>
          <a:ln/>
        </p:spPr>
        <p:txBody>
          <a:bodyPr wrap="square" lIns="0" tIns="0" rIns="0" bIns="0" rtlCol="0" anchor="ctr"/>
          <a:lstStyle/>
          <a:p>
            <a:pPr indent="0" marL="0">
              <a:buNone/>
            </a:pPr>
            <a:r>
              <a:rPr lang="en-US" sz="1450" b="1" dirty="0">
                <a:solidFill>
                  <a:srgbClr val="3FB950"/>
                </a:solidFill>
                <a:latin typeface="Arial" pitchFamily="34" charset="0"/>
                <a:ea typeface="Arial" pitchFamily="34" charset="-122"/>
                <a:cs typeface="Arial" pitchFamily="34" charset="-120"/>
              </a:rPr>
              <a:t>Auto-save</a:t>
            </a:r>
            <a:endParaRPr lang="en-US" sz="1450" dirty="0"/>
          </a:p>
        </p:txBody>
      </p:sp>
      <p:sp>
        <p:nvSpPr>
          <p:cNvPr id="28" name="Text 26"/>
          <p:cNvSpPr/>
          <p:nvPr/>
        </p:nvSpPr>
        <p:spPr>
          <a:xfrm>
            <a:off x="8046720" y="1956816"/>
            <a:ext cx="3383280" cy="1280160"/>
          </a:xfrm>
          <a:prstGeom prst="rect">
            <a:avLst/>
          </a:prstGeom>
          <a:noFill/>
          <a:ln/>
        </p:spPr>
        <p:txBody>
          <a:bodyPr wrap="square" lIns="0" tIns="0" rIns="0" bIns="0" rtlCol="0" anchor="t"/>
          <a:lstStyle/>
          <a:p>
            <a:pPr algn="l" indent="0" marL="0">
              <a:lnSpc>
                <a:spcPts val="1500"/>
              </a:lnSpc>
              <a:buNone/>
            </a:pPr>
            <a:r>
              <a:rPr lang="en-US" sz="1150" dirty="0">
                <a:solidFill>
                  <a:srgbClr val="9AA4AF"/>
                </a:solidFill>
                <a:latin typeface="Calibri" pitchFamily="34" charset="0"/>
                <a:ea typeface="Calibri" pitchFamily="34" charset="-122"/>
                <a:cs typeface="Calibri" pitchFamily="34" charset="-120"/>
              </a:rPr>
              <a:t>The app keeps a rolling copy of your work in this browser as you type. If the tab closes or the machine restarts, you will be offered it back the next time you open the app.</a:t>
            </a:r>
            <a:endParaRPr lang="en-US" sz="1150" dirty="0"/>
          </a:p>
        </p:txBody>
      </p:sp>
      <p:sp>
        <p:nvSpPr>
          <p:cNvPr id="29" name="Shape 27"/>
          <p:cNvSpPr/>
          <p:nvPr/>
        </p:nvSpPr>
        <p:spPr>
          <a:xfrm>
            <a:off x="7818120" y="3557016"/>
            <a:ext cx="3803904" cy="2057400"/>
          </a:xfrm>
          <a:prstGeom prst="roundRect">
            <a:avLst>
              <a:gd name="adj" fmla="val 3556"/>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0" name="Text 28"/>
          <p:cNvSpPr/>
          <p:nvPr/>
        </p:nvSpPr>
        <p:spPr>
          <a:xfrm>
            <a:off x="8046720" y="3739896"/>
            <a:ext cx="3383280" cy="292608"/>
          </a:xfrm>
          <a:prstGeom prst="rect">
            <a:avLst/>
          </a:prstGeom>
          <a:noFill/>
          <a:ln/>
        </p:spPr>
        <p:txBody>
          <a:bodyPr wrap="square" lIns="0" tIns="0" rIns="0" bIns="0" rtlCol="0" anchor="ctr"/>
          <a:lstStyle/>
          <a:p>
            <a:pPr indent="0" marL="0">
              <a:buNone/>
            </a:pPr>
            <a:r>
              <a:rPr lang="en-US" sz="1450" b="1" dirty="0">
                <a:solidFill>
                  <a:srgbClr val="F85149"/>
                </a:solidFill>
                <a:latin typeface="Arial" pitchFamily="34" charset="0"/>
                <a:ea typeface="Arial" pitchFamily="34" charset="-122"/>
                <a:cs typeface="Arial" pitchFamily="34" charset="-120"/>
              </a:rPr>
              <a:t>Saving a saved CE</a:t>
            </a:r>
            <a:endParaRPr lang="en-US" sz="1450" dirty="0"/>
          </a:p>
        </p:txBody>
      </p:sp>
      <p:sp>
        <p:nvSpPr>
          <p:cNvPr id="31" name="Text 29"/>
          <p:cNvSpPr/>
          <p:nvPr/>
        </p:nvSpPr>
        <p:spPr>
          <a:xfrm>
            <a:off x="8046720" y="4105656"/>
            <a:ext cx="3383280" cy="1371600"/>
          </a:xfrm>
          <a:prstGeom prst="rect">
            <a:avLst/>
          </a:prstGeom>
          <a:noFill/>
          <a:ln/>
        </p:spPr>
        <p:txBody>
          <a:bodyPr wrap="square" lIns="0" tIns="0" rIns="0" bIns="0" rtlCol="0" anchor="t"/>
          <a:lstStyle/>
          <a:p>
            <a:pPr algn="l" indent="0" marL="0">
              <a:lnSpc>
                <a:spcPts val="1500"/>
              </a:lnSpc>
              <a:buNone/>
            </a:pPr>
            <a:r>
              <a:rPr lang="en-US" sz="1150" dirty="0">
                <a:solidFill>
                  <a:srgbClr val="9AA4AF"/>
                </a:solidFill>
                <a:latin typeface="Calibri" pitchFamily="34" charset="0"/>
                <a:ea typeface="Calibri" pitchFamily="34" charset="-122"/>
                <a:cs typeface="Calibri" pitchFamily="34" charset="-120"/>
              </a:rPr>
              <a:t>A saved CE can be saved again, and updates in place, until it is routed for approval or closed. After that Save refuses and says so: use Revise. Another person's CE number is always refused. A save that reaches only this browser says so.</a:t>
            </a:r>
            <a:endParaRPr lang="en-US" sz="1150" dirty="0"/>
          </a:p>
        </p:txBody>
      </p:sp>
      <p:sp>
        <p:nvSpPr>
          <p:cNvPr id="32" name="Text 30"/>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3" name="Text 31"/>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8 · OUTPUT</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Produce the document</a:t>
            </a:r>
            <a:endParaRPr lang="en-US" sz="3200" dirty="0"/>
          </a:p>
        </p:txBody>
      </p:sp>
      <p:sp>
        <p:nvSpPr>
          <p:cNvPr id="4" name="Shape 2"/>
          <p:cNvSpPr/>
          <p:nvPr/>
        </p:nvSpPr>
        <p:spPr>
          <a:xfrm>
            <a:off x="566928" y="1408176"/>
            <a:ext cx="7040880" cy="1243584"/>
          </a:xfrm>
          <a:prstGeom prst="roundRect">
            <a:avLst>
              <a:gd name="adj" fmla="val 5882"/>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5" name="Text 3"/>
          <p:cNvSpPr/>
          <p:nvPr/>
        </p:nvSpPr>
        <p:spPr>
          <a:xfrm>
            <a:off x="841248" y="1554480"/>
            <a:ext cx="2926080" cy="310896"/>
          </a:xfrm>
          <a:prstGeom prst="rect">
            <a:avLst/>
          </a:prstGeom>
          <a:noFill/>
          <a:ln/>
        </p:spPr>
        <p:txBody>
          <a:bodyPr wrap="square" lIns="0" tIns="0" rIns="0" bIns="0" rtlCol="0" anchor="ctr"/>
          <a:lstStyle/>
          <a:p>
            <a:pPr indent="0" marL="0">
              <a:buNone/>
            </a:pPr>
            <a:r>
              <a:rPr lang="en-US" sz="1500" b="1" dirty="0">
                <a:solidFill>
                  <a:srgbClr val="F0A429"/>
                </a:solidFill>
                <a:latin typeface="Arial" pitchFamily="34" charset="0"/>
                <a:ea typeface="Arial" pitchFamily="34" charset="-122"/>
                <a:cs typeface="Arial" pitchFamily="34" charset="-120"/>
              </a:rPr>
              <a:t>🖨  Generate CE</a:t>
            </a:r>
            <a:endParaRPr lang="en-US" sz="1500" dirty="0"/>
          </a:p>
        </p:txBody>
      </p:sp>
      <p:sp>
        <p:nvSpPr>
          <p:cNvPr id="6" name="Text 4"/>
          <p:cNvSpPr/>
          <p:nvPr/>
        </p:nvSpPr>
        <p:spPr>
          <a:xfrm>
            <a:off x="841248" y="1911096"/>
            <a:ext cx="6492240" cy="658368"/>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Opens the official SHIC form to print or save as PDF. 👁 Preview shows it in one window without the print dialog. Both work offline.</a:t>
            </a:r>
            <a:endParaRPr lang="en-US" sz="1150" dirty="0"/>
          </a:p>
        </p:txBody>
      </p:sp>
      <p:sp>
        <p:nvSpPr>
          <p:cNvPr id="7" name="Shape 5"/>
          <p:cNvSpPr/>
          <p:nvPr/>
        </p:nvSpPr>
        <p:spPr>
          <a:xfrm>
            <a:off x="566928" y="2779776"/>
            <a:ext cx="7040880" cy="1243584"/>
          </a:xfrm>
          <a:prstGeom prst="roundRect">
            <a:avLst>
              <a:gd name="adj" fmla="val 5882"/>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8" name="Text 6"/>
          <p:cNvSpPr/>
          <p:nvPr/>
        </p:nvSpPr>
        <p:spPr>
          <a:xfrm>
            <a:off x="841248" y="2926080"/>
            <a:ext cx="2926080" cy="310896"/>
          </a:xfrm>
          <a:prstGeom prst="rect">
            <a:avLst/>
          </a:prstGeom>
          <a:noFill/>
          <a:ln/>
        </p:spPr>
        <p:txBody>
          <a:bodyPr wrap="square" lIns="0" tIns="0" rIns="0" bIns="0" rtlCol="0" anchor="ctr"/>
          <a:lstStyle/>
          <a:p>
            <a:pPr indent="0" marL="0">
              <a:buNone/>
            </a:pPr>
            <a:r>
              <a:rPr lang="en-US" sz="1500" b="1" dirty="0">
                <a:solidFill>
                  <a:srgbClr val="58A6FF"/>
                </a:solidFill>
                <a:latin typeface="Arial" pitchFamily="34" charset="0"/>
                <a:ea typeface="Arial" pitchFamily="34" charset="-122"/>
                <a:cs typeface="Arial" pitchFamily="34" charset="-120"/>
              </a:rPr>
              <a:t>Export CE · Export Detailed</a:t>
            </a:r>
            <a:endParaRPr lang="en-US" sz="1500" dirty="0"/>
          </a:p>
        </p:txBody>
      </p:sp>
      <p:sp>
        <p:nvSpPr>
          <p:cNvPr id="9" name="Text 7"/>
          <p:cNvSpPr/>
          <p:nvPr/>
        </p:nvSpPr>
        <p:spPr>
          <a:xfrm>
            <a:off x="841248" y="3282696"/>
            <a:ext cx="6492240" cy="658368"/>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Both write the CE as a formatted Excel workbook, figures as numbers. Title bars take the company colour — green SY3, orange Synercore; change it in Admin → Companies → Header Bar Color.</a:t>
            </a:r>
            <a:endParaRPr lang="en-US" sz="1150" dirty="0"/>
          </a:p>
        </p:txBody>
      </p:sp>
      <p:sp>
        <p:nvSpPr>
          <p:cNvPr id="10" name="Shape 8"/>
          <p:cNvSpPr/>
          <p:nvPr/>
        </p:nvSpPr>
        <p:spPr>
          <a:xfrm>
            <a:off x="566928" y="4151376"/>
            <a:ext cx="7040880" cy="1243584"/>
          </a:xfrm>
          <a:prstGeom prst="roundRect">
            <a:avLst>
              <a:gd name="adj" fmla="val 5882"/>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1" name="Text 9"/>
          <p:cNvSpPr/>
          <p:nvPr/>
        </p:nvSpPr>
        <p:spPr>
          <a:xfrm>
            <a:off x="841248" y="4297680"/>
            <a:ext cx="2926080" cy="310896"/>
          </a:xfrm>
          <a:prstGeom prst="rect">
            <a:avLst/>
          </a:prstGeom>
          <a:noFill/>
          <a:ln/>
        </p:spPr>
        <p:txBody>
          <a:bodyPr wrap="square" lIns="0" tIns="0" rIns="0" bIns="0" rtlCol="0" anchor="ctr"/>
          <a:lstStyle/>
          <a:p>
            <a:pPr indent="0" marL="0">
              <a:buNone/>
            </a:pPr>
            <a:r>
              <a:rPr lang="en-US" sz="1500" b="1" dirty="0">
                <a:solidFill>
                  <a:srgbClr val="A78BFA"/>
                </a:solidFill>
                <a:latin typeface="Arial" pitchFamily="34" charset="0"/>
                <a:ea typeface="Arial" pitchFamily="34" charset="-122"/>
                <a:cs typeface="Arial" pitchFamily="34" charset="-120"/>
              </a:rPr>
              <a:t>📎 Attachments</a:t>
            </a:r>
            <a:endParaRPr lang="en-US" sz="1500" dirty="0"/>
          </a:p>
        </p:txBody>
      </p:sp>
      <p:sp>
        <p:nvSpPr>
          <p:cNvPr id="12" name="Text 10"/>
          <p:cNvSpPr/>
          <p:nvPr/>
        </p:nvSpPr>
        <p:spPr>
          <a:xfrm>
            <a:off x="841248" y="4654296"/>
            <a:ext cx="6492240" cy="658368"/>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Client enquiries and supporting documents can be attached to a saved CE and opened later by anyone on the team.</a:t>
            </a:r>
            <a:endParaRPr lang="en-US" sz="1150" dirty="0"/>
          </a:p>
        </p:txBody>
      </p:sp>
      <p:sp>
        <p:nvSpPr>
          <p:cNvPr id="13" name="Shape 11"/>
          <p:cNvSpPr/>
          <p:nvPr/>
        </p:nvSpPr>
        <p:spPr>
          <a:xfrm>
            <a:off x="7818120" y="1408176"/>
            <a:ext cx="3803904" cy="3986784"/>
          </a:xfrm>
          <a:prstGeom prst="roundRect">
            <a:avLst>
              <a:gd name="adj" fmla="val 1923"/>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4" name="Text 12"/>
          <p:cNvSpPr/>
          <p:nvPr/>
        </p:nvSpPr>
        <p:spPr>
          <a:xfrm>
            <a:off x="8046720" y="1609344"/>
            <a:ext cx="3383280" cy="310896"/>
          </a:xfrm>
          <a:prstGeom prst="rect">
            <a:avLst/>
          </a:prstGeom>
          <a:noFill/>
          <a:ln/>
        </p:spPr>
        <p:txBody>
          <a:bodyPr wrap="square" lIns="0" tIns="0" rIns="0" bIns="0" rtlCol="0" anchor="ctr"/>
          <a:lstStyle/>
          <a:p>
            <a:pPr indent="0" marL="0">
              <a:buNone/>
            </a:pPr>
            <a:r>
              <a:rPr lang="en-US" sz="1500" b="1" dirty="0">
                <a:solidFill>
                  <a:srgbClr val="E6EDF3"/>
                </a:solidFill>
                <a:latin typeface="Arial" pitchFamily="34" charset="0"/>
                <a:ea typeface="Arial" pitchFamily="34" charset="-122"/>
                <a:cs typeface="Arial" pitchFamily="34" charset="-120"/>
              </a:rPr>
              <a:t>On the printed CE</a:t>
            </a:r>
            <a:endParaRPr lang="en-US" sz="1500" dirty="0"/>
          </a:p>
        </p:txBody>
      </p:sp>
      <p:sp>
        <p:nvSpPr>
          <p:cNvPr id="15" name="Text 13"/>
          <p:cNvSpPr/>
          <p:nvPr/>
        </p:nvSpPr>
        <p:spPr>
          <a:xfrm>
            <a:off x="8046720" y="2048256"/>
            <a:ext cx="3383280" cy="310896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E6EDF3"/>
                </a:solidFill>
                <a:latin typeface="Calibri" pitchFamily="34" charset="0"/>
                <a:ea typeface="Calibri" pitchFamily="34" charset="-122"/>
                <a:cs typeface="Calibri" pitchFamily="34" charset="-120"/>
              </a:rPr>
              <a:t>Every page: logo and Document No. at the top; Document No. and Page X of Y at the foot</a:t>
            </a:r>
            <a:endParaRPr lang="en-US" sz="1150" dirty="0"/>
          </a:p>
          <a:p>
            <a:pPr marL="342900" indent="-342900">
              <a:lnSpc>
                <a:spcPts val="1500"/>
              </a:lnSpc>
              <a:spcAft>
                <a:spcPts val="900"/>
              </a:spcAft>
              <a:buSzPct val="100000"/>
              <a:buChar char="●"/>
            </a:pPr>
            <a:r>
              <a:rPr lang="en-US" sz="1150" dirty="0">
                <a:solidFill>
                  <a:srgbClr val="E6EDF3"/>
                </a:solidFill>
                <a:latin typeface="Calibri" pitchFamily="34" charset="0"/>
                <a:ea typeface="Calibri" pitchFamily="34" charset="-122"/>
                <a:cs typeface="Calibri" pitchFamily="34" charset="-120"/>
              </a:rPr>
              <a:t>Signatories print four to a row, so signatures stay full size</a:t>
            </a:r>
            <a:endParaRPr lang="en-US" sz="1150" dirty="0"/>
          </a:p>
          <a:p>
            <a:pPr marL="342900" indent="-342900">
              <a:lnSpc>
                <a:spcPts val="1500"/>
              </a:lnSpc>
              <a:spcAft>
                <a:spcPts val="900"/>
              </a:spcAft>
              <a:buSzPct val="100000"/>
              <a:buChar char="●"/>
            </a:pPr>
            <a:r>
              <a:rPr lang="en-US" sz="1150" dirty="0">
                <a:solidFill>
                  <a:srgbClr val="E6EDF3"/>
                </a:solidFill>
                <a:latin typeface="Calibri" pitchFamily="34" charset="0"/>
                <a:ea typeface="Calibri" pitchFamily="34" charset="-122"/>
                <a:cs typeface="Calibri" pitchFamily="34" charset="-120"/>
              </a:rPr>
              <a:t>CE TYPE on the left under each title bar; CE No. and date on the right</a:t>
            </a:r>
            <a:endParaRPr lang="en-US" sz="1150" dirty="0"/>
          </a:p>
          <a:p>
            <a:pPr marL="342900" indent="-342900">
              <a:lnSpc>
                <a:spcPts val="1500"/>
              </a:lnSpc>
              <a:spcAft>
                <a:spcPts val="900"/>
              </a:spcAft>
              <a:buSzPct val="100000"/>
              <a:buChar char="●"/>
            </a:pPr>
            <a:r>
              <a:rPr lang="en-US" sz="1150" dirty="0">
                <a:solidFill>
                  <a:srgbClr val="E6EDF3"/>
                </a:solidFill>
                <a:latin typeface="Calibri" pitchFamily="34" charset="0"/>
                <a:ea typeface="Calibri" pitchFamily="34" charset="-122"/>
                <a:cs typeface="Calibri" pitchFamily="34" charset="-120"/>
              </a:rPr>
              <a:t>SELLING PRICE only appears when the margin is not zero</a:t>
            </a:r>
            <a:endParaRPr lang="en-US" sz="1150" dirty="0"/>
          </a:p>
          <a:p>
            <a:pPr marL="342900" indent="-342900">
              <a:lnSpc>
                <a:spcPts val="1500"/>
              </a:lnSpc>
              <a:spcAft>
                <a:spcPts val="900"/>
              </a:spcAft>
              <a:buSzPct val="100000"/>
              <a:buChar char="●"/>
            </a:pPr>
            <a:r>
              <a:rPr lang="en-US" sz="1150" dirty="0">
                <a:solidFill>
                  <a:srgbClr val="E6EDF3"/>
                </a:solidFill>
                <a:latin typeface="Calibri" pitchFamily="34" charset="0"/>
                <a:ea typeface="Calibri" pitchFamily="34" charset="-122"/>
                <a:cs typeface="Calibri" pitchFamily="34" charset="-120"/>
              </a:rPr>
              <a:t>In the print dialog set Margins to None — each page carries its own</a:t>
            </a:r>
            <a:endParaRPr lang="en-US" sz="1150" dirty="0"/>
          </a:p>
        </p:txBody>
      </p:sp>
      <p:sp>
        <p:nvSpPr>
          <p:cNvPr id="16" name="Text 14"/>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7" name="Text 15"/>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STEP 9 · APPROVALS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Review and sign in the app</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Approvers read and sign the CE without loading it. Every signature is stamped with who signed and when.</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Routing it (Summary → Signatories)</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Link each signatory line to a user account; give it a Step</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Same step = sign at the same time; the next step opens when all have signed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Submit for approval works on a new or an already-saved CE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Approvers see a red count on 🏠 My Work and a notice when it arrives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Withdraw (submitter or admin) takes it back; route it again on the same number</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Signing it</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Set it up once: ✍ My Signature (account menu) — draw or upload; saved to your account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From My Work: 👁 View → ✍ Approve &amp; Sign — your saved signature is already on the pad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Stamped with “E-SIGNED · name”, title, date, time and CE number</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Return needs a comment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ANY saved edit — figures, scope, notes, a line — clears every signature, hand-drawn too</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7">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CE MONITORING</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Track what you have quoted</a:t>
            </a:r>
            <a:endParaRPr lang="en-US" sz="3200" dirty="0"/>
          </a:p>
        </p:txBody>
      </p:sp>
      <p:sp>
        <p:nvSpPr>
          <p:cNvPr id="4" name="Text 2"/>
          <p:cNvSpPr/>
          <p:nvPr/>
        </p:nvSpPr>
        <p:spPr>
          <a:xfrm>
            <a:off x="566928" y="1545336"/>
            <a:ext cx="2028458" cy="256032"/>
          </a:xfrm>
          <a:prstGeom prst="rect">
            <a:avLst/>
          </a:prstGeom>
          <a:noFill/>
          <a:ln/>
        </p:spPr>
        <p:txBody>
          <a:bodyPr wrap="square" lIns="0" tIns="0" rIns="0" bIns="0" rtlCol="0" anchor="ctr"/>
          <a:lstStyle/>
          <a:p>
            <a:pPr algn="l" indent="0" marL="0">
              <a:buNone/>
            </a:pPr>
            <a:r>
              <a:rPr lang="en-US" sz="850" b="1" spc="100" kern="0" dirty="0">
                <a:solidFill>
                  <a:srgbClr val="9AA4AF"/>
                </a:solidFill>
                <a:latin typeface="Calibri" pitchFamily="34" charset="0"/>
                <a:ea typeface="Calibri" pitchFamily="34" charset="-122"/>
                <a:cs typeface="Calibri" pitchFamily="34" charset="-120"/>
              </a:rPr>
              <a:t>CE NO.</a:t>
            </a:r>
            <a:endParaRPr lang="en-US" sz="850" dirty="0"/>
          </a:p>
        </p:txBody>
      </p:sp>
      <p:sp>
        <p:nvSpPr>
          <p:cNvPr id="5" name="Text 3"/>
          <p:cNvSpPr/>
          <p:nvPr/>
        </p:nvSpPr>
        <p:spPr>
          <a:xfrm>
            <a:off x="2595386" y="1545336"/>
            <a:ext cx="2028458" cy="256032"/>
          </a:xfrm>
          <a:prstGeom prst="rect">
            <a:avLst/>
          </a:prstGeom>
          <a:noFill/>
          <a:ln/>
        </p:spPr>
        <p:txBody>
          <a:bodyPr wrap="square" lIns="0" tIns="0" rIns="0" bIns="0" rtlCol="0" anchor="ctr"/>
          <a:lstStyle/>
          <a:p>
            <a:pPr algn="l" indent="0" marL="0">
              <a:buNone/>
            </a:pPr>
            <a:r>
              <a:rPr lang="en-US" sz="850" b="1" spc="100" kern="0" dirty="0">
                <a:solidFill>
                  <a:srgbClr val="9AA4AF"/>
                </a:solidFill>
                <a:latin typeface="Calibri" pitchFamily="34" charset="0"/>
                <a:ea typeface="Calibri" pitchFamily="34" charset="-122"/>
                <a:cs typeface="Calibri" pitchFamily="34" charset="-120"/>
              </a:rPr>
              <a:t>CUSTOMER</a:t>
            </a:r>
            <a:endParaRPr lang="en-US" sz="850" dirty="0"/>
          </a:p>
        </p:txBody>
      </p:sp>
      <p:sp>
        <p:nvSpPr>
          <p:cNvPr id="6" name="Text 4"/>
          <p:cNvSpPr/>
          <p:nvPr/>
        </p:nvSpPr>
        <p:spPr>
          <a:xfrm>
            <a:off x="4623844" y="1545336"/>
            <a:ext cx="2636995" cy="256032"/>
          </a:xfrm>
          <a:prstGeom prst="rect">
            <a:avLst/>
          </a:prstGeom>
          <a:noFill/>
          <a:ln/>
        </p:spPr>
        <p:txBody>
          <a:bodyPr wrap="square" lIns="0" tIns="0" rIns="0" bIns="0" rtlCol="0" anchor="ctr"/>
          <a:lstStyle/>
          <a:p>
            <a:pPr algn="l" indent="0" marL="0">
              <a:buNone/>
            </a:pPr>
            <a:r>
              <a:rPr lang="en-US" sz="850" b="1" spc="100" kern="0" dirty="0">
                <a:solidFill>
                  <a:srgbClr val="9AA4AF"/>
                </a:solidFill>
                <a:latin typeface="Calibri" pitchFamily="34" charset="0"/>
                <a:ea typeface="Calibri" pitchFamily="34" charset="-122"/>
                <a:cs typeface="Calibri" pitchFamily="34" charset="-120"/>
              </a:rPr>
              <a:t>JOB TITLE</a:t>
            </a:r>
            <a:endParaRPr lang="en-US" sz="850" dirty="0"/>
          </a:p>
        </p:txBody>
      </p:sp>
      <p:sp>
        <p:nvSpPr>
          <p:cNvPr id="7" name="Text 5"/>
          <p:cNvSpPr/>
          <p:nvPr/>
        </p:nvSpPr>
        <p:spPr>
          <a:xfrm>
            <a:off x="7260839" y="1545336"/>
            <a:ext cx="1419921" cy="256032"/>
          </a:xfrm>
          <a:prstGeom prst="rect">
            <a:avLst/>
          </a:prstGeom>
          <a:noFill/>
          <a:ln/>
        </p:spPr>
        <p:txBody>
          <a:bodyPr wrap="square" lIns="0" tIns="0" rIns="0" bIns="0" rtlCol="0" anchor="ctr"/>
          <a:lstStyle/>
          <a:p>
            <a:pPr algn="r" indent="0" marL="0">
              <a:buNone/>
            </a:pPr>
            <a:r>
              <a:rPr lang="en-US" sz="850" b="1" spc="100" kern="0" dirty="0">
                <a:solidFill>
                  <a:srgbClr val="9AA4AF"/>
                </a:solidFill>
                <a:latin typeface="Calibri" pitchFamily="34" charset="0"/>
                <a:ea typeface="Calibri" pitchFamily="34" charset="-122"/>
                <a:cs typeface="Calibri" pitchFamily="34" charset="-120"/>
              </a:rPr>
              <a:t>TOTAL</a:t>
            </a:r>
            <a:endParaRPr lang="en-US" sz="850" dirty="0"/>
          </a:p>
        </p:txBody>
      </p:sp>
      <p:sp>
        <p:nvSpPr>
          <p:cNvPr id="8" name="Text 6"/>
          <p:cNvSpPr/>
          <p:nvPr/>
        </p:nvSpPr>
        <p:spPr>
          <a:xfrm>
            <a:off x="8680760" y="1545336"/>
            <a:ext cx="1318498" cy="256032"/>
          </a:xfrm>
          <a:prstGeom prst="rect">
            <a:avLst/>
          </a:prstGeom>
          <a:noFill/>
          <a:ln/>
        </p:spPr>
        <p:txBody>
          <a:bodyPr wrap="square" lIns="0" tIns="0" rIns="0" bIns="0" rtlCol="0" anchor="ctr"/>
          <a:lstStyle/>
          <a:p>
            <a:pPr algn="ctr" indent="0" marL="0">
              <a:buNone/>
            </a:pPr>
            <a:r>
              <a:rPr lang="en-US" sz="850" b="1" spc="100" kern="0" dirty="0">
                <a:solidFill>
                  <a:srgbClr val="9AA4AF"/>
                </a:solidFill>
                <a:latin typeface="Calibri" pitchFamily="34" charset="0"/>
                <a:ea typeface="Calibri" pitchFamily="34" charset="-122"/>
                <a:cs typeface="Calibri" pitchFamily="34" charset="-120"/>
              </a:rPr>
              <a:t>DEADLINE</a:t>
            </a:r>
            <a:endParaRPr lang="en-US" sz="850" dirty="0"/>
          </a:p>
        </p:txBody>
      </p:sp>
      <p:sp>
        <p:nvSpPr>
          <p:cNvPr id="9" name="Text 7"/>
          <p:cNvSpPr/>
          <p:nvPr/>
        </p:nvSpPr>
        <p:spPr>
          <a:xfrm>
            <a:off x="9999258" y="1545336"/>
            <a:ext cx="1622766" cy="256032"/>
          </a:xfrm>
          <a:prstGeom prst="rect">
            <a:avLst/>
          </a:prstGeom>
          <a:noFill/>
          <a:ln/>
        </p:spPr>
        <p:txBody>
          <a:bodyPr wrap="square" lIns="0" tIns="0" rIns="0" bIns="0" rtlCol="0" anchor="ctr"/>
          <a:lstStyle/>
          <a:p>
            <a:pPr algn="ctr" indent="0" marL="0">
              <a:buNone/>
            </a:pPr>
            <a:r>
              <a:rPr lang="en-US" sz="850" b="1" spc="100" kern="0" dirty="0">
                <a:solidFill>
                  <a:srgbClr val="9AA4AF"/>
                </a:solidFill>
                <a:latin typeface="Calibri" pitchFamily="34" charset="0"/>
                <a:ea typeface="Calibri" pitchFamily="34" charset="-122"/>
                <a:cs typeface="Calibri" pitchFamily="34" charset="-120"/>
              </a:rPr>
              <a:t>STATUS</a:t>
            </a:r>
            <a:endParaRPr lang="en-US" sz="850" dirty="0"/>
          </a:p>
        </p:txBody>
      </p:sp>
      <p:sp>
        <p:nvSpPr>
          <p:cNvPr id="10" name="Shape 8"/>
          <p:cNvSpPr/>
          <p:nvPr/>
        </p:nvSpPr>
        <p:spPr>
          <a:xfrm>
            <a:off x="566928" y="1819656"/>
            <a:ext cx="11055096" cy="329184"/>
          </a:xfrm>
          <a:prstGeom prst="rect">
            <a:avLst/>
          </a:prstGeom>
          <a:solidFill>
            <a:srgbClr val="1C2128"/>
          </a:solidFill>
          <a:ln w="6350">
            <a:solidFill>
              <a:srgbClr val="30363D"/>
            </a:solidFill>
            <a:prstDash val="solid"/>
          </a:ln>
        </p:spPr>
        <p:txBody>
          <a:bodyPr/>
          <a:p/>
        </p:txBody>
      </p:sp>
      <p:sp>
        <p:nvSpPr>
          <p:cNvPr id="11" name="Text 9"/>
          <p:cNvSpPr/>
          <p:nvPr/>
        </p:nvSpPr>
        <p:spPr>
          <a:xfrm>
            <a:off x="621792" y="1819656"/>
            <a:ext cx="1918730"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SHIC-CE-2026-0042</a:t>
            </a:r>
            <a:endParaRPr lang="en-US" sz="1050" dirty="0"/>
          </a:p>
        </p:txBody>
      </p:sp>
      <p:sp>
        <p:nvSpPr>
          <p:cNvPr id="12" name="Text 10"/>
          <p:cNvSpPr/>
          <p:nvPr/>
        </p:nvSpPr>
        <p:spPr>
          <a:xfrm>
            <a:off x="2650250" y="1819656"/>
            <a:ext cx="1918730"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SEM-Calaca</a:t>
            </a:r>
            <a:endParaRPr lang="en-US" sz="1050" dirty="0"/>
          </a:p>
        </p:txBody>
      </p:sp>
      <p:sp>
        <p:nvSpPr>
          <p:cNvPr id="13" name="Text 11"/>
          <p:cNvSpPr/>
          <p:nvPr/>
        </p:nvSpPr>
        <p:spPr>
          <a:xfrm>
            <a:off x="4678708" y="1819656"/>
            <a:ext cx="2527267"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Turbine bearing rebabbitting</a:t>
            </a:r>
            <a:endParaRPr lang="en-US" sz="1050" dirty="0"/>
          </a:p>
        </p:txBody>
      </p:sp>
      <p:sp>
        <p:nvSpPr>
          <p:cNvPr id="14" name="Text 12"/>
          <p:cNvSpPr/>
          <p:nvPr/>
        </p:nvSpPr>
        <p:spPr>
          <a:xfrm>
            <a:off x="7315703" y="1819656"/>
            <a:ext cx="1310193" cy="329184"/>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₱60,509</a:t>
            </a:r>
            <a:endParaRPr lang="en-US" sz="1050" dirty="0"/>
          </a:p>
        </p:txBody>
      </p:sp>
      <p:sp>
        <p:nvSpPr>
          <p:cNvPr id="15" name="Text 13"/>
          <p:cNvSpPr/>
          <p:nvPr/>
        </p:nvSpPr>
        <p:spPr>
          <a:xfrm>
            <a:off x="8735624" y="1819656"/>
            <a:ext cx="1208770" cy="329184"/>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12 Mar</a:t>
            </a:r>
            <a:endParaRPr lang="en-US" sz="1050" dirty="0"/>
          </a:p>
        </p:txBody>
      </p:sp>
      <p:sp>
        <p:nvSpPr>
          <p:cNvPr id="16" name="Text 14"/>
          <p:cNvSpPr/>
          <p:nvPr/>
        </p:nvSpPr>
        <p:spPr>
          <a:xfrm>
            <a:off x="10054122" y="1819656"/>
            <a:ext cx="1513038" cy="329184"/>
          </a:xfrm>
          <a:prstGeom prst="rect">
            <a:avLst/>
          </a:prstGeom>
          <a:noFill/>
          <a:ln/>
        </p:spPr>
        <p:txBody>
          <a:bodyPr wrap="square" lIns="0" tIns="0" rIns="0" bIns="0" rtlCol="0" anchor="ctr"/>
          <a:lstStyle/>
          <a:p>
            <a:pPr algn="ctr" indent="0" marL="0">
              <a:buNone/>
            </a:pPr>
            <a:r>
              <a:rPr lang="en-US" sz="1050" b="1" dirty="0">
                <a:solidFill>
                  <a:srgbClr val="F0A429"/>
                </a:solidFill>
                <a:latin typeface="Calibri" pitchFamily="34" charset="0"/>
                <a:ea typeface="Calibri" pitchFamily="34" charset="-122"/>
                <a:cs typeface="Calibri" pitchFamily="34" charset="-120"/>
              </a:rPr>
              <a:t>FOR REVIEW</a:t>
            </a:r>
            <a:endParaRPr lang="en-US" sz="1050" dirty="0"/>
          </a:p>
        </p:txBody>
      </p:sp>
      <p:sp>
        <p:nvSpPr>
          <p:cNvPr id="17" name="Shape 15"/>
          <p:cNvSpPr/>
          <p:nvPr/>
        </p:nvSpPr>
        <p:spPr>
          <a:xfrm>
            <a:off x="566928" y="2148840"/>
            <a:ext cx="11055096" cy="329184"/>
          </a:xfrm>
          <a:prstGeom prst="rect">
            <a:avLst/>
          </a:prstGeom>
          <a:solidFill>
            <a:srgbClr val="161B22"/>
          </a:solidFill>
          <a:ln w="6350">
            <a:solidFill>
              <a:srgbClr val="30363D"/>
            </a:solidFill>
            <a:prstDash val="solid"/>
          </a:ln>
        </p:spPr>
        <p:txBody>
          <a:bodyPr/>
          <a:p/>
        </p:txBody>
      </p:sp>
      <p:sp>
        <p:nvSpPr>
          <p:cNvPr id="18" name="Text 16"/>
          <p:cNvSpPr/>
          <p:nvPr/>
        </p:nvSpPr>
        <p:spPr>
          <a:xfrm>
            <a:off x="621792" y="2148840"/>
            <a:ext cx="1918730"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SHIC-CE-2026-0041</a:t>
            </a:r>
            <a:endParaRPr lang="en-US" sz="1050" dirty="0"/>
          </a:p>
        </p:txBody>
      </p:sp>
      <p:sp>
        <p:nvSpPr>
          <p:cNvPr id="19" name="Text 17"/>
          <p:cNvSpPr/>
          <p:nvPr/>
        </p:nvSpPr>
        <p:spPr>
          <a:xfrm>
            <a:off x="2650250" y="2148840"/>
            <a:ext cx="1918730"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Masinloc</a:t>
            </a:r>
            <a:endParaRPr lang="en-US" sz="1050" dirty="0"/>
          </a:p>
        </p:txBody>
      </p:sp>
      <p:sp>
        <p:nvSpPr>
          <p:cNvPr id="20" name="Text 18"/>
          <p:cNvSpPr/>
          <p:nvPr/>
        </p:nvSpPr>
        <p:spPr>
          <a:xfrm>
            <a:off x="4678708" y="2148840"/>
            <a:ext cx="2527267"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Boiler tube replacement</a:t>
            </a:r>
            <a:endParaRPr lang="en-US" sz="1050" dirty="0"/>
          </a:p>
        </p:txBody>
      </p:sp>
      <p:sp>
        <p:nvSpPr>
          <p:cNvPr id="21" name="Text 19"/>
          <p:cNvSpPr/>
          <p:nvPr/>
        </p:nvSpPr>
        <p:spPr>
          <a:xfrm>
            <a:off x="7315703" y="2148840"/>
            <a:ext cx="1310193" cy="329184"/>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₱184,200</a:t>
            </a:r>
            <a:endParaRPr lang="en-US" sz="1050" dirty="0"/>
          </a:p>
        </p:txBody>
      </p:sp>
      <p:sp>
        <p:nvSpPr>
          <p:cNvPr id="22" name="Text 20"/>
          <p:cNvSpPr/>
          <p:nvPr/>
        </p:nvSpPr>
        <p:spPr>
          <a:xfrm>
            <a:off x="8735624" y="2148840"/>
            <a:ext cx="1208770" cy="329184"/>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08 Mar</a:t>
            </a:r>
            <a:endParaRPr lang="en-US" sz="1050" dirty="0"/>
          </a:p>
        </p:txBody>
      </p:sp>
      <p:sp>
        <p:nvSpPr>
          <p:cNvPr id="23" name="Text 21"/>
          <p:cNvSpPr/>
          <p:nvPr/>
        </p:nvSpPr>
        <p:spPr>
          <a:xfrm>
            <a:off x="10054122" y="2148840"/>
            <a:ext cx="1513038" cy="329184"/>
          </a:xfrm>
          <a:prstGeom prst="rect">
            <a:avLst/>
          </a:prstGeom>
          <a:noFill/>
          <a:ln/>
        </p:spPr>
        <p:txBody>
          <a:bodyPr wrap="square" lIns="0" tIns="0" rIns="0" bIns="0" rtlCol="0" anchor="ctr"/>
          <a:lstStyle/>
          <a:p>
            <a:pPr algn="ctr" indent="0" marL="0">
              <a:buNone/>
            </a:pPr>
            <a:r>
              <a:rPr lang="en-US" sz="1050" b="1" dirty="0">
                <a:solidFill>
                  <a:srgbClr val="3FB950"/>
                </a:solidFill>
                <a:latin typeface="Calibri" pitchFamily="34" charset="0"/>
                <a:ea typeface="Calibri" pitchFamily="34" charset="-122"/>
                <a:cs typeface="Calibri" pitchFamily="34" charset="-120"/>
              </a:rPr>
              <a:t>APPROVED</a:t>
            </a:r>
            <a:endParaRPr lang="en-US" sz="1050" dirty="0"/>
          </a:p>
        </p:txBody>
      </p:sp>
      <p:sp>
        <p:nvSpPr>
          <p:cNvPr id="24" name="Shape 22"/>
          <p:cNvSpPr/>
          <p:nvPr/>
        </p:nvSpPr>
        <p:spPr>
          <a:xfrm>
            <a:off x="566928" y="2478024"/>
            <a:ext cx="11055096" cy="329184"/>
          </a:xfrm>
          <a:prstGeom prst="rect">
            <a:avLst/>
          </a:prstGeom>
          <a:solidFill>
            <a:srgbClr val="1C2128"/>
          </a:solidFill>
          <a:ln w="6350">
            <a:solidFill>
              <a:srgbClr val="30363D"/>
            </a:solidFill>
            <a:prstDash val="solid"/>
          </a:ln>
        </p:spPr>
        <p:txBody>
          <a:bodyPr/>
          <a:p/>
        </p:txBody>
      </p:sp>
      <p:sp>
        <p:nvSpPr>
          <p:cNvPr id="25" name="Text 23"/>
          <p:cNvSpPr/>
          <p:nvPr/>
        </p:nvSpPr>
        <p:spPr>
          <a:xfrm>
            <a:off x="621792" y="2478024"/>
            <a:ext cx="1918730"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SHIC-CE-2026-0039</a:t>
            </a:r>
            <a:endParaRPr lang="en-US" sz="1050" dirty="0"/>
          </a:p>
        </p:txBody>
      </p:sp>
      <p:sp>
        <p:nvSpPr>
          <p:cNvPr id="26" name="Text 24"/>
          <p:cNvSpPr/>
          <p:nvPr/>
        </p:nvSpPr>
        <p:spPr>
          <a:xfrm>
            <a:off x="2650250" y="2478024"/>
            <a:ext cx="1918730"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Pagbilao</a:t>
            </a:r>
            <a:endParaRPr lang="en-US" sz="1050" dirty="0"/>
          </a:p>
        </p:txBody>
      </p:sp>
      <p:sp>
        <p:nvSpPr>
          <p:cNvPr id="27" name="Text 25"/>
          <p:cNvSpPr/>
          <p:nvPr/>
        </p:nvSpPr>
        <p:spPr>
          <a:xfrm>
            <a:off x="4678708" y="2478024"/>
            <a:ext cx="2527267" cy="329184"/>
          </a:xfrm>
          <a:prstGeom prst="rect">
            <a:avLst/>
          </a:prstGeom>
          <a:noFill/>
          <a:ln/>
        </p:spPr>
        <p:txBody>
          <a:bodyPr wrap="square" lIns="0" tIns="0" rIns="0" bIns="0" rtlCol="0" anchor="ctr"/>
          <a:lstStyle/>
          <a:p>
            <a:pPr algn="l" indent="0" marL="0">
              <a:buNone/>
            </a:pPr>
            <a:r>
              <a:rPr lang="en-US" sz="1050" dirty="0">
                <a:solidFill>
                  <a:srgbClr val="E6EDF3"/>
                </a:solidFill>
                <a:latin typeface="Calibri" pitchFamily="34" charset="0"/>
                <a:ea typeface="Calibri" pitchFamily="34" charset="-122"/>
                <a:cs typeface="Calibri" pitchFamily="34" charset="-120"/>
              </a:rPr>
              <a:t>Valve overhaul — 6 units</a:t>
            </a:r>
            <a:endParaRPr lang="en-US" sz="1050" dirty="0"/>
          </a:p>
        </p:txBody>
      </p:sp>
      <p:sp>
        <p:nvSpPr>
          <p:cNvPr id="28" name="Text 26"/>
          <p:cNvSpPr/>
          <p:nvPr/>
        </p:nvSpPr>
        <p:spPr>
          <a:xfrm>
            <a:off x="7315703" y="2478024"/>
            <a:ext cx="1310193" cy="329184"/>
          </a:xfrm>
          <a:prstGeom prst="rect">
            <a:avLst/>
          </a:prstGeom>
          <a:noFill/>
          <a:ln/>
        </p:spPr>
        <p:txBody>
          <a:bodyPr wrap="square" lIns="0" tIns="0" rIns="0" bIns="0" rtlCol="0" anchor="ctr"/>
          <a:lstStyle/>
          <a:p>
            <a:pPr algn="r" indent="0" marL="0">
              <a:buNone/>
            </a:pPr>
            <a:r>
              <a:rPr lang="en-US" sz="1050" dirty="0">
                <a:solidFill>
                  <a:srgbClr val="E6EDF3"/>
                </a:solidFill>
                <a:latin typeface="Calibri" pitchFamily="34" charset="0"/>
                <a:ea typeface="Calibri" pitchFamily="34" charset="-122"/>
                <a:cs typeface="Calibri" pitchFamily="34" charset="-120"/>
              </a:rPr>
              <a:t>₱97,850</a:t>
            </a:r>
            <a:endParaRPr lang="en-US" sz="1050" dirty="0"/>
          </a:p>
        </p:txBody>
      </p:sp>
      <p:sp>
        <p:nvSpPr>
          <p:cNvPr id="29" name="Text 27"/>
          <p:cNvSpPr/>
          <p:nvPr/>
        </p:nvSpPr>
        <p:spPr>
          <a:xfrm>
            <a:off x="8735624" y="2478024"/>
            <a:ext cx="1208770" cy="329184"/>
          </a:xfrm>
          <a:prstGeom prst="rect">
            <a:avLst/>
          </a:prstGeom>
          <a:noFill/>
          <a:ln/>
        </p:spPr>
        <p:txBody>
          <a:bodyPr wrap="square" lIns="0" tIns="0" rIns="0" bIns="0" rtlCol="0" anchor="ctr"/>
          <a:lstStyle/>
          <a:p>
            <a:pPr algn="ctr" indent="0" marL="0">
              <a:buNone/>
            </a:pPr>
            <a:r>
              <a:rPr lang="en-US" sz="1050" dirty="0">
                <a:solidFill>
                  <a:srgbClr val="E6EDF3"/>
                </a:solidFill>
                <a:latin typeface="Calibri" pitchFamily="34" charset="0"/>
                <a:ea typeface="Calibri" pitchFamily="34" charset="-122"/>
                <a:cs typeface="Calibri" pitchFamily="34" charset="-120"/>
              </a:rPr>
              <a:t>overdue</a:t>
            </a:r>
            <a:endParaRPr lang="en-US" sz="1050" dirty="0"/>
          </a:p>
        </p:txBody>
      </p:sp>
      <p:sp>
        <p:nvSpPr>
          <p:cNvPr id="30" name="Text 28"/>
          <p:cNvSpPr/>
          <p:nvPr/>
        </p:nvSpPr>
        <p:spPr>
          <a:xfrm>
            <a:off x="10054122" y="2478024"/>
            <a:ext cx="1513038" cy="329184"/>
          </a:xfrm>
          <a:prstGeom prst="rect">
            <a:avLst/>
          </a:prstGeom>
          <a:noFill/>
          <a:ln/>
        </p:spPr>
        <p:txBody>
          <a:bodyPr wrap="square" lIns="0" tIns="0" rIns="0" bIns="0" rtlCol="0" anchor="ctr"/>
          <a:lstStyle/>
          <a:p>
            <a:pPr algn="ctr" indent="0" marL="0">
              <a:buNone/>
            </a:pPr>
            <a:r>
              <a:rPr lang="en-US" sz="1050" b="1" dirty="0">
                <a:solidFill>
                  <a:srgbClr val="F85149"/>
                </a:solidFill>
                <a:latin typeface="Calibri" pitchFamily="34" charset="0"/>
                <a:ea typeface="Calibri" pitchFamily="34" charset="-122"/>
                <a:cs typeface="Calibri" pitchFamily="34" charset="-120"/>
              </a:rPr>
              <a:t>REVISED</a:t>
            </a:r>
            <a:endParaRPr lang="en-US" sz="1050" dirty="0"/>
          </a:p>
        </p:txBody>
      </p:sp>
      <p:sp>
        <p:nvSpPr>
          <p:cNvPr id="31" name="Shape 29"/>
          <p:cNvSpPr/>
          <p:nvPr/>
        </p:nvSpPr>
        <p:spPr>
          <a:xfrm>
            <a:off x="566928" y="3172968"/>
            <a:ext cx="5532120" cy="1133856"/>
          </a:xfrm>
          <a:prstGeom prst="roundRect">
            <a:avLst>
              <a:gd name="adj" fmla="val 645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2" name="Text 30"/>
          <p:cNvSpPr/>
          <p:nvPr/>
        </p:nvSpPr>
        <p:spPr>
          <a:xfrm>
            <a:off x="804672" y="3319272"/>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Status · Remarks · with history</a:t>
            </a:r>
            <a:endParaRPr lang="en-US" sz="1350" dirty="0"/>
          </a:p>
        </p:txBody>
      </p:sp>
      <p:sp>
        <p:nvSpPr>
          <p:cNvPr id="33" name="Text 31"/>
          <p:cNvSpPr/>
          <p:nvPr/>
        </p:nvSpPr>
        <p:spPr>
          <a:xfrm>
            <a:off x="804672" y="3630168"/>
            <a:ext cx="5074920" cy="603504"/>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 Status and 💬 Remarks each keep a trail: every change or remark, who and when; the column shows the latest. ✎ Edit covers customer, job title and dates.</a:t>
            </a:r>
            <a:endParaRPr lang="en-US" sz="1100" dirty="0"/>
          </a:p>
        </p:txBody>
      </p:sp>
      <p:sp>
        <p:nvSpPr>
          <p:cNvPr id="34" name="Shape 32"/>
          <p:cNvSpPr/>
          <p:nvPr/>
        </p:nvSpPr>
        <p:spPr>
          <a:xfrm>
            <a:off x="6309360" y="3172968"/>
            <a:ext cx="5532120" cy="1133856"/>
          </a:xfrm>
          <a:prstGeom prst="roundRect">
            <a:avLst>
              <a:gd name="adj" fmla="val 645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5" name="Text 33"/>
          <p:cNvSpPr/>
          <p:nvPr/>
        </p:nvSpPr>
        <p:spPr>
          <a:xfrm>
            <a:off x="6547104" y="3319272"/>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Deadlines</a:t>
            </a:r>
            <a:endParaRPr lang="en-US" sz="1350" dirty="0"/>
          </a:p>
        </p:txBody>
      </p:sp>
      <p:sp>
        <p:nvSpPr>
          <p:cNvPr id="36" name="Text 34"/>
          <p:cNvSpPr/>
          <p:nvPr/>
        </p:nvSpPr>
        <p:spPr>
          <a:xfrm>
            <a:off x="6547104" y="3630168"/>
            <a:ext cx="5074920" cy="603504"/>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Days-left turns red when a deadline passes, and stops counting once the CE is submitted. The list opens newest first by CE number — year, then sequence — not by when the row was typed.</a:t>
            </a:r>
            <a:endParaRPr lang="en-US" sz="1100" dirty="0"/>
          </a:p>
        </p:txBody>
      </p:sp>
      <p:sp>
        <p:nvSpPr>
          <p:cNvPr id="37" name="Shape 35"/>
          <p:cNvSpPr/>
          <p:nvPr/>
        </p:nvSpPr>
        <p:spPr>
          <a:xfrm>
            <a:off x="566928" y="4453128"/>
            <a:ext cx="5532120" cy="1133856"/>
          </a:xfrm>
          <a:prstGeom prst="roundRect">
            <a:avLst>
              <a:gd name="adj" fmla="val 645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38" name="Text 36"/>
          <p:cNvSpPr/>
          <p:nvPr/>
        </p:nvSpPr>
        <p:spPr>
          <a:xfrm>
            <a:off x="804672" y="4599432"/>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Load · 👁 View · 🖨 CE · ⬇ xlsx</a:t>
            </a:r>
            <a:endParaRPr lang="en-US" sz="1350" dirty="0"/>
          </a:p>
        </p:txBody>
      </p:sp>
      <p:sp>
        <p:nvSpPr>
          <p:cNvPr id="39" name="Text 37"/>
          <p:cNvSpPr/>
          <p:nvPr/>
        </p:nvSpPr>
        <p:spPr>
          <a:xfrm>
            <a:off x="804672" y="4910328"/>
            <a:ext cx="5074920" cy="603504"/>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Buttons are grouped by row: Status · Remarks · Assign, then View · Load · Edit, then CE · xlsx · 📎. 👁 View also works on drafts; ⬇ xlsx downloads without opening a tab. ✍ Awaiting my signature filters to CEs waiting on you.</a:t>
            </a:r>
            <a:endParaRPr lang="en-US" sz="1100" dirty="0"/>
          </a:p>
        </p:txBody>
      </p:sp>
      <p:sp>
        <p:nvSpPr>
          <p:cNvPr id="40" name="Shape 38"/>
          <p:cNvSpPr/>
          <p:nvPr/>
        </p:nvSpPr>
        <p:spPr>
          <a:xfrm>
            <a:off x="6309360" y="4453128"/>
            <a:ext cx="5532120" cy="1133856"/>
          </a:xfrm>
          <a:prstGeom prst="roundRect">
            <a:avLst>
              <a:gd name="adj" fmla="val 6452"/>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41" name="Text 39"/>
          <p:cNvSpPr/>
          <p:nvPr/>
        </p:nvSpPr>
        <p:spPr>
          <a:xfrm>
            <a:off x="6547104" y="4599432"/>
            <a:ext cx="502920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Revisions · Compare</a:t>
            </a:r>
            <a:endParaRPr lang="en-US" sz="1350" dirty="0"/>
          </a:p>
        </p:txBody>
      </p:sp>
      <p:sp>
        <p:nvSpPr>
          <p:cNvPr id="42" name="Text 40"/>
          <p:cNvSpPr/>
          <p:nvPr/>
        </p:nvSpPr>
        <p:spPr>
          <a:xfrm>
            <a:off x="6547104" y="4910328"/>
            <a:ext cx="5074920" cy="603504"/>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 CE is one row at its newest revision; "+2 rev" opens older ones. ⚖ Diff on a revision compares it with its base, section by section, Mob/Demob included.</a:t>
            </a:r>
            <a:endParaRPr lang="en-US" sz="1100" dirty="0"/>
          </a:p>
        </p:txBody>
      </p:sp>
      <p:sp>
        <p:nvSpPr>
          <p:cNvPr id="43" name="Text 41"/>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44" name="Text 42"/>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CE MONITORING · PART 2</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Finding work, and the files on it</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 list has grown filters, and the attachments on a CE now open. Who may delete has been tightened.</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Finding a CE</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Search matches CE and RCE number, customer and job title — filter by Discipline and by Customer beside it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Open work means work still in play: Approved, Submitted, Awarded, No Quote, Cancelled and Superseded count as closed, not open</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Days left stops counting the moment a CE is submitted, so work you have already sent no longer turns red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Co. is the issuing company from Project Info — it is not the costing engineer’s initials</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Attachments · who can delete</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on a row holds drawings, the TOR and client enquiries. They are stored on SharePoint, not in your browser</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Anyone who can see the CE can open its files. Links that used to fail now open the document in SharePoint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Only an admin or the owner can delete a CE, or one of its attachments. Your own unsaved draft is still yours to discard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If the panel cannot read the list it says so. It no longer reports "no attachments" when the real problem is a dropped sign-in</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CE MONITORING · STATUS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Statuses, in the order work moves</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 Status button offers them in this order. Open and closed decide what counts as work still in play.</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From request to award</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Pending → Waiting for Information → Draft → Ongoing</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Sourcing · For site Inspection · Revised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For Approval → Approved → Submitted → Awarded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Set aside: On Hold, No Quote, Cancelled, Superseded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Closed: Approved, Submitted, Awarded, No Quote, Cancelled and Superseded. Everything else is open</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What the printed CE says</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DRAFT for Pending, Waiting for Information, Draft and Sourcing</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REVISED for Ongoing and Revised; FOR REVIEW for For site Inspection and For Approval</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APPROVED for Approved, Submitted and Awarded; REJECTED for No Quote, Cancelled and Superseded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 Hold leaves the printed state as it is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declined request is set to No Quote</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CE MONITORING · REQUESTS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Log it, assign it, attach it</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A request goes on the list the day it arrives, so nothing is forgotten between receiving it and costing it.</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Logging a request</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Press + New Request. A request is filed under its RCE No.; it gets a CE number when accepted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RCE No. and Customer are required; add type, discipline, job title, dates and remarks. Assigning is optional</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Attach the TOR, drawings and client email on the form; they go up with the request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It shows as a Pending row badged REQUEST, with you as Received By</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Assign on any row hands it to someone else. Pick from the list</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Working on it</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Assigned to me shows your CEs and requests — including ones someone else logged for you</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Once accepted, Load the request, build the estimate and Save under the CE number it was given. Its files stay with it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Cost Estimation reviews each request first: see the next slide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Assigned to me matches your name, so a nickname typed in the Estimator field will not be found</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CE MONITORING · REQUESTS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Reviewing a request</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A request is filed under its RCE No. It gets its CE number when Cost Estimation accepts it.</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The Cost Estimation review</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logged request shows REQUEST and a green Review button</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Check items 1–13 of the RCE checklist against what Sales sent, and correct them</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Decide item 14: Proceed, Secure complete reference data first, or Decline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Proceed needs an estimator to assign and gives the request its CE number</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Secure returns it to the requestor with a note; Decline needs a reason and sets it to No Quote</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The requestor's side</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 New Request needs only the RCE No. and the customer; the checklist can be prefilled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Everything still missing is listed at once and outlined in red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Drawings, the TOR and a PO attach on the form and go up with the request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returned request shows RETURNED and an Update button: add what was missing and send it back</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Requestors read every CE, but only rows they raised can be changed</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ON SITE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Working without a connection</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 app is built to keep working on a plant site with no signal. Nothing you type is lost.</a:t>
            </a:r>
            <a:endParaRPr lang="en-US" sz="1400" dirty="0"/>
          </a:p>
        </p:txBody>
      </p:sp>
      <p:sp>
        <p:nvSpPr>
          <p:cNvPr id="5" name="Shape 3"/>
          <p:cNvSpPr/>
          <p:nvPr/>
        </p:nvSpPr>
        <p:spPr>
          <a:xfrm>
            <a:off x="566928" y="1911096"/>
            <a:ext cx="3566160" cy="2011680"/>
          </a:xfrm>
          <a:prstGeom prst="roundRect">
            <a:avLst>
              <a:gd name="adj" fmla="val 3636"/>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Shape 4"/>
          <p:cNvSpPr/>
          <p:nvPr/>
        </p:nvSpPr>
        <p:spPr>
          <a:xfrm>
            <a:off x="804672" y="2121408"/>
            <a:ext cx="420624" cy="420624"/>
          </a:xfrm>
          <a:prstGeom prst="ellipse">
            <a:avLst/>
          </a:prstGeom>
          <a:solidFill>
            <a:srgbClr val="3FB950"/>
          </a:solidFill>
          <a:ln w="12700">
            <a:solidFill>
              <a:srgbClr val="3FB950"/>
            </a:solidFill>
            <a:prstDash val="solid"/>
          </a:ln>
        </p:spPr>
        <p:txBody>
          <a:bodyPr/>
          <a:p/>
        </p:txBody>
      </p:sp>
      <p:sp>
        <p:nvSpPr>
          <p:cNvPr id="7" name="Text 5"/>
          <p:cNvSpPr/>
          <p:nvPr/>
        </p:nvSpPr>
        <p:spPr>
          <a:xfrm>
            <a:off x="804672" y="2121408"/>
            <a:ext cx="420624" cy="42062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804672" y="2670048"/>
            <a:ext cx="310896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You keep working</a:t>
            </a:r>
            <a:endParaRPr lang="en-US" sz="1400" dirty="0"/>
          </a:p>
        </p:txBody>
      </p:sp>
      <p:sp>
        <p:nvSpPr>
          <p:cNvPr id="9" name="Text 7"/>
          <p:cNvSpPr/>
          <p:nvPr/>
        </p:nvSpPr>
        <p:spPr>
          <a:xfrm>
            <a:off x="804672" y="3017520"/>
            <a:ext cx="3108960" cy="77724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Every tab still works. A pop-up says you are offline, so nobody works believing it reached the team. Rates and saved CEs are stored in this browser.</a:t>
            </a:r>
            <a:endParaRPr lang="en-US" sz="1100" dirty="0"/>
          </a:p>
        </p:txBody>
      </p:sp>
      <p:sp>
        <p:nvSpPr>
          <p:cNvPr id="10" name="Shape 8"/>
          <p:cNvSpPr/>
          <p:nvPr/>
        </p:nvSpPr>
        <p:spPr>
          <a:xfrm>
            <a:off x="4352544" y="1911096"/>
            <a:ext cx="3566160" cy="2011680"/>
          </a:xfrm>
          <a:prstGeom prst="roundRect">
            <a:avLst>
              <a:gd name="adj" fmla="val 3636"/>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1" name="Shape 9"/>
          <p:cNvSpPr/>
          <p:nvPr/>
        </p:nvSpPr>
        <p:spPr>
          <a:xfrm>
            <a:off x="4590288" y="2121408"/>
            <a:ext cx="420624" cy="420624"/>
          </a:xfrm>
          <a:prstGeom prst="ellipse">
            <a:avLst/>
          </a:prstGeom>
          <a:solidFill>
            <a:srgbClr val="F0A429"/>
          </a:solidFill>
          <a:ln w="12700">
            <a:solidFill>
              <a:srgbClr val="F0A429"/>
            </a:solidFill>
            <a:prstDash val="solid"/>
          </a:ln>
        </p:spPr>
        <p:txBody>
          <a:bodyPr/>
          <a:p/>
        </p:txBody>
      </p:sp>
      <p:sp>
        <p:nvSpPr>
          <p:cNvPr id="12" name="Text 10"/>
          <p:cNvSpPr/>
          <p:nvPr/>
        </p:nvSpPr>
        <p:spPr>
          <a:xfrm>
            <a:off x="4590288" y="2121408"/>
            <a:ext cx="420624" cy="42062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4590288" y="2670048"/>
            <a:ext cx="310896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Saved locally</a:t>
            </a:r>
            <a:endParaRPr lang="en-US" sz="1400" dirty="0"/>
          </a:p>
        </p:txBody>
      </p:sp>
      <p:sp>
        <p:nvSpPr>
          <p:cNvPr id="14" name="Text 12"/>
          <p:cNvSpPr/>
          <p:nvPr/>
        </p:nvSpPr>
        <p:spPr>
          <a:xfrm>
            <a:off x="4590288" y="3017520"/>
            <a:ext cx="3108960" cy="77724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 CE saved offline is marked "local only". It is safe — it simply has not reached SharePoint yet.</a:t>
            </a:r>
            <a:endParaRPr lang="en-US" sz="1100" dirty="0"/>
          </a:p>
        </p:txBody>
      </p:sp>
      <p:sp>
        <p:nvSpPr>
          <p:cNvPr id="15" name="Shape 13"/>
          <p:cNvSpPr/>
          <p:nvPr/>
        </p:nvSpPr>
        <p:spPr>
          <a:xfrm>
            <a:off x="8138160" y="1911096"/>
            <a:ext cx="3566160" cy="2011680"/>
          </a:xfrm>
          <a:prstGeom prst="roundRect">
            <a:avLst>
              <a:gd name="adj" fmla="val 3636"/>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6" name="Shape 14"/>
          <p:cNvSpPr/>
          <p:nvPr/>
        </p:nvSpPr>
        <p:spPr>
          <a:xfrm>
            <a:off x="8375904" y="2121408"/>
            <a:ext cx="420624" cy="420624"/>
          </a:xfrm>
          <a:prstGeom prst="ellipse">
            <a:avLst/>
          </a:prstGeom>
          <a:solidFill>
            <a:srgbClr val="58A6FF"/>
          </a:solidFill>
          <a:ln w="12700">
            <a:solidFill>
              <a:srgbClr val="58A6FF"/>
            </a:solidFill>
            <a:prstDash val="solid"/>
          </a:ln>
        </p:spPr>
        <p:txBody>
          <a:bodyPr/>
          <a:p/>
        </p:txBody>
      </p:sp>
      <p:sp>
        <p:nvSpPr>
          <p:cNvPr id="17" name="Text 15"/>
          <p:cNvSpPr/>
          <p:nvPr/>
        </p:nvSpPr>
        <p:spPr>
          <a:xfrm>
            <a:off x="8375904" y="2121408"/>
            <a:ext cx="420624" cy="420624"/>
          </a:xfrm>
          <a:prstGeom prst="rect">
            <a:avLst/>
          </a:prstGeom>
          <a:noFill/>
          <a:ln/>
        </p:spPr>
        <p:txBody>
          <a:bodyPr wrap="square" lIns="0" tIns="0" rIns="0" bIns="0" rtlCol="0" anchor="ctr"/>
          <a:lstStyle/>
          <a:p>
            <a:pPr algn="ctr" indent="0" marL="0">
              <a:buNone/>
            </a:pPr>
            <a:r>
              <a:rPr lang="en-US" sz="1300" b="1" dirty="0">
                <a:solidFill>
                  <a:srgbClr val="000000"/>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8375904" y="2670048"/>
            <a:ext cx="3108960" cy="310896"/>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Uploads on reconnect</a:t>
            </a:r>
            <a:endParaRPr lang="en-US" sz="1400" dirty="0"/>
          </a:p>
        </p:txBody>
      </p:sp>
      <p:sp>
        <p:nvSpPr>
          <p:cNvPr id="19" name="Text 17"/>
          <p:cNvSpPr/>
          <p:nvPr/>
        </p:nvSpPr>
        <p:spPr>
          <a:xfrm>
            <a:off x="8375904" y="3017520"/>
            <a:ext cx="3108960" cy="777240"/>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When the connection returns, the app uploads what is waiting and the mark clears.</a:t>
            </a:r>
            <a:endParaRPr lang="en-US" sz="1100" dirty="0"/>
          </a:p>
        </p:txBody>
      </p:sp>
      <p:sp>
        <p:nvSpPr>
          <p:cNvPr id="20" name="Shape 18"/>
          <p:cNvSpPr/>
          <p:nvPr/>
        </p:nvSpPr>
        <p:spPr>
          <a:xfrm>
            <a:off x="566928" y="4151376"/>
            <a:ext cx="11055096" cy="1417320"/>
          </a:xfrm>
          <a:prstGeom prst="roundRect">
            <a:avLst>
              <a:gd name="adj" fmla="val 5161"/>
            </a:avLst>
          </a:prstGeom>
          <a:solidFill>
            <a:srgbClr val="2A1616"/>
          </a:solidFill>
          <a:ln w="12700">
            <a:solidFill>
              <a:srgbClr val="5C2020"/>
            </a:solidFill>
            <a:prstDash val="solid"/>
          </a:ln>
          <a:effectLst>
            <a:outerShdw sx="100000" sy="100000" kx="0" ky="0" algn="bl" rotWithShape="0" blurRad="152400" dist="38100" dir="5400000">
              <a:srgbClr val="000000">
                <a:alpha val="45000"/>
              </a:srgbClr>
            </a:outerShdw>
          </a:effectLst>
        </p:spPr>
        <p:txBody>
          <a:bodyPr/>
          <a:p/>
        </p:txBody>
      </p:sp>
      <p:sp>
        <p:nvSpPr>
          <p:cNvPr id="21" name="Text 19"/>
          <p:cNvSpPr/>
          <p:nvPr/>
        </p:nvSpPr>
        <p:spPr>
          <a:xfrm>
            <a:off x="841248" y="4315968"/>
            <a:ext cx="6400800" cy="292608"/>
          </a:xfrm>
          <a:prstGeom prst="rect">
            <a:avLst/>
          </a:prstGeom>
          <a:noFill/>
          <a:ln/>
        </p:spPr>
        <p:txBody>
          <a:bodyPr wrap="square" lIns="0" tIns="0" rIns="0" bIns="0" rtlCol="0" anchor="ctr"/>
          <a:lstStyle/>
          <a:p>
            <a:pPr indent="0" marL="0">
              <a:buNone/>
            </a:pPr>
            <a:r>
              <a:rPr lang="en-US" sz="1400" b="1" dirty="0">
                <a:solidFill>
                  <a:srgbClr val="F85149"/>
                </a:solidFill>
                <a:latin typeface="Arial" pitchFamily="34" charset="0"/>
                <a:ea typeface="Arial" pitchFamily="34" charset="-122"/>
                <a:cs typeface="Arial" pitchFamily="34" charset="-120"/>
              </a:rPr>
              <a:t>Two things genuinely need a connection</a:t>
            </a:r>
            <a:endParaRPr lang="en-US" sz="1400" dirty="0"/>
          </a:p>
        </p:txBody>
      </p:sp>
      <p:sp>
        <p:nvSpPr>
          <p:cNvPr id="22" name="Text 20"/>
          <p:cNvSpPr/>
          <p:nvPr/>
        </p:nvSpPr>
        <p:spPr>
          <a:xfrm>
            <a:off x="841248" y="4663440"/>
            <a:ext cx="10515600" cy="731520"/>
          </a:xfrm>
          <a:prstGeom prst="rect">
            <a:avLst/>
          </a:prstGeom>
          <a:noFill/>
          <a:ln/>
        </p:spPr>
        <p:txBody>
          <a:bodyPr wrap="square" lIns="0" tIns="0" rIns="0" bIns="0" rtlCol="0" anchor="ctr"/>
          <a:lstStyle/>
          <a:p>
            <a:pPr indent="0" marL="0">
              <a:lnSpc>
                <a:spcPts val="1600"/>
              </a:lnSpc>
              <a:buNone/>
            </a:pPr>
            <a:r>
              <a:rPr lang="en-US" sz="1200" dirty="0">
                <a:solidFill>
                  <a:srgbClr val="E6EDF3"/>
                </a:solidFill>
                <a:latin typeface="Calibri" pitchFamily="34" charset="0"/>
                <a:ea typeface="Calibri" pitchFamily="34" charset="-122"/>
                <a:cs typeface="Calibri" pitchFamily="34" charset="-120"/>
              </a:rPr>
              <a:t>Requesting an account and changing your password. Both are handled centrally, so they cannot be queued for later. Everything else — building, saving and printing a CE — works offline.</a:t>
            </a:r>
            <a:endParaRPr lang="en-US" sz="1200" dirty="0"/>
          </a:p>
        </p:txBody>
      </p:sp>
      <p:sp>
        <p:nvSpPr>
          <p:cNvPr id="23" name="Text 21"/>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24" name="Text 22"/>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37</a:t>
            </a:r>
            <a:endParaRPr lang="en-US" sz="900" dirty="0"/>
          </a:p>
        </p:txBody>
      </p:sp>
      <p:sp>
        <p:nvSpPr>
          <p:cNvPr id="21" name="Text 19"/>
          <p:cNvSpPr/>
          <p:nvPr/>
        </p:nvSpPr>
        <p:spPr>
          <a:xfrm>
            <a:off x="841248" y="5669280"/>
            <a:ext cx="6400800" cy="292608"/>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Reading the sync bar</a:t>
            </a:r>
            <a:endParaRPr lang="en-US" sz="1400" dirty="0"/>
          </a:p>
        </p:txBody>
      </p:sp>
      <p:sp>
        <p:nvSpPr>
          <p:cNvPr id="22" name="Text 20"/>
          <p:cNvSpPr/>
          <p:nvPr/>
        </p:nvSpPr>
        <p:spPr>
          <a:xfrm>
            <a:off x="841248" y="5943600"/>
            <a:ext cx="10515600" cy="457200"/>
          </a:xfrm>
          <a:prstGeom prst="rect">
            <a:avLst/>
          </a:prstGeom>
          <a:noFill/>
          <a:ln/>
        </p:spPr>
        <p:txBody>
          <a:bodyPr wrap="square" lIns="0" tIns="0" rIns="0" bIns="0" rtlCol="0" anchor="ctr"/>
          <a:lstStyle/>
          <a:p>
            <a:pPr indent="0" marL="0">
              <a:lnSpc>
                <a:spcPts val="1600"/>
              </a:lnSpc>
              <a:buNone/>
            </a:pPr>
            <a:r>
              <a:rPr lang="en-US" sz="1100" dirty="0">
                <a:solidFill>
                  <a:srgbClr val="E6EDF3"/>
                </a:solidFill>
                <a:latin typeface="Calibri" pitchFamily="34" charset="0"/>
                <a:ea typeface="Calibri" pitchFamily="34" charset="-122"/>
                <a:cs typeface="Calibri" pitchFamily="34" charset="-120"/>
              </a:rPr>
              <a:t>✓ green is in step with SharePoint. ↻ syncing… is fetching now. ⚠ this device only means SharePoint did not answer and you are seeing this browser’s copy — press ⟳. ✗ sync failed needs a retry or your admin.</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9">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TROUBLESHOOTING</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Messages you may see</a:t>
            </a:r>
            <a:endParaRPr lang="en-US" sz="3200" dirty="0"/>
          </a:p>
        </p:txBody>
      </p:sp>
      <p:sp>
        <p:nvSpPr>
          <p:cNvPr id="4" name="Shape 2"/>
          <p:cNvSpPr/>
          <p:nvPr/>
        </p:nvSpPr>
        <p:spPr>
          <a:xfrm>
            <a:off x="566928" y="1408176"/>
            <a:ext cx="11055096" cy="822960"/>
          </a:xfrm>
          <a:prstGeom prst="roundRect">
            <a:avLst>
              <a:gd name="adj" fmla="val 800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5" name="Shape 3"/>
          <p:cNvSpPr/>
          <p:nvPr/>
        </p:nvSpPr>
        <p:spPr>
          <a:xfrm>
            <a:off x="822960" y="1655064"/>
            <a:ext cx="310896" cy="310896"/>
          </a:xfrm>
          <a:prstGeom prst="ellipse">
            <a:avLst/>
          </a:prstGeom>
          <a:solidFill>
            <a:srgbClr val="F0A429"/>
          </a:solidFill>
          <a:ln w="12700">
            <a:solidFill>
              <a:srgbClr val="F0A429"/>
            </a:solidFill>
            <a:prstDash val="solid"/>
          </a:ln>
        </p:spPr>
        <p:txBody>
          <a:bodyPr/>
          <a:p/>
        </p:txBody>
      </p:sp>
      <p:sp>
        <p:nvSpPr>
          <p:cNvPr id="6" name="Text 4"/>
          <p:cNvSpPr/>
          <p:nvPr/>
        </p:nvSpPr>
        <p:spPr>
          <a:xfrm>
            <a:off x="1280160" y="1472184"/>
            <a:ext cx="3840480" cy="310896"/>
          </a:xfrm>
          <a:prstGeom prst="rect">
            <a:avLst/>
          </a:prstGeom>
          <a:noFill/>
          <a:ln/>
        </p:spPr>
        <p:txBody>
          <a:bodyPr wrap="square" lIns="0" tIns="0" rIns="0" bIns="0" rtlCol="0" anchor="ctr"/>
          <a:lstStyle/>
          <a:p>
            <a:pPr indent="0" marL="0">
              <a:buNone/>
            </a:pPr>
            <a:r>
              <a:rPr lang="en-US" sz="1350" b="1" dirty="0">
                <a:solidFill>
                  <a:srgbClr val="F0A429"/>
                </a:solidFill>
                <a:latin typeface="Arial" pitchFamily="34" charset="0"/>
                <a:ea typeface="Arial" pitchFamily="34" charset="-122"/>
                <a:cs typeface="Arial" pitchFamily="34" charset="-120"/>
              </a:rPr>
              <a:t>SharePoint session expired</a:t>
            </a:r>
            <a:endParaRPr lang="en-US" sz="1350" dirty="0"/>
          </a:p>
        </p:txBody>
      </p:sp>
      <p:sp>
        <p:nvSpPr>
          <p:cNvPr id="7" name="Text 5"/>
          <p:cNvSpPr/>
          <p:nvPr/>
        </p:nvSpPr>
        <p:spPr>
          <a:xfrm>
            <a:off x="1280160" y="1801368"/>
            <a:ext cx="4663440" cy="402336"/>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Your sign-in timed out. Work is kept on this device.</a:t>
            </a:r>
            <a:endParaRPr lang="en-US" sz="1100" dirty="0"/>
          </a:p>
        </p:txBody>
      </p:sp>
      <p:sp>
        <p:nvSpPr>
          <p:cNvPr id="8" name="Text 6"/>
          <p:cNvSpPr/>
          <p:nvPr/>
        </p:nvSpPr>
        <p:spPr>
          <a:xfrm>
            <a:off x="6236208" y="1472184"/>
            <a:ext cx="5120640" cy="731520"/>
          </a:xfrm>
          <a:prstGeom prst="rect">
            <a:avLst/>
          </a:prstGeom>
          <a:noFill/>
          <a:ln/>
        </p:spPr>
        <p:txBody>
          <a:bodyPr wrap="square" lIns="0" tIns="0" rIns="0" bIns="0" rtlCol="0" anchor="ctr"/>
          <a:lstStyle/>
          <a:p>
            <a:pPr indent="0" marL="0">
              <a:lnSpc>
                <a:spcPts val="1500"/>
              </a:lnSpc>
              <a:buNone/>
            </a:pPr>
            <a:r>
              <a:rPr lang="en-US" sz="1150" dirty="0">
                <a:solidFill>
                  <a:srgbClr val="E6EDF3"/>
                </a:solidFill>
                <a:latin typeface="Calibri" pitchFamily="34" charset="0"/>
                <a:ea typeface="Calibri" pitchFamily="34" charset="-122"/>
                <a:cs typeface="Calibri" pitchFamily="34" charset="-120"/>
              </a:rPr>
              <a:t>A pop-up offers Sign in to Microsoft; later, use ⚠ Sign in to Microsoft in the top bar.</a:t>
            </a:r>
            <a:endParaRPr lang="en-US" sz="1150" dirty="0"/>
          </a:p>
        </p:txBody>
      </p:sp>
      <p:sp>
        <p:nvSpPr>
          <p:cNvPr id="9" name="Shape 7"/>
          <p:cNvSpPr/>
          <p:nvPr/>
        </p:nvSpPr>
        <p:spPr>
          <a:xfrm>
            <a:off x="566928" y="2359152"/>
            <a:ext cx="11055096" cy="822960"/>
          </a:xfrm>
          <a:prstGeom prst="roundRect">
            <a:avLst>
              <a:gd name="adj" fmla="val 800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0" name="Shape 8"/>
          <p:cNvSpPr/>
          <p:nvPr/>
        </p:nvSpPr>
        <p:spPr>
          <a:xfrm>
            <a:off x="822960" y="2606040"/>
            <a:ext cx="310896" cy="310896"/>
          </a:xfrm>
          <a:prstGeom prst="ellipse">
            <a:avLst/>
          </a:prstGeom>
          <a:solidFill>
            <a:srgbClr val="F85149"/>
          </a:solidFill>
          <a:ln w="12700">
            <a:solidFill>
              <a:srgbClr val="F85149"/>
            </a:solidFill>
            <a:prstDash val="solid"/>
          </a:ln>
        </p:spPr>
        <p:txBody>
          <a:bodyPr/>
          <a:p/>
        </p:txBody>
      </p:sp>
      <p:sp>
        <p:nvSpPr>
          <p:cNvPr id="11" name="Text 9"/>
          <p:cNvSpPr/>
          <p:nvPr/>
        </p:nvSpPr>
        <p:spPr>
          <a:xfrm>
            <a:off x="1280160" y="2423160"/>
            <a:ext cx="3840480" cy="310896"/>
          </a:xfrm>
          <a:prstGeom prst="rect">
            <a:avLst/>
          </a:prstGeom>
          <a:noFill/>
          <a:ln/>
        </p:spPr>
        <p:txBody>
          <a:bodyPr wrap="square" lIns="0" tIns="0" rIns="0" bIns="0" rtlCol="0" anchor="ctr"/>
          <a:lstStyle/>
          <a:p>
            <a:pPr indent="0" marL="0">
              <a:buNone/>
            </a:pPr>
            <a:r>
              <a:rPr lang="en-US" sz="1350" b="1" dirty="0">
                <a:solidFill>
                  <a:srgbClr val="F85149"/>
                </a:solidFill>
                <a:latin typeface="Arial" pitchFamily="34" charset="0"/>
                <a:ea typeface="Arial" pitchFamily="34" charset="-122"/>
                <a:cs typeface="Arial" pitchFamily="34" charset="-120"/>
              </a:rPr>
              <a:t>SharePoint denied access</a:t>
            </a:r>
            <a:endParaRPr lang="en-US" sz="1350" dirty="0"/>
          </a:p>
        </p:txBody>
      </p:sp>
      <p:sp>
        <p:nvSpPr>
          <p:cNvPr id="12" name="Text 10"/>
          <p:cNvSpPr/>
          <p:nvPr/>
        </p:nvSpPr>
        <p:spPr>
          <a:xfrm>
            <a:off x="1280160" y="2752344"/>
            <a:ext cx="4663440" cy="402336"/>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Your account cannot use one of the lists, so changes are not reaching the team.</a:t>
            </a:r>
            <a:endParaRPr lang="en-US" sz="1100" dirty="0"/>
          </a:p>
        </p:txBody>
      </p:sp>
      <p:sp>
        <p:nvSpPr>
          <p:cNvPr id="13" name="Text 11"/>
          <p:cNvSpPr/>
          <p:nvPr/>
        </p:nvSpPr>
        <p:spPr>
          <a:xfrm>
            <a:off x="6236208" y="2423160"/>
            <a:ext cx="5120640" cy="731520"/>
          </a:xfrm>
          <a:prstGeom prst="rect">
            <a:avLst/>
          </a:prstGeom>
          <a:noFill/>
          <a:ln/>
        </p:spPr>
        <p:txBody>
          <a:bodyPr wrap="square" lIns="0" tIns="0" rIns="0" bIns="0" rtlCol="0" anchor="ctr"/>
          <a:lstStyle/>
          <a:p>
            <a:pPr indent="0" marL="0">
              <a:lnSpc>
                <a:spcPts val="1500"/>
              </a:lnSpc>
              <a:buNone/>
            </a:pPr>
            <a:r>
              <a:rPr lang="en-US" sz="1150" dirty="0">
                <a:solidFill>
                  <a:srgbClr val="E6EDF3"/>
                </a:solidFill>
                <a:latin typeface="Calibri" pitchFamily="34" charset="0"/>
                <a:ea typeface="Calibri" pitchFamily="34" charset="-122"/>
                <a:cs typeface="Calibri" pitchFamily="34" charset="-120"/>
              </a:rPr>
              <a:t>Signing in again will NOT help. Send the message to your admin — they must grant access.</a:t>
            </a:r>
            <a:endParaRPr lang="en-US" sz="1150" dirty="0"/>
          </a:p>
        </p:txBody>
      </p:sp>
      <p:sp>
        <p:nvSpPr>
          <p:cNvPr id="14" name="Shape 12"/>
          <p:cNvSpPr/>
          <p:nvPr/>
        </p:nvSpPr>
        <p:spPr>
          <a:xfrm>
            <a:off x="566928" y="3310128"/>
            <a:ext cx="11055096" cy="822960"/>
          </a:xfrm>
          <a:prstGeom prst="roundRect">
            <a:avLst>
              <a:gd name="adj" fmla="val 800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5" name="Shape 13"/>
          <p:cNvSpPr/>
          <p:nvPr/>
        </p:nvSpPr>
        <p:spPr>
          <a:xfrm>
            <a:off x="822960" y="3557016"/>
            <a:ext cx="310896" cy="310896"/>
          </a:xfrm>
          <a:prstGeom prst="ellipse">
            <a:avLst/>
          </a:prstGeom>
          <a:solidFill>
            <a:srgbClr val="F85149"/>
          </a:solidFill>
          <a:ln w="12700">
            <a:solidFill>
              <a:srgbClr val="F85149"/>
            </a:solidFill>
            <a:prstDash val="solid"/>
          </a:ln>
        </p:spPr>
        <p:txBody>
          <a:bodyPr/>
          <a:p/>
        </p:txBody>
      </p:sp>
      <p:sp>
        <p:nvSpPr>
          <p:cNvPr id="16" name="Text 14"/>
          <p:cNvSpPr/>
          <p:nvPr/>
        </p:nvSpPr>
        <p:spPr>
          <a:xfrm>
            <a:off x="1280160" y="3374136"/>
            <a:ext cx="3840480" cy="310896"/>
          </a:xfrm>
          <a:prstGeom prst="rect">
            <a:avLst/>
          </a:prstGeom>
          <a:noFill/>
          <a:ln/>
        </p:spPr>
        <p:txBody>
          <a:bodyPr wrap="square" lIns="0" tIns="0" rIns="0" bIns="0" rtlCol="0" anchor="ctr"/>
          <a:lstStyle/>
          <a:p>
            <a:pPr indent="0" marL="0">
              <a:buNone/>
            </a:pPr>
            <a:r>
              <a:rPr lang="en-US" sz="1350" b="1" dirty="0">
                <a:solidFill>
                  <a:srgbClr val="F85149"/>
                </a:solidFill>
                <a:latin typeface="Arial" pitchFamily="34" charset="0"/>
                <a:ea typeface="Arial" pitchFamily="34" charset="-122"/>
                <a:cs typeface="Arial" pitchFamily="34" charset="-120"/>
              </a:rPr>
              <a:t>⚠ Bulk upload mode</a:t>
            </a:r>
            <a:endParaRPr lang="en-US" sz="1350" dirty="0"/>
          </a:p>
        </p:txBody>
      </p:sp>
      <p:sp>
        <p:nvSpPr>
          <p:cNvPr id="17" name="Text 15"/>
          <p:cNvSpPr/>
          <p:nvPr/>
        </p:nvSpPr>
        <p:spPr>
          <a:xfrm>
            <a:off x="1280160" y="3703320"/>
            <a:ext cx="4663440" cy="402336"/>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An admin switched off duplicate-number protection to load old CEs.</a:t>
            </a:r>
            <a:endParaRPr lang="en-US" sz="1100" dirty="0"/>
          </a:p>
        </p:txBody>
      </p:sp>
      <p:sp>
        <p:nvSpPr>
          <p:cNvPr id="18" name="Text 16"/>
          <p:cNvSpPr/>
          <p:nvPr/>
        </p:nvSpPr>
        <p:spPr>
          <a:xfrm>
            <a:off x="6236208" y="3374136"/>
            <a:ext cx="5120640" cy="731520"/>
          </a:xfrm>
          <a:prstGeom prst="rect">
            <a:avLst/>
          </a:prstGeom>
          <a:noFill/>
          <a:ln/>
        </p:spPr>
        <p:txBody>
          <a:bodyPr wrap="square" lIns="0" tIns="0" rIns="0" bIns="0" rtlCol="0" anchor="ctr"/>
          <a:lstStyle/>
          <a:p>
            <a:pPr indent="0" marL="0">
              <a:lnSpc>
                <a:spcPts val="1500"/>
              </a:lnSpc>
              <a:buNone/>
            </a:pPr>
            <a:r>
              <a:rPr lang="en-US" sz="1150" dirty="0">
                <a:solidFill>
                  <a:srgbClr val="E6EDF3"/>
                </a:solidFill>
                <a:latin typeface="Calibri" pitchFamily="34" charset="0"/>
                <a:ea typeface="Calibri" pitchFamily="34" charset="-122"/>
                <a:cs typeface="Calibri" pitchFamily="34" charset="-120"/>
              </a:rPr>
              <a:t>While it shows, saving an existing CE Number overwrites that CE. Take care.</a:t>
            </a:r>
            <a:endParaRPr lang="en-US" sz="1150" dirty="0"/>
          </a:p>
        </p:txBody>
      </p:sp>
      <p:sp>
        <p:nvSpPr>
          <p:cNvPr id="19" name="Shape 17"/>
          <p:cNvSpPr/>
          <p:nvPr/>
        </p:nvSpPr>
        <p:spPr>
          <a:xfrm>
            <a:off x="566928" y="4261104"/>
            <a:ext cx="11055096" cy="822960"/>
          </a:xfrm>
          <a:prstGeom prst="roundRect">
            <a:avLst>
              <a:gd name="adj" fmla="val 8000"/>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0" name="Shape 18"/>
          <p:cNvSpPr/>
          <p:nvPr/>
        </p:nvSpPr>
        <p:spPr>
          <a:xfrm>
            <a:off x="822960" y="4507992"/>
            <a:ext cx="310896" cy="310896"/>
          </a:xfrm>
          <a:prstGeom prst="ellipse">
            <a:avLst/>
          </a:prstGeom>
          <a:solidFill>
            <a:srgbClr val="58A6FF"/>
          </a:solidFill>
          <a:ln w="12700">
            <a:solidFill>
              <a:srgbClr val="58A6FF"/>
            </a:solidFill>
            <a:prstDash val="solid"/>
          </a:ln>
        </p:spPr>
        <p:txBody>
          <a:bodyPr/>
          <a:p/>
        </p:txBody>
      </p:sp>
      <p:sp>
        <p:nvSpPr>
          <p:cNvPr id="21" name="Text 19"/>
          <p:cNvSpPr/>
          <p:nvPr/>
        </p:nvSpPr>
        <p:spPr>
          <a:xfrm>
            <a:off x="1280160" y="4325112"/>
            <a:ext cx="3840480" cy="310896"/>
          </a:xfrm>
          <a:prstGeom prst="rect">
            <a:avLst/>
          </a:prstGeom>
          <a:noFill/>
          <a:ln/>
        </p:spPr>
        <p:txBody>
          <a:bodyPr wrap="square" lIns="0" tIns="0" rIns="0" bIns="0" rtlCol="0" anchor="ctr"/>
          <a:lstStyle/>
          <a:p>
            <a:pPr indent="0" marL="0">
              <a:buNone/>
            </a:pPr>
            <a:r>
              <a:rPr lang="en-US" sz="1350" b="1" dirty="0">
                <a:solidFill>
                  <a:srgbClr val="58A6FF"/>
                </a:solidFill>
                <a:latin typeface="Arial" pitchFamily="34" charset="0"/>
                <a:ea typeface="Arial" pitchFamily="34" charset="-122"/>
                <a:cs typeface="Arial" pitchFamily="34" charset="-120"/>
              </a:rPr>
              <a:t>⚠ Saved to THIS BROWSER only</a:t>
            </a:r>
            <a:endParaRPr lang="en-US" sz="1350" dirty="0"/>
          </a:p>
        </p:txBody>
      </p:sp>
      <p:sp>
        <p:nvSpPr>
          <p:cNvPr id="22" name="Text 20"/>
          <p:cNvSpPr/>
          <p:nvPr/>
        </p:nvSpPr>
        <p:spPr>
          <a:xfrm>
            <a:off x="1280160" y="4654296"/>
            <a:ext cx="4663440" cy="402336"/>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The CE is safe here but has not reached SharePoint, so nobody else can open it.</a:t>
            </a:r>
            <a:endParaRPr lang="en-US" sz="1100" dirty="0"/>
          </a:p>
        </p:txBody>
      </p:sp>
      <p:sp>
        <p:nvSpPr>
          <p:cNvPr id="23" name="Text 21"/>
          <p:cNvSpPr/>
          <p:nvPr/>
        </p:nvSpPr>
        <p:spPr>
          <a:xfrm>
            <a:off x="6236208" y="4325112"/>
            <a:ext cx="5120640" cy="731520"/>
          </a:xfrm>
          <a:prstGeom prst="rect">
            <a:avLst/>
          </a:prstGeom>
          <a:noFill/>
          <a:ln/>
        </p:spPr>
        <p:txBody>
          <a:bodyPr wrap="square" lIns="0" tIns="0" rIns="0" bIns="0" rtlCol="0" anchor="ctr"/>
          <a:lstStyle/>
          <a:p>
            <a:pPr indent="0" marL="0">
              <a:lnSpc>
                <a:spcPts val="1500"/>
              </a:lnSpc>
              <a:buNone/>
            </a:pPr>
            <a:r>
              <a:rPr lang="en-US" sz="1150" dirty="0">
                <a:solidFill>
                  <a:srgbClr val="E6EDF3"/>
                </a:solidFill>
                <a:latin typeface="Calibri" pitchFamily="34" charset="0"/>
                <a:ea typeface="Calibri" pitchFamily="34" charset="-122"/>
                <a:cs typeface="Calibri" pitchFamily="34" charset="-120"/>
              </a:rPr>
              <a:t>Run Push All Local Data to SharePoint from the Users tab. "Save was interrupted" on opening: the saver does this, or saves it again.</a:t>
            </a:r>
            <a:endParaRPr lang="en-US" sz="1150" dirty="0"/>
          </a:p>
        </p:txBody>
      </p:sp>
      <p:sp>
        <p:nvSpPr>
          <p:cNvPr id="24" name="Shape 22"/>
          <p:cNvSpPr/>
          <p:nvPr/>
        </p:nvSpPr>
        <p:spPr>
          <a:xfrm>
            <a:off x="566928" y="5266944"/>
            <a:ext cx="11055096" cy="822960"/>
          </a:xfrm>
          <a:prstGeom prst="roundRect">
            <a:avLst>
              <a:gd name="adj" fmla="val 8000"/>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25" name="Text 23"/>
          <p:cNvSpPr/>
          <p:nvPr/>
        </p:nvSpPr>
        <p:spPr>
          <a:xfrm>
            <a:off x="1280160" y="5330952"/>
            <a:ext cx="3840480" cy="274320"/>
          </a:xfrm>
          <a:prstGeom prst="rect">
            <a:avLst/>
          </a:prstGeom>
          <a:noFill/>
          <a:ln/>
        </p:spPr>
        <p:txBody>
          <a:bodyPr wrap="square" lIns="0" tIns="0" rIns="0" bIns="0" rtlCol="0" anchor="ctr"/>
          <a:lstStyle/>
          <a:p>
            <a:pPr indent="0" marL="0">
              <a:buNone/>
            </a:pPr>
            <a:r>
              <a:rPr lang="en-US" sz="1350" b="1" dirty="0">
                <a:solidFill>
                  <a:srgbClr val="E6EDF3"/>
                </a:solidFill>
                <a:latin typeface="Arial" pitchFamily="34" charset="0"/>
                <a:ea typeface="Arial" pitchFamily="34" charset="-122"/>
                <a:cs typeface="Arial" pitchFamily="34" charset="-120"/>
              </a:rPr>
              <a:t>Toasts</a:t>
            </a:r>
            <a:endParaRPr lang="en-US" sz="1350" dirty="0"/>
          </a:p>
        </p:txBody>
      </p:sp>
      <p:sp>
        <p:nvSpPr>
          <p:cNvPr id="26" name="Shape 24"/>
          <p:cNvSpPr/>
          <p:nvPr/>
        </p:nvSpPr>
        <p:spPr>
          <a:xfrm>
            <a:off x="822960" y="5513832"/>
            <a:ext cx="310896" cy="310896"/>
          </a:xfrm>
          <a:prstGeom prst="ellipse">
            <a:avLst/>
          </a:prstGeom>
          <a:solidFill>
            <a:srgbClr val="9AA4AF"/>
          </a:solidFill>
          <a:ln w="12700">
            <a:solidFill>
              <a:srgbClr val="9AA4AF"/>
            </a:solidFill>
            <a:prstDash val="solid"/>
          </a:ln>
        </p:spPr>
        <p:txBody>
          <a:bodyPr/>
          <a:p/>
        </p:txBody>
      </p:sp>
      <p:sp>
        <p:nvSpPr>
          <p:cNvPr id="27" name="Text 25"/>
          <p:cNvSpPr/>
          <p:nvPr/>
        </p:nvSpPr>
        <p:spPr>
          <a:xfrm>
            <a:off x="1280160" y="5641848"/>
            <a:ext cx="4663440" cy="402336"/>
          </a:xfrm>
          <a:prstGeom prst="rect">
            <a:avLst/>
          </a:prstGeom>
          <a:noFill/>
          <a:ln/>
        </p:spPr>
        <p:txBody>
          <a:bodyPr wrap="square" lIns="0" tIns="0" rIns="0" bIns="0" rtlCol="0" anchor="ctr"/>
          <a:lstStyle/>
          <a:p>
            <a:pPr indent="0" marL="0">
              <a:lnSpc>
                <a:spcPts val="1400"/>
              </a:lnSpc>
              <a:buNone/>
            </a:pPr>
            <a:r>
              <a:rPr lang="en-US" sz="1100" dirty="0">
                <a:solidFill>
                  <a:srgbClr val="9AA4AF"/>
                </a:solidFill>
                <a:latin typeface="Calibri" pitchFamily="34" charset="0"/>
                <a:ea typeface="Calibri" pitchFamily="34" charset="-122"/>
                <a:cs typeface="Calibri" pitchFamily="34" charset="-120"/>
              </a:rPr>
              <a:t>Brief pop-ups at the bottom of the screen.</a:t>
            </a:r>
            <a:endParaRPr lang="en-US" sz="1100" dirty="0"/>
          </a:p>
        </p:txBody>
      </p:sp>
      <p:sp>
        <p:nvSpPr>
          <p:cNvPr id="28" name="Text 26"/>
          <p:cNvSpPr/>
          <p:nvPr/>
        </p:nvSpPr>
        <p:spPr>
          <a:xfrm>
            <a:off x="6236208" y="5330952"/>
            <a:ext cx="5120640" cy="731520"/>
          </a:xfrm>
          <a:prstGeom prst="rect">
            <a:avLst/>
          </a:prstGeom>
          <a:noFill/>
          <a:ln/>
        </p:spPr>
        <p:txBody>
          <a:bodyPr wrap="square" lIns="0" tIns="0" rIns="0" bIns="0" rtlCol="0" anchor="ctr"/>
          <a:lstStyle/>
          <a:p>
            <a:pPr indent="0" marL="0">
              <a:lnSpc>
                <a:spcPts val="1500"/>
              </a:lnSpc>
              <a:buNone/>
            </a:pPr>
            <a:r>
              <a:rPr lang="en-US" sz="1150" dirty="0">
                <a:solidFill>
                  <a:srgbClr val="E6EDF3"/>
                </a:solidFill>
                <a:latin typeface="Calibri" pitchFamily="34" charset="0"/>
                <a:ea typeface="Calibri" pitchFamily="34" charset="-122"/>
                <a:cs typeface="Calibri" pitchFamily="34" charset="-120"/>
              </a:rPr>
              <a:t>They confirm a save or explain a refusal, then fade. "SharePoint is throttling this site" means too many requests at once — it clears itself; wait a minute and retry rather than pressing again.</a:t>
            </a:r>
            <a:endParaRPr lang="en-US" sz="1150" dirty="0"/>
          </a:p>
        </p:txBody>
      </p:sp>
      <p:sp>
        <p:nvSpPr>
          <p:cNvPr id="29" name="Text 27"/>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30" name="Text 28"/>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SCOPE LIBRARY · MASTERLIST</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Keeping the shared lists right</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These two lists are shared by everyone. A change here changes what every estimator sees next time.</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Scope Library</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One card per standard service. Click Edit to open it where it sits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A new service is added at the top, already open, with the next SY3 number</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Resources belong to a scope step, so applying the service files them against the right task</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Leave a manpower row's Days blank if that role is on site for the whole project; enter a number if it is only needed for its step</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Both lists: what a colleague added since you opened the page is kept when you save, and a message names it</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Masterlist</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The single source of rates for manpower, tools, materials and PPE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Tools also carry cost, life, maintenance and kW — 💲 works out the tier prices</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Download the template to bulk-upload rates, tier figures and Power (kW) included</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Changing a rate NEVER alters a CE already saved. Use ↺ Sync Rates on the CE you are requoting</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Every rate row shows what you charged for it before — click a past figure to adopt it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The red x asks first; deleted items go to 🗑 Trash for 30 days to Restore</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D1117"/>
        </a:solidFill>
      </p:bgPr>
    </p:bg>
    <p:spTree>
      <p:nvGrpSpPr>
        <p:cNvPr id="1" name=""/>
        <p:cNvGrpSpPr/>
        <p:nvPr/>
      </p:nvGrpSpPr>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MAKE IT YOURS</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Themes and backgrounds</a:t>
            </a:r>
            <a:endParaRPr lang="en-US" sz="3200" dirty="0"/>
          </a:p>
        </p:txBody>
      </p:sp>
      <p:sp>
        <p:nvSpPr>
          <p:cNvPr id="4" name="Text 2"/>
          <p:cNvSpPr/>
          <p:nvPr/>
        </p:nvSpPr>
        <p:spPr>
          <a:xfrm>
            <a:off x="566928" y="1298448"/>
            <a:ext cx="10972800" cy="365760"/>
          </a:xfrm>
          <a:prstGeom prst="rect">
            <a:avLst/>
          </a:prstGeom>
          <a:noFill/>
          <a:ln/>
        </p:spPr>
        <p:txBody>
          <a:bodyPr wrap="square" lIns="0" tIns="0" rIns="0" bIns="0" rtlCol="0" anchor="t"/>
          <a:lstStyle/>
          <a:p>
            <a:pPr algn="l" indent="0" marL="0">
              <a:lnSpc>
                <a:spcPts val="2000"/>
              </a:lnSpc>
              <a:buNone/>
            </a:pPr>
            <a:r>
              <a:rPr lang="en-US" sz="1400" dirty="0">
                <a:solidFill>
                  <a:srgbClr val="9AA4AF"/>
                </a:solidFill>
                <a:latin typeface="Calibri" pitchFamily="34" charset="0"/>
                <a:ea typeface="Calibri" pitchFamily="34" charset="-122"/>
                <a:cs typeface="Calibri" pitchFamily="34" charset="-120"/>
              </a:rPr>
              <a:t>Open the account menu (your initials, top right) and press 🎨. The choice is kept in your browser only; printed CEs and exports never change.</a:t>
            </a:r>
            <a:endParaRPr lang="en-US" sz="1400" dirty="0"/>
          </a:p>
        </p:txBody>
      </p:sp>
      <p:sp>
        <p:nvSpPr>
          <p:cNvPr id="5" name="Shape 3"/>
          <p:cNvSpPr/>
          <p:nvPr/>
        </p:nvSpPr>
        <p:spPr>
          <a:xfrm>
            <a:off x="566928" y="1911096"/>
            <a:ext cx="5532120"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6" name="Text 4"/>
          <p:cNvSpPr/>
          <p:nvPr/>
        </p:nvSpPr>
        <p:spPr>
          <a:xfrm>
            <a:off x="841248" y="2121408"/>
            <a:ext cx="4937760" cy="329184"/>
          </a:xfrm>
          <a:prstGeom prst="rect">
            <a:avLst/>
          </a:prstGeom>
          <a:noFill/>
          <a:ln/>
        </p:spPr>
        <p:txBody>
          <a:bodyPr wrap="square" lIns="0" tIns="0" rIns="0" bIns="0" rtlCol="0" anchor="ctr"/>
          <a:lstStyle/>
          <a:p>
            <a:pPr indent="0" marL="0">
              <a:buNone/>
            </a:pPr>
            <a:r>
              <a:rPr lang="en-US" sz="1700" b="1" dirty="0">
                <a:solidFill>
                  <a:srgbClr val="A78BFA"/>
                </a:solidFill>
                <a:latin typeface="Arial" pitchFamily="34" charset="0"/>
                <a:ea typeface="Arial" pitchFamily="34" charset="-122"/>
                <a:cs typeface="Arial" pitchFamily="34" charset="-120"/>
              </a:rPr>
              <a:t>Theme</a:t>
            </a:r>
            <a:endParaRPr lang="en-US" sz="1700" dirty="0"/>
          </a:p>
        </p:txBody>
      </p:sp>
      <p:sp>
        <p:nvSpPr>
          <p:cNvPr id="7" name="Text 5"/>
          <p:cNvSpPr/>
          <p:nvPr/>
        </p:nvSpPr>
        <p:spPr>
          <a:xfrm>
            <a:off x="841248" y="2578608"/>
            <a:ext cx="498348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Ten palettes: Dark Slate, Executive Light, Ocean, Forest, Nebula, Graphite, Sunset, Lavender, Sakura, Mint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Executive Light is softened — easier on the eyes than plain white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Pick again at any time; nothing on the CE changes</a:t>
            </a:r>
            <a:endParaRPr lang="en-US" sz="1200" dirty="0"/>
          </a:p>
        </p:txBody>
      </p:sp>
      <p:sp>
        <p:nvSpPr>
          <p:cNvPr id="8" name="Shape 6"/>
          <p:cNvSpPr/>
          <p:nvPr/>
        </p:nvSpPr>
        <p:spPr>
          <a:xfrm>
            <a:off x="6400800" y="1911096"/>
            <a:ext cx="5221224" cy="3566160"/>
          </a:xfrm>
          <a:prstGeom prst="roundRect">
            <a:avLst>
              <a:gd name="adj" fmla="val 2051"/>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9" name="Text 7"/>
          <p:cNvSpPr/>
          <p:nvPr/>
        </p:nvSpPr>
        <p:spPr>
          <a:xfrm>
            <a:off x="6675120" y="2121408"/>
            <a:ext cx="4663440" cy="329184"/>
          </a:xfrm>
          <a:prstGeom prst="rect">
            <a:avLst/>
          </a:prstGeom>
          <a:noFill/>
          <a:ln/>
        </p:spPr>
        <p:txBody>
          <a:bodyPr wrap="square" lIns="0" tIns="0" rIns="0" bIns="0" rtlCol="0" anchor="ctr"/>
          <a:lstStyle/>
          <a:p>
            <a:pPr indent="0" marL="0">
              <a:buNone/>
            </a:pPr>
            <a:r>
              <a:rPr lang="en-US" sz="1700" b="1" dirty="0">
                <a:solidFill>
                  <a:srgbClr val="F0A429"/>
                </a:solidFill>
                <a:latin typeface="Arial" pitchFamily="34" charset="0"/>
                <a:ea typeface="Arial" pitchFamily="34" charset="-122"/>
                <a:cs typeface="Arial" pitchFamily="34" charset="-120"/>
              </a:rPr>
              <a:t>Background</a:t>
            </a:r>
            <a:endParaRPr lang="en-US" sz="1700" dirty="0"/>
          </a:p>
        </p:txBody>
      </p:sp>
      <p:sp>
        <p:nvSpPr>
          <p:cNvPr id="10" name="Text 8"/>
          <p:cNvSpPr/>
          <p:nvPr/>
        </p:nvSpPr>
        <p:spPr>
          <a:xfrm>
            <a:off x="6675120" y="2578608"/>
            <a:ext cx="4709160" cy="26517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Six gradients, or ⬆ Photo to use your own picture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Soften fades the background so text stays readable</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Cards and tables stay solid on top of it</a:t>
            </a:r>
            <a:endParaRPr lang="en-US" sz="1200" dirty="0"/>
          </a:p>
          <a:p>
            <a:pPr marL="342900" indent="-342900">
              <a:lnSpc>
                <a:spcPts val="1600"/>
              </a:lnSpc>
              <a:spcAft>
                <a:spcPts val="900"/>
              </a:spcAft>
              <a:buSzPct val="100000"/>
              <a:buChar char="●"/>
            </a:pPr>
            <a:r>
              <a:rPr lang="en-US" sz="1200" dirty="0">
                <a:solidFill>
                  <a:srgbClr val="E6EDF3"/>
                </a:solidFill>
                <a:latin typeface="Calibri" pitchFamily="34" charset="0"/>
                <a:ea typeface="Calibri" pitchFamily="34" charset="-122"/>
                <a:cs typeface="Calibri" pitchFamily="34" charset="-120"/>
              </a:rPr>
              <a:t>None puts the plain canvas back</a:t>
            </a:r>
            <a:endParaRPr lang="en-US" sz="1200" dirty="0"/>
          </a:p>
        </p:txBody>
      </p:sp>
      <p:sp>
        <p:nvSpPr>
          <p:cNvPr id="11" name="Text 9"/>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12" name="Text 10"/>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1">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566928" y="384048"/>
            <a:ext cx="8229600" cy="256032"/>
          </a:xfrm>
          <a:prstGeom prst="rect">
            <a:avLst/>
          </a:prstGeom>
          <a:noFill/>
          <a:ln/>
        </p:spPr>
        <p:txBody>
          <a:bodyPr wrap="square" lIns="0" tIns="0" rIns="0" bIns="0" rtlCol="0" anchor="ctr"/>
          <a:lstStyle/>
          <a:p>
            <a:pPr indent="0" marL="0">
              <a:buNone/>
            </a:pPr>
            <a:r>
              <a:rPr lang="en-US" sz="1100" b="1" spc="200" kern="0" dirty="0">
                <a:solidFill>
                  <a:srgbClr val="F0A429"/>
                </a:solidFill>
                <a:latin typeface="Arial" pitchFamily="34" charset="0"/>
                <a:ea typeface="Arial" pitchFamily="34" charset="-122"/>
                <a:cs typeface="Arial" pitchFamily="34" charset="-120"/>
              </a:rPr>
              <a:t>KEEP THIS SLIDE</a:t>
            </a:r>
            <a:endParaRPr lang="en-US" sz="1100" dirty="0"/>
          </a:p>
        </p:txBody>
      </p:sp>
      <p:sp>
        <p:nvSpPr>
          <p:cNvPr id="3" name="Text 1"/>
          <p:cNvSpPr/>
          <p:nvPr/>
        </p:nvSpPr>
        <p:spPr>
          <a:xfrm>
            <a:off x="566928" y="694944"/>
            <a:ext cx="11055096" cy="566928"/>
          </a:xfrm>
          <a:prstGeom prst="rect">
            <a:avLst/>
          </a:prstGeom>
          <a:noFill/>
          <a:ln/>
        </p:spPr>
        <p:txBody>
          <a:bodyPr wrap="square" lIns="0" tIns="0" rIns="0" bIns="0" rtlCol="0" anchor="ctr"/>
          <a:lstStyle/>
          <a:p>
            <a:pPr indent="0" marL="0">
              <a:buNone/>
            </a:pPr>
            <a:r>
              <a:rPr lang="en-US" sz="3200" b="1" dirty="0">
                <a:solidFill>
                  <a:srgbClr val="E6EDF3"/>
                </a:solidFill>
                <a:latin typeface="Arial" pitchFamily="34" charset="0"/>
                <a:ea typeface="Arial" pitchFamily="34" charset="-122"/>
                <a:cs typeface="Arial" pitchFamily="34" charset="-120"/>
              </a:rPr>
              <a:t>Quick reference</a:t>
            </a:r>
            <a:endParaRPr lang="en-US" sz="3200" dirty="0"/>
          </a:p>
        </p:txBody>
      </p:sp>
      <p:sp>
        <p:nvSpPr>
          <p:cNvPr id="4" name="Shape 2"/>
          <p:cNvSpPr/>
          <p:nvPr/>
        </p:nvSpPr>
        <p:spPr>
          <a:xfrm>
            <a:off x="566928" y="1408176"/>
            <a:ext cx="5532120" cy="2531680"/>
          </a:xfrm>
          <a:prstGeom prst="roundRect">
            <a:avLst>
              <a:gd name="adj" fmla="val 3636"/>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5" name="Text 3"/>
          <p:cNvSpPr/>
          <p:nvPr/>
        </p:nvSpPr>
        <p:spPr>
          <a:xfrm>
            <a:off x="841248" y="1572768"/>
            <a:ext cx="4937760" cy="292608"/>
          </a:xfrm>
          <a:prstGeom prst="rect">
            <a:avLst/>
          </a:prstGeom>
          <a:noFill/>
          <a:ln/>
        </p:spPr>
        <p:txBody>
          <a:bodyPr wrap="square" lIns="0" tIns="0" rIns="0" bIns="0" rtlCol="0" anchor="ctr"/>
          <a:lstStyle/>
          <a:p>
            <a:pPr indent="0" marL="0">
              <a:buNone/>
            </a:pPr>
            <a:r>
              <a:rPr lang="en-US" sz="1450" b="1" dirty="0">
                <a:solidFill>
                  <a:srgbClr val="F0A429"/>
                </a:solidFill>
                <a:latin typeface="Arial" pitchFamily="34" charset="0"/>
                <a:ea typeface="Arial" pitchFamily="34" charset="-122"/>
                <a:cs typeface="Arial" pitchFamily="34" charset="-120"/>
              </a:rPr>
              <a:t>Rules worth remembering</a:t>
            </a:r>
            <a:endParaRPr lang="en-US" sz="1450" dirty="0"/>
          </a:p>
        </p:txBody>
      </p:sp>
      <p:sp>
        <p:nvSpPr>
          <p:cNvPr id="6" name="Text 4"/>
          <p:cNvSpPr/>
          <p:nvPr/>
        </p:nvSpPr>
        <p:spPr>
          <a:xfrm>
            <a:off x="841248" y="1975104"/>
            <a:ext cx="4983480" cy="1891600"/>
          </a:xfrm>
          <a:prstGeom prst="rect">
            <a:avLst/>
          </a:prstGeom>
          <a:noFill/>
          <a:ln/>
        </p:spPr>
        <p:txBody>
          <a:bodyPr wrap="square" lIns="0" tIns="0" rIns="0" bIns="0" rtlCol="0" anchor="t"/>
          <a:lstStyle/>
          <a:p>
            <a:pPr marL="342900" indent="-342900">
              <a:lnSpc>
                <a:spcPts val="1450"/>
              </a:lnSpc>
              <a:spcAft>
                <a:spcPts val="500"/>
              </a:spcAft>
              <a:buSzPct val="100000"/>
              <a:buChar char="●"/>
            </a:pPr>
            <a:r>
              <a:rPr lang="en-US" sz="1150" dirty="0">
                <a:solidFill>
                  <a:srgbClr val="E6EDF3"/>
                </a:solidFill>
                <a:latin typeface="Calibri" pitchFamily="34" charset="0"/>
                <a:ea typeface="Calibri" pitchFamily="34" charset="-122"/>
                <a:cs typeface="Calibri" pitchFamily="34" charset="-120"/>
              </a:rPr>
              <a:t>OT hours are per day, not per job</a:t>
            </a:r>
            <a:endParaRPr lang="en-US" sz="1150" dirty="0"/>
          </a:p>
          <a:p>
            <a:pPr marL="342900" indent="-342900">
              <a:lnSpc>
                <a:spcPts val="1450"/>
              </a:lnSpc>
              <a:spcAft>
                <a:spcPts val="500"/>
              </a:spcAft>
              <a:buSzPct val="100000"/>
              <a:buChar char="●"/>
            </a:pPr>
            <a:r>
              <a:rPr lang="en-US" sz="1150" dirty="0">
                <a:solidFill>
                  <a:srgbClr val="E6EDF3"/>
                </a:solidFill>
                <a:latin typeface="Calibri" pitchFamily="34" charset="0"/>
                <a:ea typeface="Calibri" pitchFamily="34" charset="-122"/>
                <a:cs typeface="Calibri" pitchFamily="34" charset="-120"/>
              </a:rPr>
              <a:t>Quantity divides the total, or multiplies one unit (Summary)</a:t>
            </a:r>
            <a:endParaRPr lang="en-US" sz="1150" dirty="0"/>
          </a:p>
          <a:p>
            <a:pPr marL="342900" indent="-342900">
              <a:lnSpc>
                <a:spcPts val="1450"/>
              </a:lnSpc>
              <a:spcAft>
                <a:spcPts val="500"/>
              </a:spcAft>
              <a:buSzPct val="100000"/>
              <a:buChar char="●"/>
            </a:pPr>
            <a:r>
              <a:rPr lang="en-US" sz="1150" dirty="0">
                <a:solidFill>
                  <a:srgbClr val="E6EDF3"/>
                </a:solidFill>
                <a:latin typeface="Calibri" pitchFamily="34" charset="0"/>
                <a:ea typeface="Calibri" pitchFamily="34" charset="-122"/>
                <a:cs typeface="Calibri" pitchFamily="34" charset="-120"/>
              </a:rPr>
              <a:t>No. of days sets every new manpower row</a:t>
            </a:r>
            <a:endParaRPr lang="en-US" sz="1150" dirty="0"/>
          </a:p>
          <a:p>
            <a:pPr marL="342900" indent="-342900">
              <a:lnSpc>
                <a:spcPts val="1450"/>
              </a:lnSpc>
              <a:spcAft>
                <a:spcPts val="500"/>
              </a:spcAft>
              <a:buSzPct val="100000"/>
              <a:buChar char="●"/>
            </a:pPr>
            <a:r>
              <a:rPr lang="en-US" sz="1150" dirty="0">
                <a:solidFill>
                  <a:srgbClr val="E6EDF3"/>
                </a:solidFill>
                <a:latin typeface="Calibri" pitchFamily="34" charset="0"/>
                <a:ea typeface="Calibri" pitchFamily="34" charset="-122"/>
                <a:cs typeface="Calibri" pitchFamily="34" charset="-120"/>
              </a:rPr>
              <a:t>CE numbers: one sequence for SHIC and SY3</a:t>
            </a:r>
            <a:endParaRPr lang="en-US" sz="1150" dirty="0"/>
          </a:p>
          <a:p>
            <a:pPr marL="342900" indent="-342900">
              <a:lnSpc>
                <a:spcPts val="1450"/>
              </a:lnSpc>
              <a:spcAft>
                <a:spcPts val="500"/>
              </a:spcAft>
              <a:buSzPct val="100000"/>
              <a:buChar char="●"/>
            </a:pPr>
            <a:r>
              <a:rPr lang="en-US" sz="1150" dirty="0">
                <a:solidFill>
                  <a:srgbClr val="E6EDF3"/>
                </a:solidFill>
                <a:latin typeface="Calibri" pitchFamily="34" charset="0"/>
                <a:ea typeface="Calibri" pitchFamily="34" charset="-122"/>
                <a:cs typeface="Calibri" pitchFamily="34" charset="-120"/>
              </a:rPr>
              <a:t>Tools are Tier 2 (per day) unless you say otherwise</a:t>
            </a:r>
            <a:endParaRPr lang="en-US" sz="1150" dirty="0"/>
          </a:p>
          <a:p>
            <a:pPr marL="342900" indent="-342900">
              <a:lnSpc>
                <a:spcPts val="1450"/>
              </a:lnSpc>
              <a:spcAft>
                <a:spcPts val="500"/>
              </a:spcAft>
              <a:buSzPct val="100000"/>
              <a:buChar char="●"/>
            </a:pPr>
            <a:r>
              <a:rPr lang="en-US" sz="1150" dirty="0">
                <a:solidFill>
                  <a:srgbClr val="E6EDF3"/>
                </a:solidFill>
                <a:latin typeface="Calibri" pitchFamily="34" charset="0"/>
                <a:ea typeface="Calibri" pitchFamily="34" charset="-122"/>
                <a:cs typeface="Calibri" pitchFamily="34" charset="-120"/>
              </a:rPr>
              <a:t>ShopWorks: power, no Incentive. Shop + Site: split by task</a:t>
            </a:r>
            <a:endParaRPr lang="en-US" sz="1150" dirty="0"/>
          </a:p>
          <a:p>
            <a:pPr marL="342900" indent="-342900">
              <a:lnSpc>
                <a:spcPts val="1450"/>
              </a:lnSpc>
              <a:spcAft>
                <a:spcPts val="500"/>
              </a:spcAft>
              <a:buSzPct val="100000"/>
              <a:buChar char="●"/>
            </a:pPr>
            <a:r>
              <a:rPr lang="en-US" sz="1150" dirty="0">
                <a:solidFill>
                  <a:srgbClr val="E6EDF3"/>
                </a:solidFill>
                <a:latin typeface="Calibri" pitchFamily="34" charset="0"/>
                <a:ea typeface="Calibri" pitchFamily="34" charset="-122"/>
                <a:cs typeface="Calibri" pitchFamily="34" charset="-120"/>
              </a:rPr>
              <a:t>Only an admin or the owner can delete a CE or its attachments</a:t>
            </a:r>
            <a:endParaRPr lang="en-US" sz="1150" dirty="0"/>
          </a:p>
        </p:txBody>
      </p:sp>
      <p:sp>
        <p:nvSpPr>
          <p:cNvPr id="7" name="Shape 5"/>
          <p:cNvSpPr/>
          <p:nvPr/>
        </p:nvSpPr>
        <p:spPr>
          <a:xfrm>
            <a:off x="6400800" y="1408176"/>
            <a:ext cx="5221224" cy="2531680"/>
          </a:xfrm>
          <a:prstGeom prst="roundRect">
            <a:avLst>
              <a:gd name="adj" fmla="val 3636"/>
            </a:avLst>
          </a:prstGeom>
          <a:solidFill>
            <a:srgbClr val="161B22"/>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8" name="Text 6"/>
          <p:cNvSpPr/>
          <p:nvPr/>
        </p:nvSpPr>
        <p:spPr>
          <a:xfrm>
            <a:off x="6675120" y="1572768"/>
            <a:ext cx="4663440" cy="292608"/>
          </a:xfrm>
          <a:prstGeom prst="rect">
            <a:avLst/>
          </a:prstGeom>
          <a:noFill/>
          <a:ln/>
        </p:spPr>
        <p:txBody>
          <a:bodyPr wrap="square" lIns="0" tIns="0" rIns="0" bIns="0" rtlCol="0" anchor="ctr"/>
          <a:lstStyle/>
          <a:p>
            <a:pPr indent="0" marL="0">
              <a:buNone/>
            </a:pPr>
            <a:r>
              <a:rPr lang="en-US" sz="1450" b="1" dirty="0">
                <a:solidFill>
                  <a:srgbClr val="58A6FF"/>
                </a:solidFill>
                <a:latin typeface="Arial" pitchFamily="34" charset="0"/>
                <a:ea typeface="Arial" pitchFamily="34" charset="-122"/>
                <a:cs typeface="Arial" pitchFamily="34" charset="-120"/>
              </a:rPr>
              <a:t>Shortcuts</a:t>
            </a:r>
            <a:endParaRPr lang="en-US" sz="1450" dirty="0"/>
          </a:p>
        </p:txBody>
      </p:sp>
      <p:sp>
        <p:nvSpPr>
          <p:cNvPr id="9" name="Shape 7"/>
          <p:cNvSpPr/>
          <p:nvPr/>
        </p:nvSpPr>
        <p:spPr>
          <a:xfrm>
            <a:off x="6675120" y="2029968"/>
            <a:ext cx="1234440" cy="310896"/>
          </a:xfrm>
          <a:prstGeom prst="roundRect">
            <a:avLst>
              <a:gd name="adj" fmla="val 14706"/>
            </a:avLst>
          </a:prstGeom>
          <a:solidFill>
            <a:srgbClr val="1C2128"/>
          </a:solidFill>
          <a:ln w="12700">
            <a:solidFill>
              <a:srgbClr val="30363D"/>
            </a:solidFill>
            <a:prstDash val="solid"/>
          </a:ln>
        </p:spPr>
        <p:txBody>
          <a:bodyPr/>
          <a:p/>
        </p:txBody>
      </p:sp>
      <p:sp>
        <p:nvSpPr>
          <p:cNvPr id="10" name="Text 8"/>
          <p:cNvSpPr/>
          <p:nvPr/>
        </p:nvSpPr>
        <p:spPr>
          <a:xfrm>
            <a:off x="6675120" y="2029968"/>
            <a:ext cx="1234440" cy="310896"/>
          </a:xfrm>
          <a:prstGeom prst="rect">
            <a:avLst/>
          </a:prstGeom>
          <a:noFill/>
          <a:ln/>
        </p:spPr>
        <p:txBody>
          <a:bodyPr wrap="square" lIns="0" tIns="0" rIns="0" bIns="0" rtlCol="0" anchor="ctr"/>
          <a:lstStyle/>
          <a:p>
            <a:pPr algn="ctr" indent="0" marL="0">
              <a:buNone/>
            </a:pPr>
            <a:r>
              <a:rPr lang="en-US" sz="1000" dirty="0">
                <a:solidFill>
                  <a:srgbClr val="E6EDF3"/>
                </a:solidFill>
                <a:latin typeface="Courier New" pitchFamily="34" charset="0"/>
                <a:ea typeface="Courier New" pitchFamily="34" charset="-122"/>
                <a:cs typeface="Courier New" pitchFamily="34" charset="-120"/>
              </a:rPr>
              <a:t>Ctrl + S</a:t>
            </a:r>
            <a:endParaRPr lang="en-US" sz="1000" dirty="0"/>
          </a:p>
        </p:txBody>
      </p:sp>
      <p:sp>
        <p:nvSpPr>
          <p:cNvPr id="11" name="Text 9"/>
          <p:cNvSpPr/>
          <p:nvPr/>
        </p:nvSpPr>
        <p:spPr>
          <a:xfrm>
            <a:off x="8046720" y="2029968"/>
            <a:ext cx="3383280" cy="310896"/>
          </a:xfrm>
          <a:prstGeom prst="rect">
            <a:avLst/>
          </a:prstGeom>
          <a:noFill/>
          <a:ln/>
        </p:spPr>
        <p:txBody>
          <a:bodyPr wrap="square" lIns="0" tIns="0" rIns="0" bIns="0" rtlCol="0" anchor="ctr"/>
          <a:lstStyle/>
          <a:p>
            <a:pPr indent="0" marL="0">
              <a:buNone/>
            </a:pPr>
            <a:r>
              <a:rPr lang="en-US" sz="1150" dirty="0">
                <a:solidFill>
                  <a:srgbClr val="9AA4AF"/>
                </a:solidFill>
                <a:latin typeface="Calibri" pitchFamily="34" charset="0"/>
                <a:ea typeface="Calibri" pitchFamily="34" charset="-122"/>
                <a:cs typeface="Calibri" pitchFamily="34" charset="-120"/>
              </a:rPr>
              <a:t>Save the CE</a:t>
            </a:r>
            <a:endParaRPr lang="en-US" sz="1150" dirty="0"/>
          </a:p>
        </p:txBody>
      </p:sp>
      <p:sp>
        <p:nvSpPr>
          <p:cNvPr id="12" name="Shape 10"/>
          <p:cNvSpPr/>
          <p:nvPr/>
        </p:nvSpPr>
        <p:spPr>
          <a:xfrm>
            <a:off x="6675120" y="2450592"/>
            <a:ext cx="1234440" cy="310896"/>
          </a:xfrm>
          <a:prstGeom prst="roundRect">
            <a:avLst>
              <a:gd name="adj" fmla="val 14706"/>
            </a:avLst>
          </a:prstGeom>
          <a:solidFill>
            <a:srgbClr val="1C2128"/>
          </a:solidFill>
          <a:ln w="12700">
            <a:solidFill>
              <a:srgbClr val="30363D"/>
            </a:solidFill>
            <a:prstDash val="solid"/>
          </a:ln>
        </p:spPr>
        <p:txBody>
          <a:bodyPr/>
          <a:p/>
        </p:txBody>
      </p:sp>
      <p:sp>
        <p:nvSpPr>
          <p:cNvPr id="13" name="Text 11"/>
          <p:cNvSpPr/>
          <p:nvPr/>
        </p:nvSpPr>
        <p:spPr>
          <a:xfrm>
            <a:off x="6675120" y="2450592"/>
            <a:ext cx="1234440" cy="310896"/>
          </a:xfrm>
          <a:prstGeom prst="rect">
            <a:avLst/>
          </a:prstGeom>
          <a:noFill/>
          <a:ln/>
        </p:spPr>
        <p:txBody>
          <a:bodyPr wrap="square" lIns="0" tIns="0" rIns="0" bIns="0" rtlCol="0" anchor="ctr"/>
          <a:lstStyle/>
          <a:p>
            <a:pPr algn="ctr" indent="0" marL="0">
              <a:buNone/>
            </a:pPr>
            <a:r>
              <a:rPr lang="en-US" sz="1000" dirty="0">
                <a:solidFill>
                  <a:srgbClr val="E6EDF3"/>
                </a:solidFill>
                <a:latin typeface="Courier New" pitchFamily="34" charset="0"/>
                <a:ea typeface="Courier New" pitchFamily="34" charset="-122"/>
                <a:cs typeface="Courier New" pitchFamily="34" charset="-120"/>
              </a:rPr>
              <a:t>Ctrl + N</a:t>
            </a:r>
            <a:endParaRPr lang="en-US" sz="1000" dirty="0"/>
          </a:p>
        </p:txBody>
      </p:sp>
      <p:sp>
        <p:nvSpPr>
          <p:cNvPr id="14" name="Text 12"/>
          <p:cNvSpPr/>
          <p:nvPr/>
        </p:nvSpPr>
        <p:spPr>
          <a:xfrm>
            <a:off x="8046720" y="2450592"/>
            <a:ext cx="3383280" cy="310896"/>
          </a:xfrm>
          <a:prstGeom prst="rect">
            <a:avLst/>
          </a:prstGeom>
          <a:noFill/>
          <a:ln/>
        </p:spPr>
        <p:txBody>
          <a:bodyPr wrap="square" lIns="0" tIns="0" rIns="0" bIns="0" rtlCol="0" anchor="ctr"/>
          <a:lstStyle/>
          <a:p>
            <a:pPr indent="0" marL="0">
              <a:buNone/>
            </a:pPr>
            <a:r>
              <a:rPr lang="en-US" sz="1150" dirty="0">
                <a:solidFill>
                  <a:srgbClr val="9AA4AF"/>
                </a:solidFill>
                <a:latin typeface="Calibri" pitchFamily="34" charset="0"/>
                <a:ea typeface="Calibri" pitchFamily="34" charset="-122"/>
                <a:cs typeface="Calibri" pitchFamily="34" charset="-120"/>
              </a:rPr>
              <a:t>Start a new CE</a:t>
            </a:r>
            <a:endParaRPr lang="en-US" sz="1150" dirty="0"/>
          </a:p>
        </p:txBody>
      </p:sp>
      <p:sp>
        <p:nvSpPr>
          <p:cNvPr id="15" name="Shape 13"/>
          <p:cNvSpPr/>
          <p:nvPr/>
        </p:nvSpPr>
        <p:spPr>
          <a:xfrm>
            <a:off x="6675120" y="2871216"/>
            <a:ext cx="1234440" cy="310896"/>
          </a:xfrm>
          <a:prstGeom prst="roundRect">
            <a:avLst>
              <a:gd name="adj" fmla="val 14706"/>
            </a:avLst>
          </a:prstGeom>
          <a:solidFill>
            <a:srgbClr val="1C2128"/>
          </a:solidFill>
          <a:ln w="12700">
            <a:solidFill>
              <a:srgbClr val="30363D"/>
            </a:solidFill>
            <a:prstDash val="solid"/>
          </a:ln>
        </p:spPr>
        <p:txBody>
          <a:bodyPr/>
          <a:p/>
        </p:txBody>
      </p:sp>
      <p:sp>
        <p:nvSpPr>
          <p:cNvPr id="16" name="Text 14"/>
          <p:cNvSpPr/>
          <p:nvPr/>
        </p:nvSpPr>
        <p:spPr>
          <a:xfrm>
            <a:off x="6675120" y="2871216"/>
            <a:ext cx="1234440" cy="310896"/>
          </a:xfrm>
          <a:prstGeom prst="rect">
            <a:avLst/>
          </a:prstGeom>
          <a:noFill/>
          <a:ln/>
        </p:spPr>
        <p:txBody>
          <a:bodyPr wrap="square" lIns="0" tIns="0" rIns="0" bIns="0" rtlCol="0" anchor="ctr"/>
          <a:lstStyle/>
          <a:p>
            <a:pPr algn="ctr" indent="0" marL="0">
              <a:buNone/>
            </a:pPr>
            <a:r>
              <a:rPr lang="en-US" sz="1000" dirty="0">
                <a:solidFill>
                  <a:srgbClr val="E6EDF3"/>
                </a:solidFill>
                <a:latin typeface="Courier New" pitchFamily="34" charset="0"/>
                <a:ea typeface="Courier New" pitchFamily="34" charset="-122"/>
                <a:cs typeface="Courier New" pitchFamily="34" charset="-120"/>
              </a:rPr>
              <a:t>Search box</a:t>
            </a:r>
            <a:endParaRPr lang="en-US" sz="1000" dirty="0"/>
          </a:p>
        </p:txBody>
      </p:sp>
      <p:sp>
        <p:nvSpPr>
          <p:cNvPr id="17" name="Text 15"/>
          <p:cNvSpPr/>
          <p:nvPr/>
        </p:nvSpPr>
        <p:spPr>
          <a:xfrm>
            <a:off x="8046720" y="2871216"/>
            <a:ext cx="3383280" cy="310896"/>
          </a:xfrm>
          <a:prstGeom prst="rect">
            <a:avLst/>
          </a:prstGeom>
          <a:noFill/>
          <a:ln/>
        </p:spPr>
        <p:txBody>
          <a:bodyPr wrap="square" lIns="0" tIns="0" rIns="0" bIns="0" rtlCol="0" anchor="ctr"/>
          <a:lstStyle/>
          <a:p>
            <a:pPr indent="0" marL="0">
              <a:buNone/>
            </a:pPr>
            <a:r>
              <a:rPr lang="en-US" sz="1150" dirty="0">
                <a:solidFill>
                  <a:srgbClr val="9AA4AF"/>
                </a:solidFill>
                <a:latin typeface="Calibri" pitchFamily="34" charset="0"/>
                <a:ea typeface="Calibri" pitchFamily="34" charset="-122"/>
                <a:cs typeface="Calibri" pitchFamily="34" charset="-120"/>
              </a:rPr>
              <a:t>Filter the Masterlist or Scope Library</a:t>
            </a:r>
            <a:endParaRPr lang="en-US" sz="1150" dirty="0"/>
          </a:p>
        </p:txBody>
      </p:sp>
      <p:sp>
        <p:nvSpPr>
          <p:cNvPr id="18" name="Shape 16"/>
          <p:cNvSpPr/>
          <p:nvPr/>
        </p:nvSpPr>
        <p:spPr>
          <a:xfrm>
            <a:off x="566928" y="4141024"/>
            <a:ext cx="11055096" cy="1234440"/>
          </a:xfrm>
          <a:prstGeom prst="roundRect">
            <a:avLst>
              <a:gd name="adj" fmla="val 5926"/>
            </a:avLst>
          </a:prstGeom>
          <a:solidFill>
            <a:srgbClr val="1C2128"/>
          </a:solidFill>
          <a:ln w="12700">
            <a:solidFill>
              <a:srgbClr val="30363D"/>
            </a:solidFill>
            <a:prstDash val="solid"/>
          </a:ln>
          <a:effectLst>
            <a:outerShdw sx="100000" sy="100000" kx="0" ky="0" algn="bl" rotWithShape="0" blurRad="152400" dist="38100" dir="5400000">
              <a:srgbClr val="000000">
                <a:alpha val="45000"/>
              </a:srgbClr>
            </a:outerShdw>
          </a:effectLst>
        </p:spPr>
        <p:txBody>
          <a:bodyPr/>
          <a:p/>
        </p:txBody>
      </p:sp>
      <p:sp>
        <p:nvSpPr>
          <p:cNvPr id="19" name="Text 17"/>
          <p:cNvSpPr/>
          <p:nvPr/>
        </p:nvSpPr>
        <p:spPr>
          <a:xfrm>
            <a:off x="841248" y="4305616"/>
            <a:ext cx="5486400" cy="274320"/>
          </a:xfrm>
          <a:prstGeom prst="rect">
            <a:avLst/>
          </a:prstGeom>
          <a:noFill/>
          <a:ln/>
        </p:spPr>
        <p:txBody>
          <a:bodyPr wrap="square" lIns="0" tIns="0" rIns="0" bIns="0" rtlCol="0" anchor="ctr"/>
          <a:lstStyle/>
          <a:p>
            <a:pPr indent="0" marL="0">
              <a:buNone/>
            </a:pPr>
            <a:r>
              <a:rPr lang="en-US" sz="1400" b="1" dirty="0">
                <a:solidFill>
                  <a:srgbClr val="E6EDF3"/>
                </a:solidFill>
                <a:latin typeface="Arial" pitchFamily="34" charset="0"/>
                <a:ea typeface="Arial" pitchFamily="34" charset="-122"/>
                <a:cs typeface="Arial" pitchFamily="34" charset="-120"/>
              </a:rPr>
              <a:t>If something looks wrong</a:t>
            </a:r>
            <a:endParaRPr lang="en-US" sz="1400" dirty="0"/>
          </a:p>
        </p:txBody>
      </p:sp>
      <p:sp>
        <p:nvSpPr>
          <p:cNvPr id="20" name="Text 18"/>
          <p:cNvSpPr/>
          <p:nvPr/>
        </p:nvSpPr>
        <p:spPr>
          <a:xfrm>
            <a:off x="841248" y="4616512"/>
            <a:ext cx="10515600" cy="658368"/>
          </a:xfrm>
          <a:prstGeom prst="rect">
            <a:avLst/>
          </a:prstGeom>
          <a:noFill/>
          <a:ln/>
        </p:spPr>
        <p:txBody>
          <a:bodyPr wrap="square" lIns="0" tIns="0" rIns="0" bIns="0" rtlCol="0" anchor="ctr"/>
          <a:lstStyle/>
          <a:p>
            <a:pPr indent="0" marL="0">
              <a:lnSpc>
                <a:spcPts val="1500"/>
              </a:lnSpc>
              <a:buNone/>
            </a:pPr>
            <a:r>
              <a:rPr lang="en-US" sz="1150" dirty="0">
                <a:solidFill>
                  <a:srgbClr val="9AA4AF"/>
                </a:solidFill>
                <a:latin typeface="Calibri" pitchFamily="34" charset="0"/>
                <a:ea typeface="Calibri" pitchFamily="34" charset="-122"/>
                <a:cs typeface="Calibri" pitchFamily="34" charset="-120"/>
              </a:rPr>
              <a:t>Check the Summary tab first — Check CE names most problems and takes you straight to them. If a total looks impossible, look at Quantity on Project Info, the Days on your manpower rows, and the Tier on your tools. If your work is not reaching the team, look for ⚠ Sign in to Microsoft in the top bar before anything else.</a:t>
            </a:r>
            <a:endParaRPr lang="en-US" sz="1150" dirty="0"/>
          </a:p>
        </p:txBody>
      </p:sp>
      <p:sp>
        <p:nvSpPr>
          <p:cNvPr id="21" name="Text 19"/>
          <p:cNvSpPr/>
          <p:nvPr/>
        </p:nvSpPr>
        <p:spPr>
          <a:xfrm>
            <a:off x="566928" y="5585776"/>
            <a:ext cx="11055096" cy="365760"/>
          </a:xfrm>
          <a:prstGeom prst="rect">
            <a:avLst/>
          </a:prstGeom>
          <a:noFill/>
          <a:ln/>
        </p:spPr>
        <p:txBody>
          <a:bodyPr wrap="square" lIns="0" tIns="0" rIns="0" bIns="0" rtlCol="0" anchor="ctr"/>
          <a:lstStyle/>
          <a:p>
            <a:pPr algn="ctr" indent="0" marL="0">
              <a:buNone/>
            </a:pPr>
            <a:r>
              <a:rPr lang="en-US" sz="1250" dirty="0">
                <a:solidFill>
                  <a:srgbClr val="F0A429"/>
                </a:solidFill>
                <a:latin typeface="Calibri" pitchFamily="34" charset="0"/>
                <a:ea typeface="Calibri" pitchFamily="34" charset="-122"/>
                <a:cs typeface="Calibri" pitchFamily="34" charset="-120"/>
              </a:rPr>
              <a:t>Questions, or something this manual does not cover — ask the Technical Support Group.</a:t>
            </a:r>
            <a:endParaRPr lang="en-US" sz="1250" dirty="0"/>
          </a:p>
        </p:txBody>
      </p:sp>
      <p:sp>
        <p:nvSpPr>
          <p:cNvPr id="22" name="Text 20"/>
          <p:cNvSpPr/>
          <p:nvPr/>
        </p:nvSpPr>
        <p:spPr>
          <a:xfrm>
            <a:off x="566928" y="6437376"/>
            <a:ext cx="5486400" cy="237744"/>
          </a:xfrm>
          <a:prstGeom prst="rect">
            <a:avLst/>
          </a:prstGeom>
          <a:noFill/>
          <a:ln/>
        </p:spPr>
        <p:txBody>
          <a:bodyPr wrap="square" lIns="0" tIns="0" rIns="0" bIns="0" rtlCol="0" anchor="ctr"/>
          <a:lstStyle/>
          <a:p>
            <a:pPr indent="0" marL="0">
              <a:buNone/>
            </a:pPr>
            <a:r>
              <a:rPr lang="en-US" sz="900" dirty="0">
                <a:solidFill>
                  <a:srgbClr val="6E7681"/>
                </a:solidFill>
                <a:latin typeface="Calibri" pitchFamily="34" charset="0"/>
                <a:ea typeface="Calibri" pitchFamily="34" charset="-122"/>
                <a:cs typeface="Calibri" pitchFamily="34" charset="-120"/>
              </a:rPr>
              <a:t>SHIC Cost Estimator — End-User Manual</a:t>
            </a:r>
            <a:endParaRPr lang="en-US" sz="900" dirty="0"/>
          </a:p>
        </p:txBody>
      </p:sp>
      <p:sp>
        <p:nvSpPr>
          <p:cNvPr id="23" name="Text 21"/>
          <p:cNvSpPr/>
          <p:nvPr/>
        </p:nvSpPr>
        <p:spPr>
          <a:xfrm>
            <a:off x="10981944" y="6437376"/>
            <a:ext cx="640080" cy="237744"/>
          </a:xfrm>
          <a:prstGeom prst="rect">
            <a:avLst/>
          </a:prstGeom>
          <a:noFill/>
          <a:ln/>
        </p:spPr>
        <p:txBody>
          <a:bodyPr wrap="square" lIns="0" tIns="0" rIns="0" bIns="0" rtlCol="0" anchor="ctr"/>
          <a:lstStyle/>
          <a:p>
            <a:pPr algn="r" indent="0" marL="0">
              <a:buNone/>
            </a:pPr>
            <a:r>
              <a:rPr lang="en-US" sz="900" dirty="0">
                <a:solidFill>
                  <a:srgbClr val="6E7681"/>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SHIC Cost Estimator — End-User Manual</dc:title>
  <dc:subject>PptxGenJS Presentation</dc:subject>
  <dc:creator>SY3 / SHIC — TSG</dc:creator>
  <cp:lastModifiedBy>SY3 / SHIC — TSG</cp:lastModifiedBy>
  <cp:revision>1</cp:revision>
  <dcterms:created xsi:type="dcterms:W3CDTF">2026-08-13T00:01:51Z</dcterms:created>
  <dcterms:modified xsi:type="dcterms:W3CDTF">2026-08-13T00:01:51Z</dcterms:modified>
</cp:coreProperties>
</file>