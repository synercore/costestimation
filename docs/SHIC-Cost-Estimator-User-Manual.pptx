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80" r:id="rId31"/>
    <p:sldId id="265" r:id="rId11"/>
    <p:sldId id="283" r:id="rId34"/>
    <p:sldId id="284" r:id="rId35"/>
    <p:sldId id="266" r:id="rId12"/>
    <p:sldId id="277" r:id="rId28"/>
    <p:sldId id="278" r:id="rId29"/>
    <p:sldId id="267" r:id="rId13"/>
    <p:sldId id="268" r:id="rId14"/>
    <p:sldId id="281" r:id="rId32"/>
    <p:sldId id="269" r:id="rId15"/>
    <p:sldId id="270" r:id="rId16"/>
    <p:sldId id="271" r:id="rId17"/>
    <p:sldId id="272" r:id="rId18"/>
    <p:sldId id="279" r:id="rId30"/>
    <p:sldId id="282" r:id="rId33"/>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4.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26.xml"/><Relationship Id="rId20" Type="http://schemas.openxmlformats.org/officeDocument/2006/relationships/slide" Target="slides/slide27.xml"/><Relationship Id="rId21" Type="http://schemas.openxmlformats.org/officeDocument/2006/relationships/slide" Target="slides/slide28.xml"/><Relationship Id="rId22" Type="http://schemas.openxmlformats.org/officeDocument/2006/relationships/slide" Target="slides/slide29.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24.xml"/><Relationship Id="rId31" Type="http://schemas.openxmlformats.org/officeDocument/2006/relationships/slide" Target="slides/slide10.xml"/><Relationship Id="rId32" Type="http://schemas.openxmlformats.org/officeDocument/2006/relationships/slide" Target="slides/slide19.xml"/><Relationship Id="rId33" Type="http://schemas.openxmlformats.org/officeDocument/2006/relationships/slide" Target="slides/slide25.xml"/><Relationship Id="rId34" Type="http://schemas.openxmlformats.org/officeDocument/2006/relationships/slide" Target="slides/slide12.xml"/><Relationship Id="rId35"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forget, and it is the one that changes the price. Consolidate before you generate the CE. The uplift is not an error — it is the cost of having the crew on site for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Tools are the only bill with a tier. Materials and PPE are still qty x cost. Do not go into the tiers here -- the next slide is entirely about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margin is saved with the CE. Signatories now arrive from the CE Defaults preset an admin sets in the Users tab, chosen by CE type and discipline, with the signed-in user already in Prepared By.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Draft versus Save is the distinction people get wrong -- but a draft is no longer invisible. It appears in Monitoring as open work, so the team can see it exists; it is simply still editable, and saving the CE clears it. Also flag the browser-only save message: if it appears, the CE has not reached SharePoint and nobody else can open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CE is the deliverable. Everything before it exists to make this page right. The Excel exports now carry the CE's own formatting, so sales can work with them directly.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Monitoring is the register the whole team reads. Two changes worth demonstrating: Status is now an action button that also shows who changed what and when, and the print actions produce a previous CE's documents in a new tab without disturbing the estimate you have open.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middle one still matters most: a permission refusal is not a session problem, and signing in again just wastes time. Throttling is the opposite -- it clears on its own, so pressing the button again is the wrong response.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Whoever maintains rates should own the Masterlist. For tools that now means the four figures behind the rate, not just the rate: unit price, service life, projects per year and maintenance. The calculator on each row works the tiers out from them, and the upload template carries them so the whole list can be maintained in Excel.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will ask about. Land three things. One: nothing already quoted has moved -- a row with no tier is Tier 2, which is what the app has always done. Two: Tier 3 is the answer to losing small jobs on equipment cost, and the van example makes that concrete. Three: it is a discount, not a re-slicing -- it recovers about a sixth of annual ownership cost, so it is the wrong choice on a long shutdown. There is no minimum-hours floor, so a careless entry can price expensive kit at almost nothing; check the first few bids.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people misread. QTY is a headcount, not a sum of rows: one supervisor on regular, Sunday and holiday days is one person, but a day crew and a night crew are different people. And the money has not changed - each shift row is still charged its own benefits; the role line is only their subtotal. The Incentive is the old per diem under its proper name, and ShopWorks does not pay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hand-built version of this in Excel once came out P2.8M short of the total. Here that cannot happen: Other misc. is whatever the named services do not carry, so the two totals always match. The one error it catches is the opposite - a cost counted under two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handoff. The person receiving requests logs them with + New Request, attaches the documents, and assigns an estimator. The estimator filters on Assigned to me, loads the request and saves the finished CE over it under the same number. Reassign with the Assign button on the row, and always pick from the list, because Assigned to me matches by name.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Mobilization and demobilization now carry manpower as well as expenses. Press Crew from SOW Breakdown and the crew is built from the Manpower tab, one line per role, counted the way Benefits counts heads. It stays linked: change the manpower and the lines follow, except where you have typed a pax or a rate. On the printed CE they are rows A and B, and their bill prints before manpower.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Food allowance is paid at three rates. Each role belongs to one of them, set once on the Manpower masterlist. The app counts the heads in each group: for mobilization and demobilization, the people who travel; for accommodation, the whole crew over the days each shift works, listed as sub-items. When the allowance changes, update the three Masterlist items and use Sync meal rates on any CE you are requoting.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txBody>
          <a:bodyPr/>
          <a:p/>
        </p:txBody>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txBody>
          <a:bodyPr/>
          <a:p/>
        </p:txBody>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txBody>
          <a:bodyPr/>
          <a:p/>
        </p:txBody>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Work left to right. You can jump around, but each tab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txBody>
          <a:bodyPr/>
          <a:p/>
        </p:txBody>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txBody>
          <a:bodyPr/>
          <a:p/>
        </p:txBody>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txBody>
          <a:bodyPr/>
          <a:p/>
        </p:txBody>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txBody>
          <a:bodyPr/>
          <a:p/>
        </p:txBody>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txBody>
          <a:bodyPr/>
          <a:p/>
        </p:txBody>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txBody>
          <a:bodyPr/>
          <a:p/>
        </p:txBody>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txBody>
          <a:bodyPr/>
          <a:p/>
        </p:txBody>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txBody>
          <a:bodyPr/>
          <a:p/>
        </p:txBody>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txBody>
          <a:bodyPr/>
          <a:p/>
        </p:txBody>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txBody>
          <a:bodyPr/>
          <a:p/>
        </p:txBody>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txBody>
          <a:bodyPr/>
          <a:p/>
        </p:txBody>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txBody>
          <a:bodyPr/>
          <a:p/>
        </p:txBody>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Leave it at 1 for a one-off job.</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txBody>
          <a:bodyPr/>
          <a:p/>
        </p:txBody>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txBody>
          <a:bodyPr/>
          <a:p/>
        </p:txBody>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txBody>
          <a:bodyPr/>
          <a:p/>
        </p:txBody>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txBody>
          <a:bodyPr/>
          <a:p/>
        </p:txBody>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txBody>
          <a:bodyPr/>
          <a:p/>
        </p:txBody>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txBody>
          <a:bodyPr/>
          <a:p/>
        </p:txBody>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txBody>
          <a:bodyPr/>
          <a:p/>
        </p:txBody>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Any step can be put back: a main item, a sub-step, or Clear All. A main item takes its sub-steps and their resources with it, and the app says how many. You have 20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txBody>
          <a:bodyPr/>
          <a:p/>
        </p:txBody>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Tick several and file them at once.</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Shared crew</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After consolidating, one row serves several tasks, listed under each with its cost split in proportion.</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txBody>
          <a:bodyPr/>
          <a:p/>
        </p:txBody>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txBody>
          <a:bodyPr/>
          <a:p/>
        </p:txBody>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 unless you change the OT rate on this CE.</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Scope Task column</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Every row shows which scope task it belongs to, so two rows for one role are explained. Rows are numbered; each shift ends with SUB TOTAL (×multiplier), pax and cost. Row Total is pay plus overtime; benefits land in the grand total.</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 — and their multipliers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New CEs start on the company standard (Admin → Shift Multipliers). Edit a box to change this CE only; ● marks one off the standard.</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per role, in C.7. The next slide shows how to read it.</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Incentive</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 person, per day, from the Masterlist. Charged in C.7 Benefits. Not charged on ShopWorks.</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BENEFITS &amp; OTHERS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Reading C.7, and the Incentive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Benefits are calculated for you. This is how the table on the Manpower tab and the printed CE lays them out.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One line per role, shifts under it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role on more than one shift shows a subtotal line, with each shift listed under it by name: Regular Day, Sunday Day…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QTY: the same person works the regular, Sunday and holiday days, so those do not add. Day and night crews are different people — 1 on days + 1 on nights is 2</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is the man-days divided by QTY. Hover it to see each shift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ECC is ₱30 per person per month (26 working days, rounded up), shared across the role’s shifts — hover SIL &amp; ECC to see it. Older CEs keep ₱30 per shift line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last row gives Total manpower — the headcount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Incentive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Per person, per day, added in C.7. It used to be called Per diem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Comes from the Masterlist when you pick or type the role; Sync Rates brings it up to date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Masterlist now says something different, an "ML ₱200" button beside it adopts the new figure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ShopWorks CEs charge no Incentive, and the column is hidden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CONSOLIDATE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crew, several tasks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same electrician appears under every task that needs one. Combine them into the crew you actually mobilise.</a:t>
            </a:r>
            <a:endParaRPr lang="en-US" sz="1400" dirty="0"/>
          </a:p>
        </p:txBody>
      </p:sp>
      <p:sp>
        <p:nvSpPr>
          <p:cNvPr id="5" name="Text 3"/>
          <p:cNvSpPr/>
          <p:nvPr/>
        </p:nvSpPr>
        <p:spPr>
          <a:xfrm>
            <a:off x="566928" y="1911096"/>
            <a:ext cx="2743200" cy="256032"/>
          </a:xfrm>
          <a:prstGeom prst="rect">
            <a:avLst/>
          </a:prstGeom>
          <a:noFill/>
          <a:ln/>
        </p:spPr>
        <p:txBody>
          <a:bodyPr wrap="square" lIns="0" tIns="0" rIns="0" bIns="0" rtlCol="0" anchor="ctr"/>
          <a:lstStyle/>
          <a:p>
            <a:pPr algn="l" indent="0" marL="0">
              <a:buNone/>
            </a:pPr>
            <a:endParaRPr lang="en-US" sz="850" dirty="0"/>
          </a:p>
        </p:txBody>
      </p:sp>
      <p:sp>
        <p:nvSpPr>
          <p:cNvPr id="6" name="Text 4"/>
          <p:cNvSpPr/>
          <p:nvPr/>
        </p:nvSpPr>
        <p:spPr>
          <a:xfrm>
            <a:off x="3310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7" name="Text 5"/>
          <p:cNvSpPr/>
          <p:nvPr/>
        </p:nvSpPr>
        <p:spPr>
          <a:xfrm>
            <a:off x="4453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8" name="Text 6"/>
          <p:cNvSpPr/>
          <p:nvPr/>
        </p:nvSpPr>
        <p:spPr>
          <a:xfrm>
            <a:off x="5596128" y="1911096"/>
            <a:ext cx="1828800"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COST</a:t>
            </a:r>
            <a:endParaRPr lang="en-US" sz="850" dirty="0"/>
          </a:p>
        </p:txBody>
      </p:sp>
      <p:sp>
        <p:nvSpPr>
          <p:cNvPr id="9" name="Shape 7"/>
          <p:cNvSpPr/>
          <p:nvPr/>
        </p:nvSpPr>
        <p:spPr>
          <a:xfrm>
            <a:off x="566928" y="2185416"/>
            <a:ext cx="6858000" cy="347472"/>
          </a:xfrm>
          <a:prstGeom prst="rect">
            <a:avLst/>
          </a:prstGeom>
          <a:solidFill>
            <a:srgbClr val="1C2128"/>
          </a:solidFill>
          <a:ln w="6350">
            <a:solidFill>
              <a:srgbClr val="30363D"/>
            </a:solidFill>
            <a:prstDash val="solid"/>
          </a:ln>
        </p:spPr>
        <p:txBody>
          <a:bodyPr/>
          <a:p/>
        </p:txBody>
      </p:sp>
      <p:sp>
        <p:nvSpPr>
          <p:cNvPr id="10" name="Text 8"/>
          <p:cNvSpPr/>
          <p:nvPr/>
        </p:nvSpPr>
        <p:spPr>
          <a:xfrm>
            <a:off x="621792" y="2185416"/>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1  Cut and prep</a:t>
            </a:r>
            <a:endParaRPr lang="en-US" sz="1050" dirty="0"/>
          </a:p>
        </p:txBody>
      </p:sp>
      <p:sp>
        <p:nvSpPr>
          <p:cNvPr id="11" name="Text 9"/>
          <p:cNvSpPr/>
          <p:nvPr/>
        </p:nvSpPr>
        <p:spPr>
          <a:xfrm>
            <a:off x="3364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07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13" name="Text 11"/>
          <p:cNvSpPr/>
          <p:nvPr/>
        </p:nvSpPr>
        <p:spPr>
          <a:xfrm>
            <a:off x="5650992" y="2185416"/>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₱1,700</a:t>
            </a:r>
            <a:endParaRPr lang="en-US" sz="1050" dirty="0"/>
          </a:p>
        </p:txBody>
      </p:sp>
      <p:sp>
        <p:nvSpPr>
          <p:cNvPr id="14" name="Shape 12"/>
          <p:cNvSpPr/>
          <p:nvPr/>
        </p:nvSpPr>
        <p:spPr>
          <a:xfrm>
            <a:off x="566928" y="2532888"/>
            <a:ext cx="6858000" cy="347472"/>
          </a:xfrm>
          <a:prstGeom prst="rect">
            <a:avLst/>
          </a:prstGeom>
          <a:solidFill>
            <a:srgbClr val="161B22"/>
          </a:solidFill>
          <a:ln w="6350">
            <a:solidFill>
              <a:srgbClr val="30363D"/>
            </a:solidFill>
            <a:prstDash val="solid"/>
          </a:ln>
        </p:spPr>
        <p:txBody>
          <a:bodyPr/>
          <a:p/>
        </p:txBody>
      </p:sp>
      <p:sp>
        <p:nvSpPr>
          <p:cNvPr id="15" name="Text 13"/>
          <p:cNvSpPr/>
          <p:nvPr/>
        </p:nvSpPr>
        <p:spPr>
          <a:xfrm>
            <a:off x="621792" y="2532888"/>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2  Final machining</a:t>
            </a:r>
            <a:endParaRPr lang="en-US" sz="1050" dirty="0"/>
          </a:p>
        </p:txBody>
      </p:sp>
      <p:sp>
        <p:nvSpPr>
          <p:cNvPr id="16" name="Text 14"/>
          <p:cNvSpPr/>
          <p:nvPr/>
        </p:nvSpPr>
        <p:spPr>
          <a:xfrm>
            <a:off x="3364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4507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5</a:t>
            </a:r>
            <a:endParaRPr lang="en-US" sz="1050" dirty="0"/>
          </a:p>
        </p:txBody>
      </p:sp>
      <p:sp>
        <p:nvSpPr>
          <p:cNvPr id="18" name="Text 16"/>
          <p:cNvSpPr/>
          <p:nvPr/>
        </p:nvSpPr>
        <p:spPr>
          <a:xfrm>
            <a:off x="5650992" y="2532888"/>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₱12,750</a:t>
            </a:r>
            <a:endParaRPr lang="en-US" sz="1050" dirty="0"/>
          </a:p>
        </p:txBody>
      </p:sp>
      <p:sp>
        <p:nvSpPr>
          <p:cNvPr id="19" name="Shape 17"/>
          <p:cNvSpPr/>
          <p:nvPr/>
        </p:nvSpPr>
        <p:spPr>
          <a:xfrm>
            <a:off x="566928" y="2880360"/>
            <a:ext cx="6858000" cy="347472"/>
          </a:xfrm>
          <a:prstGeom prst="rect">
            <a:avLst/>
          </a:prstGeom>
          <a:solidFill>
            <a:srgbClr val="1C2128"/>
          </a:solidFill>
          <a:ln w="6350">
            <a:solidFill>
              <a:srgbClr val="30363D"/>
            </a:solidFill>
            <a:prstDash val="solid"/>
          </a:ln>
        </p:spPr>
        <p:txBody>
          <a:bodyPr/>
          <a:p/>
        </p:txBody>
      </p:sp>
      <p:sp>
        <p:nvSpPr>
          <p:cNvPr id="20" name="Text 18"/>
          <p:cNvSpPr/>
          <p:nvPr/>
        </p:nvSpPr>
        <p:spPr>
          <a:xfrm>
            <a:off x="621792" y="2880360"/>
            <a:ext cx="2633472" cy="347472"/>
          </a:xfrm>
          <a:prstGeom prst="rect">
            <a:avLst/>
          </a:prstGeom>
          <a:noFill/>
          <a:ln/>
        </p:spPr>
        <p:txBody>
          <a:bodyPr wrap="square" lIns="0" tIns="0" rIns="0" bIns="0" rtlCol="0" anchor="ctr"/>
          <a:lstStyle/>
          <a:p>
            <a:pPr algn="l" indent="0" marL="0">
              <a:buNone/>
            </a:pPr>
            <a:r>
              <a:rPr lang="en-US" sz="1050" dirty="0">
                <a:solidFill>
                  <a:srgbClr val="9AA4AF"/>
                </a:solidFill>
                <a:latin typeface="Calibri" pitchFamily="34" charset="0"/>
                <a:ea typeface="Calibri" pitchFamily="34" charset="-122"/>
                <a:cs typeface="Calibri" pitchFamily="34" charset="-120"/>
              </a:rPr>
              <a:t>Rows added up</a:t>
            </a:r>
            <a:endParaRPr lang="en-US" sz="1050" dirty="0"/>
          </a:p>
        </p:txBody>
      </p:sp>
      <p:sp>
        <p:nvSpPr>
          <p:cNvPr id="21" name="Text 19"/>
          <p:cNvSpPr/>
          <p:nvPr/>
        </p:nvSpPr>
        <p:spPr>
          <a:xfrm>
            <a:off x="3364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2" name="Text 20"/>
          <p:cNvSpPr/>
          <p:nvPr/>
        </p:nvSpPr>
        <p:spPr>
          <a:xfrm>
            <a:off x="4507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3" name="Text 21"/>
          <p:cNvSpPr/>
          <p:nvPr/>
        </p:nvSpPr>
        <p:spPr>
          <a:xfrm>
            <a:off x="5650992" y="2880360"/>
            <a:ext cx="1719072" cy="347472"/>
          </a:xfrm>
          <a:prstGeom prst="rect">
            <a:avLst/>
          </a:prstGeom>
          <a:noFill/>
          <a:ln/>
        </p:spPr>
        <p:txBody>
          <a:bodyPr wrap="square" lIns="0" tIns="0" rIns="0" bIns="0" rtlCol="0" anchor="ctr"/>
          <a:lstStyle/>
          <a:p>
            <a:pPr algn="r" indent="0" marL="0">
              <a:buNone/>
            </a:pPr>
            <a:r>
              <a:rPr lang="en-US" sz="1050" dirty="0">
                <a:solidFill>
                  <a:srgbClr val="9AA4AF"/>
                </a:solidFill>
                <a:latin typeface="Calibri" pitchFamily="34" charset="0"/>
                <a:ea typeface="Calibri" pitchFamily="34" charset="-122"/>
                <a:cs typeface="Calibri" pitchFamily="34" charset="-120"/>
              </a:rPr>
              <a:t>₱14,450</a:t>
            </a:r>
            <a:endParaRPr lang="en-US" sz="1050" dirty="0"/>
          </a:p>
        </p:txBody>
      </p:sp>
      <p:sp>
        <p:nvSpPr>
          <p:cNvPr id="24" name="Shape 22"/>
          <p:cNvSpPr/>
          <p:nvPr/>
        </p:nvSpPr>
        <p:spPr>
          <a:xfrm>
            <a:off x="566928" y="3227832"/>
            <a:ext cx="6858000" cy="347472"/>
          </a:xfrm>
          <a:prstGeom prst="rect">
            <a:avLst/>
          </a:prstGeom>
          <a:solidFill>
            <a:srgbClr val="161B22"/>
          </a:solidFill>
          <a:ln w="6350">
            <a:solidFill>
              <a:srgbClr val="30363D"/>
            </a:solidFill>
            <a:prstDash val="solid"/>
          </a:ln>
        </p:spPr>
        <p:txBody>
          <a:bodyPr/>
          <a:p/>
        </p:txBody>
      </p:sp>
      <p:sp>
        <p:nvSpPr>
          <p:cNvPr id="25" name="Text 23"/>
          <p:cNvSpPr/>
          <p:nvPr/>
        </p:nvSpPr>
        <p:spPr>
          <a:xfrm>
            <a:off x="621792" y="3227832"/>
            <a:ext cx="2633472" cy="347472"/>
          </a:xfrm>
          <a:prstGeom prst="rect">
            <a:avLst/>
          </a:prstGeom>
          <a:noFill/>
          <a:ln/>
        </p:spPr>
        <p:txBody>
          <a:bodyPr wrap="square" lIns="0" tIns="0" rIns="0" bIns="0" rtlCol="0" anchor="ctr"/>
          <a:lstStyle/>
          <a:p>
            <a:pPr algn="l" indent="0" marL="0">
              <a:buNone/>
            </a:pPr>
            <a:r>
              <a:rPr lang="en-US" sz="1050" b="1" dirty="0">
                <a:solidFill>
                  <a:srgbClr val="F0A429"/>
                </a:solidFill>
                <a:latin typeface="Calibri" pitchFamily="34" charset="0"/>
                <a:ea typeface="Calibri" pitchFamily="34" charset="-122"/>
                <a:cs typeface="Calibri" pitchFamily="34" charset="-120"/>
              </a:rPr>
              <a:t>CONSOLIDATED CREW</a:t>
            </a:r>
            <a:endParaRPr lang="en-US" sz="1050" dirty="0"/>
          </a:p>
        </p:txBody>
      </p:sp>
      <p:sp>
        <p:nvSpPr>
          <p:cNvPr id="26" name="Text 24"/>
          <p:cNvSpPr/>
          <p:nvPr/>
        </p:nvSpPr>
        <p:spPr>
          <a:xfrm>
            <a:off x="3364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7" name="Text 25"/>
          <p:cNvSpPr/>
          <p:nvPr/>
        </p:nvSpPr>
        <p:spPr>
          <a:xfrm>
            <a:off x="4507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7</a:t>
            </a:r>
            <a:endParaRPr lang="en-US" sz="1050" dirty="0"/>
          </a:p>
        </p:txBody>
      </p:sp>
      <p:sp>
        <p:nvSpPr>
          <p:cNvPr id="28" name="Text 26"/>
          <p:cNvSpPr/>
          <p:nvPr/>
        </p:nvSpPr>
        <p:spPr>
          <a:xfrm>
            <a:off x="5650992" y="3227832"/>
            <a:ext cx="1719072" cy="347472"/>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₱17,850</a:t>
            </a:r>
            <a:endParaRPr lang="en-US" sz="1050" dirty="0"/>
          </a:p>
        </p:txBody>
      </p:sp>
      <p:sp>
        <p:nvSpPr>
          <p:cNvPr id="29" name="Shape 27"/>
          <p:cNvSpPr/>
          <p:nvPr/>
        </p:nvSpPr>
        <p:spPr>
          <a:xfrm>
            <a:off x="566928" y="3849624"/>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22960" y="4014216"/>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The largest PAX, for the total days</a:t>
            </a:r>
            <a:endParaRPr lang="en-US" sz="1450" dirty="0"/>
          </a:p>
        </p:txBody>
      </p:sp>
      <p:sp>
        <p:nvSpPr>
          <p:cNvPr id="31" name="Text 29"/>
          <p:cNvSpPr/>
          <p:nvPr/>
        </p:nvSpPr>
        <p:spPr>
          <a:xfrm>
            <a:off x="822960" y="4361688"/>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You mobilise 3 electricians for the whole 7 days and pay them whether or not task 1 needs all three. That is why consolidating COSTS MORE than adding the rows up — and why the higher figure is the right one.</a:t>
            </a:r>
            <a:endParaRPr lang="en-US" sz="1200" dirty="0"/>
          </a:p>
        </p:txBody>
      </p:sp>
      <p:sp>
        <p:nvSpPr>
          <p:cNvPr id="32" name="Shape 30"/>
          <p:cNvSpPr/>
          <p:nvPr/>
        </p:nvSpPr>
        <p:spPr>
          <a:xfrm>
            <a:off x="7635240" y="191109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3" name="Text 31"/>
          <p:cNvSpPr/>
          <p:nvPr/>
        </p:nvSpPr>
        <p:spPr>
          <a:xfrm>
            <a:off x="7863840" y="2029968"/>
            <a:ext cx="3566160" cy="274320"/>
          </a:xfrm>
          <a:prstGeom prst="rect">
            <a:avLst/>
          </a:prstGeom>
          <a:noFill/>
          <a:ln/>
        </p:spPr>
        <p:txBody>
          <a:bodyPr wrap="square" lIns="0" tIns="0" rIns="0" bIns="0" rtlCol="0" anchor="ctr"/>
          <a:lstStyle/>
          <a:p>
            <a:pPr indent="0" marL="0">
              <a:buNone/>
            </a:pPr>
            <a:r>
              <a:rPr lang="en-US" sz="1300" b="1" dirty="0">
                <a:solidFill>
                  <a:srgbClr val="F0A429"/>
                </a:solidFill>
                <a:latin typeface="Arial" pitchFamily="34" charset="0"/>
                <a:ea typeface="Arial" pitchFamily="34" charset="-122"/>
                <a:cs typeface="Arial" pitchFamily="34" charset="-120"/>
              </a:rPr>
              <a:t>⇊ Consolidate crew</a:t>
            </a:r>
            <a:endParaRPr lang="en-US" sz="1300" dirty="0"/>
          </a:p>
        </p:txBody>
      </p:sp>
      <p:sp>
        <p:nvSpPr>
          <p:cNvPr id="34" name="Text 32"/>
          <p:cNvSpPr/>
          <p:nvPr/>
        </p:nvSpPr>
        <p:spPr>
          <a:xfrm>
            <a:off x="7863840" y="2322576"/>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On the Manpower tab, under each shift. It shows the arithmetic and warns that the cost will rise before it changes anything.</a:t>
            </a:r>
            <a:endParaRPr lang="en-US" sz="1050" dirty="0"/>
          </a:p>
        </p:txBody>
      </p:sp>
      <p:sp>
        <p:nvSpPr>
          <p:cNvPr id="35" name="Shape 33"/>
          <p:cNvSpPr/>
          <p:nvPr/>
        </p:nvSpPr>
        <p:spPr>
          <a:xfrm>
            <a:off x="7635240" y="311810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7863840" y="3236976"/>
            <a:ext cx="3566160" cy="274320"/>
          </a:xfrm>
          <a:prstGeom prst="rect">
            <a:avLst/>
          </a:prstGeom>
          <a:noFill/>
          <a:ln/>
        </p:spPr>
        <p:txBody>
          <a:bodyPr wrap="square" lIns="0" tIns="0" rIns="0" bIns="0" rtlCol="0" anchor="ctr"/>
          <a:lstStyle/>
          <a:p>
            <a:pPr indent="0" marL="0">
              <a:buNone/>
            </a:pPr>
            <a:r>
              <a:rPr lang="en-US" sz="1300" b="1" dirty="0">
                <a:solidFill>
                  <a:srgbClr val="58A6FF"/>
                </a:solidFill>
                <a:latin typeface="Arial" pitchFamily="34" charset="0"/>
                <a:ea typeface="Arial" pitchFamily="34" charset="-122"/>
                <a:cs typeface="Arial" pitchFamily="34" charset="-120"/>
              </a:rPr>
              <a:t>Tools &amp; Equipment</a:t>
            </a:r>
            <a:endParaRPr lang="en-US" sz="1300" dirty="0"/>
          </a:p>
        </p:txBody>
      </p:sp>
      <p:sp>
        <p:nvSpPr>
          <p:cNvPr id="37" name="Text 35"/>
          <p:cNvSpPr/>
          <p:nvPr/>
        </p:nvSpPr>
        <p:spPr>
          <a:xfrm>
            <a:off x="7863840" y="3529584"/>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Same rule — one compressor covers both tasks. Use ⇊ Combine on that tab.</a:t>
            </a:r>
            <a:endParaRPr lang="en-US" sz="1050" dirty="0"/>
          </a:p>
        </p:txBody>
      </p:sp>
      <p:sp>
        <p:nvSpPr>
          <p:cNvPr id="38" name="Shape 36"/>
          <p:cNvSpPr/>
          <p:nvPr/>
        </p:nvSpPr>
        <p:spPr>
          <a:xfrm>
            <a:off x="7635240" y="4325112"/>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4443984"/>
            <a:ext cx="3566160" cy="274320"/>
          </a:xfrm>
          <a:prstGeom prst="rect">
            <a:avLst/>
          </a:prstGeom>
          <a:noFill/>
          <a:ln/>
        </p:spPr>
        <p:txBody>
          <a:bodyPr wrap="square" lIns="0" tIns="0" rIns="0" bIns="0" rtlCol="0" anchor="ctr"/>
          <a:lstStyle/>
          <a:p>
            <a:pPr indent="0" marL="0">
              <a:buNone/>
            </a:pPr>
            <a:r>
              <a:rPr lang="en-US" sz="1300" b="1" dirty="0">
                <a:solidFill>
                  <a:srgbClr val="3FB950"/>
                </a:solidFill>
                <a:latin typeface="Arial" pitchFamily="34" charset="0"/>
                <a:ea typeface="Arial" pitchFamily="34" charset="-122"/>
                <a:cs typeface="Arial" pitchFamily="34" charset="-120"/>
              </a:rPr>
              <a:t>Materials · PPE · Misc.</a:t>
            </a:r>
            <a:endParaRPr lang="en-US" sz="1300" dirty="0"/>
          </a:p>
        </p:txBody>
      </p:sp>
      <p:sp>
        <p:nvSpPr>
          <p:cNvPr id="40" name="Text 38"/>
          <p:cNvSpPr/>
          <p:nvPr/>
        </p:nvSpPr>
        <p:spPr>
          <a:xfrm>
            <a:off x="7863840" y="4736592"/>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The opposite: consumables are used up, so 5 L + 8 L = 13 L and the total does not change.</a:t>
            </a:r>
            <a:endParaRPr lang="en-US" sz="1050" dirty="0"/>
          </a:p>
        </p:txBody>
      </p:sp>
      <p:sp>
        <p:nvSpPr>
          <p:cNvPr id="41" name="Shape 39"/>
          <p:cNvSpPr/>
          <p:nvPr/>
        </p:nvSpPr>
        <p:spPr>
          <a:xfrm>
            <a:off x="7635240" y="5522976"/>
            <a:ext cx="3977640" cy="868680"/>
          </a:xfrm>
          <a:prstGeom prst="roundRect">
            <a:avLst>
              <a:gd name="adj" fmla="val 84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5632704"/>
            <a:ext cx="3566160" cy="27432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Your tasks keep their costs</a:t>
            </a:r>
            <a:endParaRPr lang="en-US" sz="1300" dirty="0"/>
          </a:p>
        </p:txBody>
      </p:sp>
      <p:sp>
        <p:nvSpPr>
          <p:cNvPr id="43" name="Text 41"/>
          <p:cNvSpPr/>
          <p:nvPr/>
        </p:nvSpPr>
        <p:spPr>
          <a:xfrm>
            <a:off x="7863840" y="5925312"/>
            <a:ext cx="3566160" cy="41148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A consolidated row still appears under every task it serves, split in proportion.</a:t>
            </a:r>
            <a:endParaRPr lang="en-US" sz="1050" dirty="0"/>
          </a:p>
        </p:txBody>
      </p:sp>
      <p:sp>
        <p:nvSpPr>
          <p:cNvPr id="44" name="Shape 42"/>
          <p:cNvSpPr/>
          <p:nvPr/>
        </p:nvSpPr>
        <p:spPr>
          <a:xfrm>
            <a:off x="566928" y="5312664"/>
            <a:ext cx="6858000" cy="896112"/>
          </a:xfrm>
          <a:prstGeom prst="roundRect">
            <a:avLst>
              <a:gd name="adj" fmla="val 816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822960" y="5440680"/>
            <a:ext cx="63093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Do it once, at the end</a:t>
            </a:r>
            <a:endParaRPr lang="en-US" sz="1350" dirty="0"/>
          </a:p>
        </p:txBody>
      </p:sp>
      <p:sp>
        <p:nvSpPr>
          <p:cNvPr id="46" name="Text 44"/>
          <p:cNvSpPr/>
          <p:nvPr/>
        </p:nvSpPr>
        <p:spPr>
          <a:xfrm>
            <a:off x="822960" y="5733288"/>
            <a:ext cx="6309360" cy="457200"/>
          </a:xfrm>
          <a:prstGeom prst="rect">
            <a:avLst/>
          </a:prstGeom>
          <a:noFill/>
          <a:ln/>
        </p:spPr>
        <p:txBody>
          <a:bodyPr wrap="square" lIns="0" tIns="0" rIns="0" bIns="0" rtlCol="0" anchor="t"/>
          <a:lstStyle/>
          <a:p>
            <a:pPr algn="l" indent="0" marL="0">
              <a:lnSpc>
                <a:spcPts val="1400"/>
              </a:lnSpc>
              <a:buNone/>
            </a:pPr>
            <a:r>
              <a:rPr lang="en-US" sz="1100" dirty="0">
                <a:solidFill>
                  <a:srgbClr val="9AA4AF"/>
                </a:solidFill>
                <a:latin typeface="Calibri" pitchFamily="34" charset="0"/>
                <a:ea typeface="Calibri" pitchFamily="34" charset="-122"/>
                <a:cs typeface="Calibri" pitchFamily="34" charset="-120"/>
              </a:rPr>
              <a:t>Plan per task in SOW Breakdown first, then consolidate just before you generate the CE. The printed form shows whatever rows exist when you press Generate.</a:t>
            </a:r>
            <a:endParaRPr lang="en-US" sz="1100" dirty="0"/>
          </a:p>
        </p:txBody>
      </p:sp>
      <p:sp>
        <p:nvSpPr>
          <p:cNvPr id="47" name="Text 45"/>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8" name="Text 46"/>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MOBILIZATION &amp; DEMOBILIZATION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crew that travels, and what it costs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On-site CEs have two cards at the top of the Manpower tab. Each has a manpower table, then its expense lines.</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Manpower, linked to the SOW Breakdown</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Crew from SOW Breakdown adds one SOW-tagged line per role and keeps it in step with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PAX is the most on any day shift plus any night shift — 4 welders on two tasks is 4, not 8</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Type over Pax or Rate if travel differs (orange box); ↺ follows the crew again. Days and OT are yours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Add Manpower for anyone who is not on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Demobilization, ⧉ Copy from Mobilization copies the charges you tick; (MOB) becomes (DEMOB). Food allowance and SOW crew are not copied</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On the printed CE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MOBILIZATION and DEMOBILIZATION are rows A and B of the cost summary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Their section prints first: manpower with a SUB TOTAL of pax, then the charges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manpower SUB TOTAL shows pax; C.7 ends with TOTAL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a Mobilization sheet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FOOD ALLOWANCE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rates, counted from the crew</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Project manager, admin and skilled manpower are paid different meal allowances. The app counts heads for each rate.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Where it is counted</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 / Demob: added with the crew — the pax who travel × the travel days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Accommodation: 🍽 Food allowance from crew — each role and shift a sub-item, pax × days worked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Lines tagged CREW follow the Manpower; delete them to stop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Each role’s rate is set in the Masterlist Food Allowance column; Auto guesses from the name</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Keeping the rates right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Rates are the Masterlist → Miscellaneous items MEAL ALLOWANCE (PM), (ADMIN), (SKILLED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line takes today’s rate; a saved CE keeps what it was quoted at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Sync meal rates moves every meal line on the open CE to the current rate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Food Allowance column is in the Masterlist template and import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on a tier: per project, per day, or per hour used. Tier 2 — per day — is the default. On a Shopworks CE each row also carries the power it draws.</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Not on it yet? ＋ Add to Masterlist under the row (or ＋ Masterlist in the header) adds it for everyone.</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Re-prices every matching row from the Masterlist, tier figures included. Also on the Summary tab, where it covers the whole CE at once — tools, materials and PPE together.</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Combine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Equipment: largest quantity any task needs, for the total days. Consumables: quantities simply add.</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Standard units keep their spelling (Pcs, Kg, mL, sq.m); any other is written Piece, not PIECE. ↺ Sync UOM takes the Masterlist item’s unit; costs do not change.</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TIER PRICING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ways to charge a tool</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Tier 1 · per project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flat share of what the tool costs to own for a year, whatever the duration. Two days and sixty days cost the same. Days and Hours grey out.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Tier 2 · per day  (default)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Days × the daily rate — exactly what the app has always done. A row that names no tier is Tier 2, so nothing already quoted has moved.</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Tier 3 · per hour used</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Hours × the hourly rate. Type the hours the tool is really used. This is the tier for a short job on expensive equipment.</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Why Tier 3 exists</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high-value tool billed at a minimum day loses small jobs. A van on a 3-day job used 8 hours a day costs ₱1,479 on Tier 2 and ₱493 on Tier 3 — the same money, counted by the hour.</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Setting the tier</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Each row has a Tier box; the toolbar sets which tier NEW rows start on. Pick tools From Masterlist so the tier figures come with them. A Tier 1 or 3 row missing them shows a ⚠.</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DAYS column is now BASIS, and reads "per project", "5 days" or "24 hrs" — so the client can see what they are being charged for.</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Judgement still required</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Tier 3 recovers about a sixth of what a tool costs to own per year, against half on Tier 2. It is a deliberate discount to win small work. On a long shutdown, use Tier 2 or 1.</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POWER USAGE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Electricity the shop pays for</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Shopworks only</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An onsite job runs on the client’s supply, so nothing is charged for power there. The three power columns appear on a Shopworks CE and nowhere else.</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kW comes from the Masterlist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Every tool can carry a power rating. Pick the item from the Masterlist and the rating arrives with the rate. Type it on the row for anything not in the list.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Running hrs — what it actually draws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Hours the tool is really running, not how long it is on the floor. A grinder on site for five days does not draw for 120 hours. Independent of the tier.</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electricity rate</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Pesos per kWh, in the Tools &amp; Equipment header. Starts at ₱12.00. It belongs to THIS CE, so a utility increase never reprices an estimate already sent out.</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What it costs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Qty × kW × running hrs × ₱/kWh. It shows in its own Power column and is added to the row total on top of the rental.</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Charging no power at all</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 the rate to 0. The kW and running hours stay on the rows and nothing is billed — useful when power is inside an agreed shop rate.</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POWER column sits beside BASIS, so the client can see why a machine costs what it does. A row with no rating shows a dash.</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days and cost — blank days counts as 1. Food allowance for the stay can be counted from the crew (see Food allowance). Mobilisation and demobilisation are at the top of the Manpower tab.</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txBody>
          <a:bodyPr/>
          <a:p/>
        </p:txBody>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txBody>
          <a:bodyPr/>
          <a:p/>
        </p:txBody>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txBody>
          <a:bodyPr/>
          <a:p/>
        </p:txBody>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txBody>
          <a:bodyPr/>
          <a:p/>
        </p:txBody>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txBody>
          <a:bodyPr/>
          <a:p/>
        </p:txBody>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Filled from the CE Defaults preset for this CE type and discipline, with your name in Prepared By. A signature drawn on screen is saved with the CE.</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the Quantity you set on Project Info.</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t"/>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show one line, or several added up,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Services summary — restate the total by service (next slide)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 Sync Rates — re-price the whole CE from the Masterlist before requoting</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Internal Verification Notes — your own note against each cost group; typed, never generated</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SERVICES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Restate the total by service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For clients who want SAND BLASTING WORKS, WELDING WORKS… listed under the cost total. Off unless you turn it on.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Setting it up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the Summary tab, tick Services summary on this CE. The card previews exactly what will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SOW Breakdown, type a Service group on each main scope item — e.g. WELDING WORKS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Items with the same group print as one line; sub-items go with their main item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resources filed against a scope item count toward its group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What prints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SERVICES block under the total: one line per group, then Other misc. to the project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Other misc. is everything no group carries — mob/demob, unlinked rows, items with no group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 the services total always equals the total amount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services add up to more, a cost is counted twice: the card turns red and the block does not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the same block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txBody>
          <a:bodyPr/>
          <a:p/>
        </p:txBody>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txBody>
          <a:bodyPr/>
          <a:p/>
        </p:txBody>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for the team; it shows in CE Monitoring and saving clears it. Only its owner or an admin can delete one, after a warning.</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txBody>
          <a:bodyPr/>
          <a:p/>
        </p:txBody>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txBody>
          <a:bodyPr/>
          <a:p/>
        </p:txBody>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txBody>
          <a:bodyPr/>
          <a:p/>
        </p:txBody>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says when that CE was saved. Use Revise to supersede it, or pick a new number. A save that reaches only this browser now says so — it is not filed until it reaches SharePoint.</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in a print window: cover, cost summary, manpower loading, resources, scope of work and signature blocks. Print it or save as PDF.</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CE · Export Detailed</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Both write the CE as a formatted Excel workbook, figures as numbers. Title bars take the company colour — green SY3, orange Synercore; change it in Admin → Companies → Header Bar Color.</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OT HRS/DAY is what you typed; AOT is that × the days</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Left and right margins are 0.25 in — keep Chrome’s Margins on Default</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Tools show BASIS — "per project", "5 days", "24 hrs" — in place of DAYS</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txBody>
          <a:bodyPr/>
          <a:p/>
        </p:txBody>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txBody>
          <a:bodyPr/>
          <a:p/>
        </p:txBody>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txBody>
          <a:bodyPr/>
          <a:p/>
        </p:txBody>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Status · Remarks · with history</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 Status and 💬 Remarks each keep a trail: every change or remark, who and when; the column shows the latest. ✎ Edit covers customer, job title and dates.</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turns red when a deadline passes, and stops counting once the CE is submitted. The list opens newest first by CE number — year, then sequence — not by when the row was typed.</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 View · 🖨 CE · ⬇ xlsx</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 View shows a saved CE right here, read-only — ideal for approvers. 🖨 CE and ⬇ xlsx open it in a new tab. None of them touch the CE you have open.</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Revisions · 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is one row at its newest revision; "+2 rev" opens older ones. ⚖ Diff on a revision compares it with its base, section by section, Mob/Demob included.</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PART 2</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Finding work, and the files on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list has grown filters, and the attachments on a CE now open. Who may delete has been tightened.</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Finding a CE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Search matches CE number, customer and job title — filter by Discipline and by Customer beside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work means work still in play: Approved, Submitted, No Quote and Cancelled count as closed, not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left stops counting the moment a CE is submitted, so work you have already sent no longer turns red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 is the issuing company from Project Info — it is not the costing engineer’s initials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Attachments · who can delete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on a row holds drawings, the TOR and client enquiries. They are stored on SharePoint, not in your browser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Anyone who can see the CE can open its files. Links that used to fail now open the document in SharePoint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an admin or the owner can delete a CE, or one of its attachments. Your own unsaved draft is still yours to discard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panel cannot read the list it says so. It no longer reports "no attachments" when the real problem is a dropped sign-in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REQUESTS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Log it, assign it, attach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 request goes on the list the day it arrives, so nothing is forgotten between receiving it and costing it.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Logging a request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Press + New Request. The next free CE number is suggested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Customer and Assigned to are required; add type, discipline, job title, date received, deadline and remarks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attachments panel opens next — upload the TOR, drawings and client email</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 shows as a Pending row badged REQUEST, with you as Received By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 on any row hands it to someone else. Pick from the list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Working on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Assigned to me shows your CEs and requests — including ones someone else logged for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Load the request, build the estimate, and Save under the SAME number — it replaces the request and keeps its files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That is the only save over an existing number allowed without Revise, and only for that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Assigned to me matches your name, so a nickname typed in the Estimator field will not be found</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txBody>
          <a:bodyPr/>
          <a:p/>
        </p:txBody>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Rates, the Scope Library and your saved CEs are already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txBody>
          <a:bodyPr/>
          <a:p/>
        </p:txBody>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txBody>
          <a:bodyPr/>
          <a:p/>
        </p:txBody>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26</a:t>
            </a:r>
            <a:endParaRPr lang="en-US" sz="900" dirty="0"/>
          </a:p>
        </p:txBody>
      </p:sp>
      <p:sp>
        <p:nvSpPr>
          <p:cNvPr id="21" name="Text 19"/>
          <p:cNvSpPr/>
          <p:nvPr/>
        </p:nvSpPr>
        <p:spPr>
          <a:xfrm>
            <a:off x="841248" y="5669280"/>
            <a:ext cx="6400800"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Reading the sync bar</a:t>
            </a:r>
            <a:endParaRPr lang="en-US" sz="1400" dirty="0"/>
          </a:p>
        </p:txBody>
      </p:sp>
      <p:sp>
        <p:nvSpPr>
          <p:cNvPr id="22" name="Text 20"/>
          <p:cNvSpPr/>
          <p:nvPr/>
        </p:nvSpPr>
        <p:spPr>
          <a:xfrm>
            <a:off x="841248" y="5943600"/>
            <a:ext cx="10515600" cy="457200"/>
          </a:xfrm>
          <a:prstGeom prst="rect">
            <a:avLst/>
          </a:prstGeom>
          <a:noFill/>
          <a:ln/>
        </p:spPr>
        <p:txBody>
          <a:bodyPr wrap="square" lIns="0" tIns="0" rIns="0" bIns="0" rtlCol="0" anchor="ctr"/>
          <a:lstStyle/>
          <a:p>
            <a:pPr indent="0" marL="0">
              <a:lnSpc>
                <a:spcPts val="1600"/>
              </a:lnSpc>
              <a:buNone/>
            </a:pPr>
            <a:r>
              <a:rPr lang="en-US" sz="1100" dirty="0">
                <a:solidFill>
                  <a:srgbClr val="E6EDF3"/>
                </a:solidFill>
                <a:latin typeface="Calibri" pitchFamily="34" charset="0"/>
                <a:ea typeface="Calibri" pitchFamily="34" charset="-122"/>
                <a:cs typeface="Calibri" pitchFamily="34" charset="-120"/>
              </a:rPr>
              <a:t>✓ green is in step with SharePoint. ↻ syncing… is fetching now. ⚠ this device only means SharePoint did not answer and you are seeing this browser’s copy — press ⟳. ✗ sync failed needs a retry or your admin.</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9">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822960" y="1700784"/>
            <a:ext cx="310896" cy="310896"/>
          </a:xfrm>
          <a:prstGeom prst="ellipse">
            <a:avLst/>
          </a:prstGeom>
          <a:solidFill>
            <a:srgbClr val="F0A429"/>
          </a:solidFill>
          <a:ln w="12700">
            <a:solidFill>
              <a:srgbClr val="F0A429"/>
            </a:solidFill>
            <a:prstDash val="solid"/>
          </a:ln>
        </p:spPr>
        <p:txBody>
          <a:bodyPr/>
          <a:p/>
        </p:txBody>
      </p:sp>
      <p:sp>
        <p:nvSpPr>
          <p:cNvPr id="6" name="Text 4"/>
          <p:cNvSpPr/>
          <p:nvPr/>
        </p:nvSpPr>
        <p:spPr>
          <a:xfrm>
            <a:off x="1280160" y="151790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4708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51790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Press ⚠ Sign in to Microsoft in the top bar, beside Set AI Key.</a:t>
            </a:r>
            <a:endParaRPr lang="en-US" sz="1150" dirty="0"/>
          </a:p>
        </p:txBody>
      </p:sp>
      <p:sp>
        <p:nvSpPr>
          <p:cNvPr id="9" name="Shape 7"/>
          <p:cNvSpPr/>
          <p:nvPr/>
        </p:nvSpPr>
        <p:spPr>
          <a:xfrm>
            <a:off x="566928" y="2450592"/>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822960" y="2743200"/>
            <a:ext cx="310896" cy="310896"/>
          </a:xfrm>
          <a:prstGeom prst="ellipse">
            <a:avLst/>
          </a:prstGeom>
          <a:solidFill>
            <a:srgbClr val="F85149"/>
          </a:solidFill>
          <a:ln w="12700">
            <a:solidFill>
              <a:srgbClr val="F85149"/>
            </a:solidFill>
            <a:prstDash val="solid"/>
          </a:ln>
        </p:spPr>
        <p:txBody>
          <a:bodyPr/>
          <a:p/>
        </p:txBody>
      </p:sp>
      <p:sp>
        <p:nvSpPr>
          <p:cNvPr id="11" name="Text 9"/>
          <p:cNvSpPr/>
          <p:nvPr/>
        </p:nvSpPr>
        <p:spPr>
          <a:xfrm>
            <a:off x="1280160" y="256032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88950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56032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493008"/>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822960" y="3785616"/>
            <a:ext cx="310896" cy="310896"/>
          </a:xfrm>
          <a:prstGeom prst="ellipse">
            <a:avLst/>
          </a:prstGeom>
          <a:solidFill>
            <a:srgbClr val="F85149"/>
          </a:solidFill>
          <a:ln w="12700">
            <a:solidFill>
              <a:srgbClr val="F85149"/>
            </a:solidFill>
            <a:prstDash val="solid"/>
          </a:ln>
        </p:spPr>
        <p:txBody>
          <a:bodyPr/>
          <a:p/>
        </p:txBody>
      </p:sp>
      <p:sp>
        <p:nvSpPr>
          <p:cNvPr id="16" name="Text 14"/>
          <p:cNvSpPr/>
          <p:nvPr/>
        </p:nvSpPr>
        <p:spPr>
          <a:xfrm>
            <a:off x="1280160" y="36027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9319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6027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535424"/>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822960" y="4828032"/>
            <a:ext cx="310896" cy="310896"/>
          </a:xfrm>
          <a:prstGeom prst="ellipse">
            <a:avLst/>
          </a:prstGeom>
          <a:solidFill>
            <a:srgbClr val="58A6FF"/>
          </a:solidFill>
          <a:ln w="12700">
            <a:solidFill>
              <a:srgbClr val="58A6FF"/>
            </a:solidFill>
            <a:prstDash val="solid"/>
          </a:ln>
        </p:spPr>
        <p:txBody>
          <a:bodyPr/>
          <a:p/>
        </p:txBody>
      </p:sp>
      <p:sp>
        <p:nvSpPr>
          <p:cNvPr id="21" name="Text 19"/>
          <p:cNvSpPr/>
          <p:nvPr/>
        </p:nvSpPr>
        <p:spPr>
          <a:xfrm>
            <a:off x="1280160" y="464515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Saved to THIS BROWSER only</a:t>
            </a:r>
            <a:endParaRPr lang="en-US" sz="1350" dirty="0"/>
          </a:p>
        </p:txBody>
      </p:sp>
      <p:sp>
        <p:nvSpPr>
          <p:cNvPr id="22" name="Text 20"/>
          <p:cNvSpPr/>
          <p:nvPr/>
        </p:nvSpPr>
        <p:spPr>
          <a:xfrm>
            <a:off x="1280160" y="497433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CE is safe here but has not reached SharePoint, so nobody else can open it.</a:t>
            </a:r>
            <a:endParaRPr lang="en-US" sz="1100" dirty="0"/>
          </a:p>
        </p:txBody>
      </p:sp>
      <p:sp>
        <p:nvSpPr>
          <p:cNvPr id="23" name="Text 21"/>
          <p:cNvSpPr/>
          <p:nvPr/>
        </p:nvSpPr>
        <p:spPr>
          <a:xfrm>
            <a:off x="6236208" y="46451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Run Push All Local Data to SharePoint from the Users tab.</a:t>
            </a:r>
            <a:endParaRPr lang="en-US" sz="1150" dirty="0"/>
          </a:p>
        </p:txBody>
      </p:sp>
      <p:sp>
        <p:nvSpPr>
          <p:cNvPr id="24" name="Shape 22"/>
          <p:cNvSpPr/>
          <p:nvPr/>
        </p:nvSpPr>
        <p:spPr>
          <a:xfrm>
            <a:off x="566928" y="5632704"/>
            <a:ext cx="11055096"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1280160" y="574243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925312"/>
            <a:ext cx="310896" cy="310896"/>
          </a:xfrm>
          <a:prstGeom prst="ellipse">
            <a:avLst/>
          </a:prstGeom>
          <a:solidFill>
            <a:srgbClr val="9AA4AF"/>
          </a:solidFill>
          <a:ln w="12700">
            <a:solidFill>
              <a:srgbClr val="9AA4AF"/>
            </a:solidFill>
            <a:prstDash val="solid"/>
          </a:ln>
        </p:spPr>
        <p:txBody>
          <a:bodyPr/>
          <a:p/>
        </p:txBody>
      </p:sp>
      <p:sp>
        <p:nvSpPr>
          <p:cNvPr id="27" name="Text 25"/>
          <p:cNvSpPr/>
          <p:nvPr/>
        </p:nvSpPr>
        <p:spPr>
          <a:xfrm>
            <a:off x="1280160" y="605332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74243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"SharePoint is throttling this site" means too many requests at once — it clears itself; wait a minute and retry rather than pressing again.</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 with the next SY3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lists: what a colleague added since you opened the page is kept when you save, and a message names it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Tools also carry unit price, service life, projects per year, maintenance and a power rating in kW — press 💲 on a row to work all three tier prices out from them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Download the template to bulk-upload rates. The tools sheet takes the four tier figures and Power (kW), and reads the maintained workbook's own headings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NEVER alters a CE already saved. Use ↺ Sync Rates on the CE you are requoting</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rate row shows what you charged for it before — click a past figure to adopt it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891600"/>
          </a:xfrm>
          <a:prstGeom prst="rect">
            <a:avLst/>
          </a:prstGeom>
          <a:noFill/>
          <a:ln/>
        </p:spPr>
        <p:txBody>
          <a:bodyPr wrap="square" lIns="0" tIns="0" rIns="0" bIns="0" rtlCol="0" anchor="t"/>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CE numbers: one sequence for SHIC and SY3</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Tools are Tier 2 (per day) unless you say otherwise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ShopWorks: power is charged, Incentive is not</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Only an admin or the owner can delete a CE or its attachments</a:t>
            </a:r>
            <a:endParaRPr lang="en-US" sz="1150" dirty="0"/>
          </a:p>
        </p:txBody>
      </p:sp>
      <p:sp>
        <p:nvSpPr>
          <p:cNvPr id="7" name="Shape 5"/>
          <p:cNvSpPr/>
          <p:nvPr/>
        </p:nvSpPr>
        <p:spPr>
          <a:xfrm>
            <a:off x="6400800" y="1408176"/>
            <a:ext cx="5221224"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414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841248" y="430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61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the Days on your manpower rows, and the Tier on your tools. If your work is not reaching the team, look for ⚠ Sign in to Microsoft in the top bar before anything else.</a:t>
            </a:r>
            <a:endParaRPr lang="en-US" sz="1150" dirty="0"/>
          </a:p>
        </p:txBody>
      </p:sp>
      <p:sp>
        <p:nvSpPr>
          <p:cNvPr id="21" name="Text 19"/>
          <p:cNvSpPr/>
          <p:nvPr/>
        </p:nvSpPr>
        <p:spPr>
          <a:xfrm>
            <a:off x="566928" y="558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2026-08-13T00:01:51Z</dcterms:created>
  <dcterms:modified xsi:type="dcterms:W3CDTF">2026-08-13T00:01:51Z</dcterms:modified>
</cp:coreProperties>
</file>