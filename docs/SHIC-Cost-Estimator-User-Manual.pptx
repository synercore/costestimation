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manual walks through one complete cost estimate in the order the tabs appear. Anyone who prepares a CE can follow it start to finish; no admin knowledge is assumed.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to land: the app does the arithmetic and enforces one shared set of rates. The estimator supplies judgement — who is needed, for how long, with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Emphasise the order. Most problems people report come from skipping Project Info — the number of days there becomes the default for every manpower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Sign-in is per person. Never share an account — the CE records who saved it, and the audit log records who changed what.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Quantity and No. of days. Quantity divides the grand total into the unit price. No. of days is inherited by every manpower row added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biggest time-saver in the app and the one people under-use. A three-service job that takes 40 minutes by hand takes about a minute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numbering here is what appears on the printed Scope of Work page and on every breakdown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roll-up on the parent is new: a main task used to read "no resources" while the work below it was fully costed.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Call out the OT change explicitly. A CE saved before this behaved as a total for the whole job; reopening an old one shows a higher OT figure because the same number now means per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Days column exists on Tools only — equipment is often hired by the day. Materials and PPE are one-off purchases.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category headings change slightly by CE type — Supply jobs use Allowance instead of Accommodation.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margin is saved with the CE. Until recently it was silently discarded on save — if you reopen an old CE and the selling price line is missing, that is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clear that Check CE is advisory, not a lock. The only hard blocks are the four listed at the bottom.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vs Save is the distinction people get wrong. A draft is private and unfinished; a saved CE is the record the team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 CE is the deliverable. Everything before it exists to make this page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Monitoring is the register the whole team reads. Keeping status and remarks current is what makes it worth having.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Reassure people. The most common support call is someone who saved offline and thinks their work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middle one matters most: a permission refusal is not a session problem, and signing in again just wastes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Whoever maintains rates should own the Masterlist. Estimators should be picking from it, not typing 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pointing people at Check CE. It answers most "why is this number wrong" questions without a support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8595360" y="-1554480"/>
            <a:ext cx="5852160" cy="5852160"/>
          </a:xfrm>
          <a:prstGeom prst="ellipse">
            <a:avLst/>
          </a:prstGeom>
          <a:solidFill>
            <a:srgbClr val="13203A"/>
          </a:solidFill>
          <a:ln w="12700">
            <a:solidFill>
              <a:srgbClr val="13203A"/>
            </a:solidFill>
            <a:prstDash val="solid"/>
          </a:ln>
        </p:spPr>
      </p:sp>
      <p:sp>
        <p:nvSpPr>
          <p:cNvPr id="3" name="Shape 1"/>
          <p:cNvSpPr/>
          <p:nvPr/>
        </p:nvSpPr>
        <p:spPr>
          <a:xfrm>
            <a:off x="9966960" y="3108960"/>
            <a:ext cx="3291840" cy="3291840"/>
          </a:xfrm>
          <a:prstGeom prst="ellipse">
            <a:avLst/>
          </a:prstGeom>
          <a:solidFill>
            <a:srgbClr val="2A1F0B"/>
          </a:solidFill>
          <a:ln w="12700">
            <a:solidFill>
              <a:srgbClr val="2A1F0B"/>
            </a:solidFill>
            <a:prstDash val="solid"/>
          </a:ln>
        </p:spPr>
      </p:sp>
      <p:sp>
        <p:nvSpPr>
          <p:cNvPr id="4" name="Shape 2"/>
          <p:cNvSpPr/>
          <p:nvPr/>
        </p:nvSpPr>
        <p:spPr>
          <a:xfrm>
            <a:off x="566928" y="1417320"/>
            <a:ext cx="841248" cy="384048"/>
          </a:xfrm>
          <a:prstGeom prst="roundRect">
            <a:avLst>
              <a:gd name="adj" fmla="val 14286"/>
            </a:avLst>
          </a:prstGeom>
          <a:solidFill>
            <a:srgbClr val="F0A429"/>
          </a:solidFill>
          <a:ln w="12700">
            <a:solidFill>
              <a:srgbClr val="F0A429"/>
            </a:solidFill>
            <a:prstDash val="solid"/>
          </a:ln>
        </p:spPr>
      </p:sp>
      <p:sp>
        <p:nvSpPr>
          <p:cNvPr id="5" name="Text 3"/>
          <p:cNvSpPr/>
          <p:nvPr/>
        </p:nvSpPr>
        <p:spPr>
          <a:xfrm>
            <a:off x="566928" y="1417320"/>
            <a:ext cx="841248" cy="384048"/>
          </a:xfrm>
          <a:prstGeom prst="rect">
            <a:avLst/>
          </a:prstGeom>
          <a:noFill/>
          <a:ln/>
        </p:spPr>
        <p:txBody>
          <a:bodyPr wrap="square" lIns="0" tIns="0" rIns="0" bIns="0" rtlCol="0" anchor="ctr"/>
          <a:lstStyle/>
          <a:p>
            <a:pPr algn="ctr" indent="0" marL="0">
              <a:buNone/>
            </a:pPr>
            <a:r>
              <a:rPr lang="en-US" sz="1400" b="1" dirty="0">
                <a:solidFill>
                  <a:srgbClr val="000000"/>
                </a:solidFill>
                <a:latin typeface="Arial" pitchFamily="34" charset="0"/>
                <a:ea typeface="Arial" pitchFamily="34" charset="-122"/>
                <a:cs typeface="Arial" pitchFamily="34" charset="-120"/>
              </a:rPr>
              <a:t>SHIC</a:t>
            </a:r>
            <a:endParaRPr lang="en-US" sz="1400" dirty="0"/>
          </a:p>
        </p:txBody>
      </p:sp>
      <p:sp>
        <p:nvSpPr>
          <p:cNvPr id="6" name="Text 4"/>
          <p:cNvSpPr/>
          <p:nvPr/>
        </p:nvSpPr>
        <p:spPr>
          <a:xfrm>
            <a:off x="1536192" y="1417320"/>
            <a:ext cx="5486400" cy="384048"/>
          </a:xfrm>
          <a:prstGeom prst="rect">
            <a:avLst/>
          </a:prstGeom>
          <a:noFill/>
          <a:ln/>
        </p:spPr>
        <p:txBody>
          <a:bodyPr wrap="square" lIns="0" tIns="0" rIns="0" bIns="0" rtlCol="0" anchor="ctr"/>
          <a:lstStyle/>
          <a:p>
            <a:pPr indent="0" marL="0">
              <a:buNone/>
            </a:pPr>
            <a:r>
              <a:rPr lang="en-US" sz="1300" b="1" spc="200" kern="0" dirty="0">
                <a:solidFill>
                  <a:srgbClr val="9AA4AF"/>
                </a:solidFill>
                <a:latin typeface="Arial" pitchFamily="34" charset="0"/>
                <a:ea typeface="Arial" pitchFamily="34" charset="-122"/>
                <a:cs typeface="Arial" pitchFamily="34" charset="-120"/>
              </a:rPr>
              <a:t>COST ESTIMATOR  ·  v3</a:t>
            </a:r>
            <a:endParaRPr lang="en-US" sz="1300" dirty="0"/>
          </a:p>
        </p:txBody>
      </p:sp>
      <p:sp>
        <p:nvSpPr>
          <p:cNvPr id="7" name="Text 5"/>
          <p:cNvSpPr/>
          <p:nvPr/>
        </p:nvSpPr>
        <p:spPr>
          <a:xfrm>
            <a:off x="566928" y="2057400"/>
            <a:ext cx="7863840" cy="1371600"/>
          </a:xfrm>
          <a:prstGeom prst="rect">
            <a:avLst/>
          </a:prstGeom>
          <a:noFill/>
          <a:ln/>
        </p:spPr>
        <p:txBody>
          <a:bodyPr wrap="square" lIns="0" tIns="0" rIns="0" bIns="0" rtlCol="0" anchor="ctr"/>
          <a:lstStyle/>
          <a:p>
            <a:pPr indent="0" marL="0">
              <a:buNone/>
            </a:pPr>
            <a:r>
              <a:rPr lang="en-US" sz="5800" b="1" dirty="0">
                <a:solidFill>
                  <a:srgbClr val="E6EDF3"/>
                </a:solidFill>
                <a:latin typeface="Arial" pitchFamily="34" charset="0"/>
                <a:ea typeface="Arial" pitchFamily="34" charset="-122"/>
                <a:cs typeface="Arial" pitchFamily="34" charset="-120"/>
              </a:rPr>
              <a:t>End-User Manual</a:t>
            </a:r>
            <a:endParaRPr lang="en-US" sz="5800" dirty="0"/>
          </a:p>
        </p:txBody>
      </p:sp>
      <p:sp>
        <p:nvSpPr>
          <p:cNvPr id="8" name="Text 6"/>
          <p:cNvSpPr/>
          <p:nvPr/>
        </p:nvSpPr>
        <p:spPr>
          <a:xfrm>
            <a:off x="566928" y="3401568"/>
            <a:ext cx="7680960" cy="457200"/>
          </a:xfrm>
          <a:prstGeom prst="rect">
            <a:avLst/>
          </a:prstGeom>
          <a:noFill/>
          <a:ln/>
        </p:spPr>
        <p:txBody>
          <a:bodyPr wrap="square" lIns="0" tIns="0" rIns="0" bIns="0" rtlCol="0" anchor="ctr"/>
          <a:lstStyle/>
          <a:p>
            <a:pPr indent="0" marL="0">
              <a:buNone/>
            </a:pPr>
            <a:r>
              <a:rPr lang="en-US" sz="1900" dirty="0">
                <a:solidFill>
                  <a:srgbClr val="F0A429"/>
                </a:solidFill>
                <a:latin typeface="Calibri" pitchFamily="34" charset="0"/>
                <a:ea typeface="Calibri" pitchFamily="34" charset="-122"/>
                <a:cs typeface="Calibri" pitchFamily="34" charset="-120"/>
              </a:rPr>
              <a:t>Building a Cost Estimate, from blank page to signed CE</a:t>
            </a:r>
            <a:endParaRPr lang="en-US" sz="1900" dirty="0"/>
          </a:p>
        </p:txBody>
      </p:sp>
      <p:sp>
        <p:nvSpPr>
          <p:cNvPr id="9" name="Text 7"/>
          <p:cNvSpPr/>
          <p:nvPr/>
        </p:nvSpPr>
        <p:spPr>
          <a:xfrm>
            <a:off x="566928" y="4114800"/>
            <a:ext cx="7315200" cy="822960"/>
          </a:xfrm>
          <a:prstGeom prst="rect">
            <a:avLst/>
          </a:prstGeom>
          <a:noFill/>
          <a:ln/>
        </p:spPr>
        <p:txBody>
          <a:bodyPr wrap="square" lIns="0" tIns="0" rIns="0" bIns="0" rtlCol="0" anchor="ctr"/>
          <a:lstStyle/>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SY3 Energy Maintenance Services Corp.  ·  Synercore Heavy Industries</a:t>
            </a:r>
            <a:endParaRPr lang="en-US" sz="1350" dirty="0"/>
          </a:p>
          <a:p>
            <a:pPr indent="0" marL="0">
              <a:lnSpc>
                <a:spcPts val="2100"/>
              </a:lnSpc>
              <a:buNone/>
            </a:pPr>
            <a:r>
              <a:rPr lang="en-US" sz="1350" dirty="0">
                <a:solidFill>
                  <a:srgbClr val="9AA4AF"/>
                </a:solidFill>
                <a:latin typeface="Calibri" pitchFamily="34" charset="0"/>
                <a:ea typeface="Calibri" pitchFamily="34" charset="-122"/>
                <a:cs typeface="Calibri" pitchFamily="34" charset="-120"/>
              </a:rPr>
              <a:t>Technical Support Group</a:t>
            </a:r>
            <a:endParaRPr lang="en-US" sz="1350" dirty="0"/>
          </a:p>
        </p:txBody>
      </p:sp>
      <p:sp>
        <p:nvSpPr>
          <p:cNvPr id="10" name="Shape 8"/>
          <p:cNvSpPr/>
          <p:nvPr/>
        </p:nvSpPr>
        <p:spPr>
          <a:xfrm>
            <a:off x="566928" y="5212080"/>
            <a:ext cx="2560320" cy="566928"/>
          </a:xfrm>
          <a:prstGeom prst="roundRect">
            <a:avLst>
              <a:gd name="adj" fmla="val 12903"/>
            </a:avLst>
          </a:prstGeom>
          <a:solidFill>
            <a:srgbClr val="161B22"/>
          </a:solidFill>
          <a:ln w="12700">
            <a:solidFill>
              <a:srgbClr val="30363D"/>
            </a:solidFill>
            <a:prstDash val="solid"/>
          </a:ln>
        </p:spPr>
      </p:sp>
      <p:sp>
        <p:nvSpPr>
          <p:cNvPr id="11" name="Text 9"/>
          <p:cNvSpPr/>
          <p:nvPr/>
        </p:nvSpPr>
        <p:spPr>
          <a:xfrm>
            <a:off x="5669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Works offline</a:t>
            </a:r>
            <a:endParaRPr lang="en-US" sz="1200" dirty="0"/>
          </a:p>
        </p:txBody>
      </p:sp>
      <p:sp>
        <p:nvSpPr>
          <p:cNvPr id="12" name="Shape 10"/>
          <p:cNvSpPr/>
          <p:nvPr/>
        </p:nvSpPr>
        <p:spPr>
          <a:xfrm>
            <a:off x="3310128" y="5212080"/>
            <a:ext cx="2560320" cy="566928"/>
          </a:xfrm>
          <a:prstGeom prst="roundRect">
            <a:avLst>
              <a:gd name="adj" fmla="val 12903"/>
            </a:avLst>
          </a:prstGeom>
          <a:solidFill>
            <a:srgbClr val="161B22"/>
          </a:solidFill>
          <a:ln w="12700">
            <a:solidFill>
              <a:srgbClr val="30363D"/>
            </a:solidFill>
            <a:prstDash val="solid"/>
          </a:ln>
        </p:spPr>
      </p:sp>
      <p:sp>
        <p:nvSpPr>
          <p:cNvPr id="13" name="Text 11"/>
          <p:cNvSpPr/>
          <p:nvPr/>
        </p:nvSpPr>
        <p:spPr>
          <a:xfrm>
            <a:off x="33101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Shared with your team</a:t>
            </a:r>
            <a:endParaRPr lang="en-US" sz="1200" dirty="0"/>
          </a:p>
        </p:txBody>
      </p:sp>
      <p:sp>
        <p:nvSpPr>
          <p:cNvPr id="14" name="Shape 12"/>
          <p:cNvSpPr/>
          <p:nvPr/>
        </p:nvSpPr>
        <p:spPr>
          <a:xfrm>
            <a:off x="6053328" y="5212080"/>
            <a:ext cx="2560320" cy="566928"/>
          </a:xfrm>
          <a:prstGeom prst="roundRect">
            <a:avLst>
              <a:gd name="adj" fmla="val 12903"/>
            </a:avLst>
          </a:prstGeom>
          <a:solidFill>
            <a:srgbClr val="161B22"/>
          </a:solidFill>
          <a:ln w="12700">
            <a:solidFill>
              <a:srgbClr val="30363D"/>
            </a:solidFill>
            <a:prstDash val="solid"/>
          </a:ln>
        </p:spPr>
      </p:sp>
      <p:sp>
        <p:nvSpPr>
          <p:cNvPr id="15" name="Text 13"/>
          <p:cNvSpPr/>
          <p:nvPr/>
        </p:nvSpPr>
        <p:spPr>
          <a:xfrm>
            <a:off x="6053328" y="5212080"/>
            <a:ext cx="2560320" cy="566928"/>
          </a:xfrm>
          <a:prstGeom prst="rect">
            <a:avLst/>
          </a:prstGeom>
          <a:noFill/>
          <a:ln/>
        </p:spPr>
        <p:txBody>
          <a:bodyPr wrap="square" lIns="0" tIns="0" rIns="0" bIns="0" rtlCol="0" anchor="ctr"/>
          <a:lstStyle/>
          <a:p>
            <a:pPr algn="ctr" indent="0" marL="0">
              <a:buNone/>
            </a:pPr>
            <a:r>
              <a:rPr lang="en-US" sz="1200" dirty="0">
                <a:solidFill>
                  <a:srgbClr val="E6EDF3"/>
                </a:solidFill>
                <a:latin typeface="Calibri" pitchFamily="34" charset="0"/>
                <a:ea typeface="Calibri" pitchFamily="34" charset="-122"/>
                <a:cs typeface="Calibri" pitchFamily="34" charset="-120"/>
              </a:rPr>
              <a:t>Prints the official CE form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this app replaces</a:t>
            </a:r>
            <a:endParaRPr lang="en-US" sz="3200" dirty="0"/>
          </a:p>
        </p:txBody>
      </p:sp>
      <p:sp>
        <p:nvSpPr>
          <p:cNvPr id="4" name="Shape 2"/>
          <p:cNvSpPr/>
          <p:nvPr/>
        </p:nvSpPr>
        <p:spPr>
          <a:xfrm>
            <a:off x="566928" y="1408176"/>
            <a:ext cx="5577840" cy="3977640"/>
          </a:xfrm>
          <a:prstGeom prst="roundRect">
            <a:avLst>
              <a:gd name="adj" fmla="val 1839"/>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86968" y="1682496"/>
            <a:ext cx="4937760" cy="365760"/>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The estimate builds itself as you go</a:t>
            </a:r>
            <a:endParaRPr lang="en-US" sz="1700" dirty="0"/>
          </a:p>
        </p:txBody>
      </p:sp>
      <p:sp>
        <p:nvSpPr>
          <p:cNvPr id="6" name="Text 4"/>
          <p:cNvSpPr/>
          <p:nvPr/>
        </p:nvSpPr>
        <p:spPr>
          <a:xfrm>
            <a:off x="886968" y="2185416"/>
            <a:ext cx="4937760" cy="2926080"/>
          </a:xfrm>
          <a:prstGeom prst="rect">
            <a:avLst/>
          </a:prstGeom>
          <a:noFill/>
          <a:ln/>
        </p:spPr>
        <p:txBody>
          <a:bodyPr wrap="square" lIns="0" tIns="0" rIns="0" bIns="0" rtlCol="0" anchor="ctr"/>
          <a:lstStyle/>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 enter people, tools, consumables and PPE — the totals, benefits and overtime are calculated for you</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Every rate comes from the shared Masterlist, so two estimators quoting the same welder quote the same figure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The finished CE prints on the official SHIC form, ready for signature</a:t>
            </a:r>
            <a:endParaRPr lang="en-US" sz="1350" dirty="0"/>
          </a:p>
          <a:p>
            <a:pPr marL="342900" indent="-342900">
              <a:lnSpc>
                <a:spcPts val="1900"/>
              </a:lnSpc>
              <a:spcAft>
                <a:spcPts val="700"/>
              </a:spcAft>
              <a:buSzPct val="100000"/>
              <a:buChar char="●"/>
            </a:pPr>
            <a:r>
              <a:rPr lang="en-US" sz="1350" dirty="0">
                <a:solidFill>
                  <a:srgbClr val="E6EDF3"/>
                </a:solidFill>
                <a:latin typeface="Calibri" pitchFamily="34" charset="0"/>
                <a:ea typeface="Calibri" pitchFamily="34" charset="-122"/>
                <a:cs typeface="Calibri" pitchFamily="34" charset="-120"/>
              </a:rPr>
              <a:t>Your work is saved in this browser first, then shared to SharePoint — so a dropped connection never costs you anything</a:t>
            </a:r>
            <a:endParaRPr lang="en-US" sz="1350" dirty="0"/>
          </a:p>
        </p:txBody>
      </p:sp>
      <p:sp>
        <p:nvSpPr>
          <p:cNvPr id="7" name="Shape 5"/>
          <p:cNvSpPr/>
          <p:nvPr/>
        </p:nvSpPr>
        <p:spPr>
          <a:xfrm>
            <a:off x="6446520" y="14081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544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1</a:t>
            </a:r>
            <a:endParaRPr lang="en-US" sz="4000" dirty="0"/>
          </a:p>
        </p:txBody>
      </p:sp>
      <p:sp>
        <p:nvSpPr>
          <p:cNvPr id="9" name="Text 7"/>
          <p:cNvSpPr/>
          <p:nvPr/>
        </p:nvSpPr>
        <p:spPr>
          <a:xfrm>
            <a:off x="7772400" y="16276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CE number</a:t>
            </a:r>
            <a:endParaRPr lang="en-US" sz="1500" dirty="0"/>
          </a:p>
        </p:txBody>
      </p:sp>
      <p:sp>
        <p:nvSpPr>
          <p:cNvPr id="10" name="Text 8"/>
          <p:cNvSpPr/>
          <p:nvPr/>
        </p:nvSpPr>
        <p:spPr>
          <a:xfrm>
            <a:off x="7772400" y="19751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 estimate — the app blocks duplicates</a:t>
            </a:r>
            <a:endParaRPr lang="en-US" sz="1150" dirty="0"/>
          </a:p>
        </p:txBody>
      </p:sp>
      <p:sp>
        <p:nvSpPr>
          <p:cNvPr id="11" name="Shape 9"/>
          <p:cNvSpPr/>
          <p:nvPr/>
        </p:nvSpPr>
        <p:spPr>
          <a:xfrm>
            <a:off x="6446520" y="27797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6675120" y="29260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9</a:t>
            </a:r>
            <a:endParaRPr lang="en-US" sz="4000" dirty="0"/>
          </a:p>
        </p:txBody>
      </p:sp>
      <p:sp>
        <p:nvSpPr>
          <p:cNvPr id="13" name="Text 11"/>
          <p:cNvSpPr/>
          <p:nvPr/>
        </p:nvSpPr>
        <p:spPr>
          <a:xfrm>
            <a:off x="7772400" y="29992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tabs</a:t>
            </a:r>
            <a:endParaRPr lang="en-US" sz="1500" dirty="0"/>
          </a:p>
        </p:txBody>
      </p:sp>
      <p:sp>
        <p:nvSpPr>
          <p:cNvPr id="14" name="Text 12"/>
          <p:cNvSpPr/>
          <p:nvPr/>
        </p:nvSpPr>
        <p:spPr>
          <a:xfrm>
            <a:off x="7772400" y="33467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left to right, in the order you work</a:t>
            </a:r>
            <a:endParaRPr lang="en-US" sz="1150" dirty="0"/>
          </a:p>
        </p:txBody>
      </p:sp>
      <p:sp>
        <p:nvSpPr>
          <p:cNvPr id="15" name="Shape 13"/>
          <p:cNvSpPr/>
          <p:nvPr/>
        </p:nvSpPr>
        <p:spPr>
          <a:xfrm>
            <a:off x="6446520" y="4151376"/>
            <a:ext cx="5175504" cy="1207008"/>
          </a:xfrm>
          <a:prstGeom prst="roundRect">
            <a:avLst>
              <a:gd name="adj" fmla="val 606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6675120" y="4297680"/>
            <a:ext cx="1051560" cy="914400"/>
          </a:xfrm>
          <a:prstGeom prst="rect">
            <a:avLst/>
          </a:prstGeom>
          <a:noFill/>
          <a:ln/>
        </p:spPr>
        <p:txBody>
          <a:bodyPr wrap="square" lIns="0" tIns="0" rIns="0" bIns="0" rtlCol="0" anchor="ctr"/>
          <a:lstStyle/>
          <a:p>
            <a:pPr algn="ctr" indent="0" marL="0">
              <a:buNone/>
            </a:pPr>
            <a:r>
              <a:rPr lang="en-US" sz="4000" b="1" dirty="0">
                <a:solidFill>
                  <a:srgbClr val="F0A429"/>
                </a:solidFill>
                <a:latin typeface="Arial" pitchFamily="34" charset="0"/>
                <a:ea typeface="Arial" pitchFamily="34" charset="-122"/>
                <a:cs typeface="Arial" pitchFamily="34" charset="-120"/>
              </a:rPr>
              <a:t>0</a:t>
            </a:r>
            <a:endParaRPr lang="en-US" sz="4000" dirty="0"/>
          </a:p>
        </p:txBody>
      </p:sp>
      <p:sp>
        <p:nvSpPr>
          <p:cNvPr id="17" name="Text 15"/>
          <p:cNvSpPr/>
          <p:nvPr/>
        </p:nvSpPr>
        <p:spPr>
          <a:xfrm>
            <a:off x="7772400" y="4370832"/>
            <a:ext cx="3657600" cy="320040"/>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manual maths</a:t>
            </a:r>
            <a:endParaRPr lang="en-US" sz="1500" dirty="0"/>
          </a:p>
        </p:txBody>
      </p:sp>
      <p:sp>
        <p:nvSpPr>
          <p:cNvPr id="18" name="Text 16"/>
          <p:cNvSpPr/>
          <p:nvPr/>
        </p:nvSpPr>
        <p:spPr>
          <a:xfrm>
            <a:off x="7772400" y="4718304"/>
            <a:ext cx="3657600" cy="50292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benefits, OT and margin are computed</a:t>
            </a:r>
            <a:endParaRPr lang="en-US" sz="1150" dirty="0"/>
          </a:p>
        </p:txBody>
      </p:sp>
      <p:sp>
        <p:nvSpPr>
          <p:cNvPr id="19" name="Text 1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0" name="Text 1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ORIENTATION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tabs are the workflow</a:t>
            </a:r>
            <a:endParaRPr lang="en-US" sz="3200" dirty="0"/>
          </a:p>
        </p:txBody>
      </p:sp>
      <p:sp>
        <p:nvSpPr>
          <p:cNvPr id="4" name="Text 2"/>
          <p:cNvSpPr/>
          <p:nvPr/>
        </p:nvSpPr>
        <p:spPr>
          <a:xfrm>
            <a:off x="566928" y="1298448"/>
            <a:ext cx="1088136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Work left to right. You can jump around, but each tab assumes the one before it is filled in.</a:t>
            </a:r>
            <a:endParaRPr lang="en-US" sz="1400" dirty="0"/>
          </a:p>
        </p:txBody>
      </p:sp>
      <p:sp>
        <p:nvSpPr>
          <p:cNvPr id="5" name="Shape 3"/>
          <p:cNvSpPr/>
          <p:nvPr/>
        </p:nvSpPr>
        <p:spPr>
          <a:xfrm>
            <a:off x="566928" y="1865376"/>
            <a:ext cx="11055096" cy="420624"/>
          </a:xfrm>
          <a:prstGeom prst="roundRect">
            <a:avLst>
              <a:gd name="adj" fmla="val 13043"/>
            </a:avLst>
          </a:prstGeom>
          <a:solidFill>
            <a:srgbClr val="161B22"/>
          </a:solidFill>
          <a:ln w="12700">
            <a:solidFill>
              <a:srgbClr val="30363D"/>
            </a:solidFill>
            <a:prstDash val="solid"/>
          </a:ln>
        </p:spPr>
      </p:sp>
      <p:sp>
        <p:nvSpPr>
          <p:cNvPr id="6" name="Text 4"/>
          <p:cNvSpPr/>
          <p:nvPr/>
        </p:nvSpPr>
        <p:spPr>
          <a:xfrm>
            <a:off x="56692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91109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768096" y="2843784"/>
            <a:ext cx="384048" cy="384048"/>
          </a:xfrm>
          <a:prstGeom prst="ellipse">
            <a:avLst/>
          </a:prstGeom>
          <a:solidFill>
            <a:srgbClr val="F0A429"/>
          </a:solidFill>
          <a:ln w="12700">
            <a:solidFill>
              <a:srgbClr val="F0A429"/>
            </a:solidFill>
            <a:prstDash val="solid"/>
          </a:ln>
        </p:spPr>
      </p:sp>
      <p:sp>
        <p:nvSpPr>
          <p:cNvPr id="17" name="Text 15"/>
          <p:cNvSpPr/>
          <p:nvPr/>
        </p:nvSpPr>
        <p:spPr>
          <a:xfrm>
            <a:off x="768096"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18" name="Text 16"/>
          <p:cNvSpPr/>
          <p:nvPr/>
        </p:nvSpPr>
        <p:spPr>
          <a:xfrm>
            <a:off x="1243584"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Project Info</a:t>
            </a:r>
            <a:endParaRPr lang="en-US" sz="1350" dirty="0"/>
          </a:p>
        </p:txBody>
      </p:sp>
      <p:sp>
        <p:nvSpPr>
          <p:cNvPr id="19" name="Text 17"/>
          <p:cNvSpPr/>
          <p:nvPr/>
        </p:nvSpPr>
        <p:spPr>
          <a:xfrm>
            <a:off x="768096"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Who it is for, what it is, how many, how long</a:t>
            </a:r>
            <a:endParaRPr lang="en-US" sz="1100" dirty="0"/>
          </a:p>
        </p:txBody>
      </p:sp>
      <p:sp>
        <p:nvSpPr>
          <p:cNvPr id="20" name="Shape 18"/>
          <p:cNvSpPr/>
          <p:nvPr/>
        </p:nvSpPr>
        <p:spPr>
          <a:xfrm>
            <a:off x="3383280"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1" name="Shape 19"/>
          <p:cNvSpPr/>
          <p:nvPr/>
        </p:nvSpPr>
        <p:spPr>
          <a:xfrm>
            <a:off x="3584448" y="2843784"/>
            <a:ext cx="384048" cy="384048"/>
          </a:xfrm>
          <a:prstGeom prst="ellipse">
            <a:avLst/>
          </a:prstGeom>
          <a:solidFill>
            <a:srgbClr val="F0A429"/>
          </a:solidFill>
          <a:ln w="12700">
            <a:solidFill>
              <a:srgbClr val="F0A429"/>
            </a:solidFill>
            <a:prstDash val="solid"/>
          </a:ln>
        </p:spPr>
      </p:sp>
      <p:sp>
        <p:nvSpPr>
          <p:cNvPr id="22" name="Text 20"/>
          <p:cNvSpPr/>
          <p:nvPr/>
        </p:nvSpPr>
        <p:spPr>
          <a:xfrm>
            <a:off x="3584448"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23" name="Text 21"/>
          <p:cNvSpPr/>
          <p:nvPr/>
        </p:nvSpPr>
        <p:spPr>
          <a:xfrm>
            <a:off x="4059936"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Scope of Work</a:t>
            </a:r>
            <a:endParaRPr lang="en-US" sz="1350" dirty="0"/>
          </a:p>
        </p:txBody>
      </p:sp>
      <p:sp>
        <p:nvSpPr>
          <p:cNvPr id="24" name="Text 22"/>
          <p:cNvSpPr/>
          <p:nvPr/>
        </p:nvSpPr>
        <p:spPr>
          <a:xfrm>
            <a:off x="3584448"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numbered steps of the job</a:t>
            </a:r>
            <a:endParaRPr lang="en-US" sz="1100" dirty="0"/>
          </a:p>
        </p:txBody>
      </p:sp>
      <p:sp>
        <p:nvSpPr>
          <p:cNvPr id="25" name="Shape 23"/>
          <p:cNvSpPr/>
          <p:nvPr/>
        </p:nvSpPr>
        <p:spPr>
          <a:xfrm>
            <a:off x="6199632"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6" name="Shape 24"/>
          <p:cNvSpPr/>
          <p:nvPr/>
        </p:nvSpPr>
        <p:spPr>
          <a:xfrm>
            <a:off x="6400800" y="2843784"/>
            <a:ext cx="384048" cy="384048"/>
          </a:xfrm>
          <a:prstGeom prst="ellipse">
            <a:avLst/>
          </a:prstGeom>
          <a:solidFill>
            <a:srgbClr val="F0A429"/>
          </a:solidFill>
          <a:ln w="12700">
            <a:solidFill>
              <a:srgbClr val="F0A429"/>
            </a:solidFill>
            <a:prstDash val="solid"/>
          </a:ln>
        </p:spPr>
      </p:sp>
      <p:sp>
        <p:nvSpPr>
          <p:cNvPr id="27" name="Text 25"/>
          <p:cNvSpPr/>
          <p:nvPr/>
        </p:nvSpPr>
        <p:spPr>
          <a:xfrm>
            <a:off x="6400800"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8" name="Text 26"/>
          <p:cNvSpPr/>
          <p:nvPr/>
        </p:nvSpPr>
        <p:spPr>
          <a:xfrm>
            <a:off x="6876288"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SOW Breakdown</a:t>
            </a:r>
            <a:endParaRPr lang="en-US" sz="1350" dirty="0"/>
          </a:p>
        </p:txBody>
      </p:sp>
      <p:sp>
        <p:nvSpPr>
          <p:cNvPr id="29" name="Text 27"/>
          <p:cNvSpPr/>
          <p:nvPr/>
        </p:nvSpPr>
        <p:spPr>
          <a:xfrm>
            <a:off x="6400800"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What each step needs — and what it costs</a:t>
            </a:r>
            <a:endParaRPr lang="en-US" sz="1100" dirty="0"/>
          </a:p>
        </p:txBody>
      </p:sp>
      <p:sp>
        <p:nvSpPr>
          <p:cNvPr id="30" name="Shape 28"/>
          <p:cNvSpPr/>
          <p:nvPr/>
        </p:nvSpPr>
        <p:spPr>
          <a:xfrm>
            <a:off x="9015984" y="264261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Shape 29"/>
          <p:cNvSpPr/>
          <p:nvPr/>
        </p:nvSpPr>
        <p:spPr>
          <a:xfrm>
            <a:off x="9217152" y="2843784"/>
            <a:ext cx="384048" cy="384048"/>
          </a:xfrm>
          <a:prstGeom prst="ellipse">
            <a:avLst/>
          </a:prstGeom>
          <a:solidFill>
            <a:srgbClr val="F0A429"/>
          </a:solidFill>
          <a:ln w="12700">
            <a:solidFill>
              <a:srgbClr val="F0A429"/>
            </a:solidFill>
            <a:prstDash val="solid"/>
          </a:ln>
        </p:spPr>
      </p:sp>
      <p:sp>
        <p:nvSpPr>
          <p:cNvPr id="32" name="Text 30"/>
          <p:cNvSpPr/>
          <p:nvPr/>
        </p:nvSpPr>
        <p:spPr>
          <a:xfrm>
            <a:off x="9217152" y="284378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33" name="Text 31"/>
          <p:cNvSpPr/>
          <p:nvPr/>
        </p:nvSpPr>
        <p:spPr>
          <a:xfrm>
            <a:off x="9692640" y="282549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Manpower</a:t>
            </a:r>
            <a:endParaRPr lang="en-US" sz="1350" dirty="0"/>
          </a:p>
        </p:txBody>
      </p:sp>
      <p:sp>
        <p:nvSpPr>
          <p:cNvPr id="34" name="Text 32"/>
          <p:cNvSpPr/>
          <p:nvPr/>
        </p:nvSpPr>
        <p:spPr>
          <a:xfrm>
            <a:off x="9217152" y="333756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People, days, shifts, overtime</a:t>
            </a:r>
            <a:endParaRPr lang="en-US" sz="1100" dirty="0"/>
          </a:p>
        </p:txBody>
      </p:sp>
      <p:sp>
        <p:nvSpPr>
          <p:cNvPr id="35" name="Shape 33"/>
          <p:cNvSpPr/>
          <p:nvPr/>
        </p:nvSpPr>
        <p:spPr>
          <a:xfrm>
            <a:off x="566928"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6" name="Shape 34"/>
          <p:cNvSpPr/>
          <p:nvPr/>
        </p:nvSpPr>
        <p:spPr>
          <a:xfrm>
            <a:off x="768096" y="4535424"/>
            <a:ext cx="384048" cy="384048"/>
          </a:xfrm>
          <a:prstGeom prst="ellipse">
            <a:avLst/>
          </a:prstGeom>
          <a:solidFill>
            <a:srgbClr val="F0A429"/>
          </a:solidFill>
          <a:ln w="12700">
            <a:solidFill>
              <a:srgbClr val="F0A429"/>
            </a:solidFill>
            <a:prstDash val="solid"/>
          </a:ln>
        </p:spPr>
      </p:sp>
      <p:sp>
        <p:nvSpPr>
          <p:cNvPr id="37" name="Text 35"/>
          <p:cNvSpPr/>
          <p:nvPr/>
        </p:nvSpPr>
        <p:spPr>
          <a:xfrm>
            <a:off x="768096"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5</a:t>
            </a:r>
            <a:endParaRPr lang="en-US" sz="1300" dirty="0"/>
          </a:p>
        </p:txBody>
      </p:sp>
      <p:sp>
        <p:nvSpPr>
          <p:cNvPr id="38" name="Text 36"/>
          <p:cNvSpPr/>
          <p:nvPr/>
        </p:nvSpPr>
        <p:spPr>
          <a:xfrm>
            <a:off x="1243584"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Resources</a:t>
            </a:r>
            <a:endParaRPr lang="en-US" sz="1350" dirty="0"/>
          </a:p>
        </p:txBody>
      </p:sp>
      <p:sp>
        <p:nvSpPr>
          <p:cNvPr id="39" name="Text 37"/>
          <p:cNvSpPr/>
          <p:nvPr/>
        </p:nvSpPr>
        <p:spPr>
          <a:xfrm>
            <a:off x="768096"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Tools &amp; Equipment, Materials and PPE</a:t>
            </a:r>
            <a:endParaRPr lang="en-US" sz="1100" dirty="0"/>
          </a:p>
        </p:txBody>
      </p:sp>
      <p:sp>
        <p:nvSpPr>
          <p:cNvPr id="40" name="Shape 38"/>
          <p:cNvSpPr/>
          <p:nvPr/>
        </p:nvSpPr>
        <p:spPr>
          <a:xfrm>
            <a:off x="3383280"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Shape 39"/>
          <p:cNvSpPr/>
          <p:nvPr/>
        </p:nvSpPr>
        <p:spPr>
          <a:xfrm>
            <a:off x="3584448" y="4535424"/>
            <a:ext cx="384048" cy="384048"/>
          </a:xfrm>
          <a:prstGeom prst="ellipse">
            <a:avLst/>
          </a:prstGeom>
          <a:solidFill>
            <a:srgbClr val="F0A429"/>
          </a:solidFill>
          <a:ln w="12700">
            <a:solidFill>
              <a:srgbClr val="F0A429"/>
            </a:solidFill>
            <a:prstDash val="solid"/>
          </a:ln>
        </p:spPr>
      </p:sp>
      <p:sp>
        <p:nvSpPr>
          <p:cNvPr id="42" name="Text 40"/>
          <p:cNvSpPr/>
          <p:nvPr/>
        </p:nvSpPr>
        <p:spPr>
          <a:xfrm>
            <a:off x="3584448"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6</a:t>
            </a:r>
            <a:endParaRPr lang="en-US" sz="1300" dirty="0"/>
          </a:p>
        </p:txBody>
      </p:sp>
      <p:sp>
        <p:nvSpPr>
          <p:cNvPr id="43" name="Text 41"/>
          <p:cNvSpPr/>
          <p:nvPr/>
        </p:nvSpPr>
        <p:spPr>
          <a:xfrm>
            <a:off x="4059936"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Miscellaneous</a:t>
            </a:r>
            <a:endParaRPr lang="en-US" sz="1350" dirty="0"/>
          </a:p>
        </p:txBody>
      </p:sp>
      <p:sp>
        <p:nvSpPr>
          <p:cNvPr id="44" name="Text 42"/>
          <p:cNvSpPr/>
          <p:nvPr/>
        </p:nvSpPr>
        <p:spPr>
          <a:xfrm>
            <a:off x="3584448"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Accommodation, transport, admin, insurance</a:t>
            </a:r>
            <a:endParaRPr lang="en-US" sz="1100" dirty="0"/>
          </a:p>
        </p:txBody>
      </p:sp>
      <p:sp>
        <p:nvSpPr>
          <p:cNvPr id="45" name="Shape 43"/>
          <p:cNvSpPr/>
          <p:nvPr/>
        </p:nvSpPr>
        <p:spPr>
          <a:xfrm>
            <a:off x="6199632"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6" name="Shape 44"/>
          <p:cNvSpPr/>
          <p:nvPr/>
        </p:nvSpPr>
        <p:spPr>
          <a:xfrm>
            <a:off x="6400800" y="4535424"/>
            <a:ext cx="384048" cy="384048"/>
          </a:xfrm>
          <a:prstGeom prst="ellipse">
            <a:avLst/>
          </a:prstGeom>
          <a:solidFill>
            <a:srgbClr val="F0A429"/>
          </a:solidFill>
          <a:ln w="12700">
            <a:solidFill>
              <a:srgbClr val="F0A429"/>
            </a:solidFill>
            <a:prstDash val="solid"/>
          </a:ln>
        </p:spPr>
      </p:sp>
      <p:sp>
        <p:nvSpPr>
          <p:cNvPr id="47" name="Text 45"/>
          <p:cNvSpPr/>
          <p:nvPr/>
        </p:nvSpPr>
        <p:spPr>
          <a:xfrm>
            <a:off x="6400800"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7</a:t>
            </a:r>
            <a:endParaRPr lang="en-US" sz="1300" dirty="0"/>
          </a:p>
        </p:txBody>
      </p:sp>
      <p:sp>
        <p:nvSpPr>
          <p:cNvPr id="48" name="Text 46"/>
          <p:cNvSpPr/>
          <p:nvPr/>
        </p:nvSpPr>
        <p:spPr>
          <a:xfrm>
            <a:off x="6876288"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Summary</a:t>
            </a:r>
            <a:endParaRPr lang="en-US" sz="1350" dirty="0"/>
          </a:p>
        </p:txBody>
      </p:sp>
      <p:sp>
        <p:nvSpPr>
          <p:cNvPr id="49" name="Text 47"/>
          <p:cNvSpPr/>
          <p:nvPr/>
        </p:nvSpPr>
        <p:spPr>
          <a:xfrm>
            <a:off x="6400800"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Margin, notes, signatories</a:t>
            </a:r>
            <a:endParaRPr lang="en-US" sz="1100" dirty="0"/>
          </a:p>
        </p:txBody>
      </p:sp>
      <p:sp>
        <p:nvSpPr>
          <p:cNvPr id="50" name="Shape 48"/>
          <p:cNvSpPr/>
          <p:nvPr/>
        </p:nvSpPr>
        <p:spPr>
          <a:xfrm>
            <a:off x="9015984" y="4334256"/>
            <a:ext cx="2633472"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1" name="Shape 49"/>
          <p:cNvSpPr/>
          <p:nvPr/>
        </p:nvSpPr>
        <p:spPr>
          <a:xfrm>
            <a:off x="9217152" y="4535424"/>
            <a:ext cx="384048" cy="384048"/>
          </a:xfrm>
          <a:prstGeom prst="ellipse">
            <a:avLst/>
          </a:prstGeom>
          <a:solidFill>
            <a:srgbClr val="F0A429"/>
          </a:solidFill>
          <a:ln w="12700">
            <a:solidFill>
              <a:srgbClr val="F0A429"/>
            </a:solidFill>
            <a:prstDash val="solid"/>
          </a:ln>
        </p:spPr>
      </p:sp>
      <p:sp>
        <p:nvSpPr>
          <p:cNvPr id="52" name="Text 50"/>
          <p:cNvSpPr/>
          <p:nvPr/>
        </p:nvSpPr>
        <p:spPr>
          <a:xfrm>
            <a:off x="9217152" y="4535424"/>
            <a:ext cx="384048" cy="384048"/>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8</a:t>
            </a:r>
            <a:endParaRPr lang="en-US" sz="1300" dirty="0"/>
          </a:p>
        </p:txBody>
      </p:sp>
      <p:sp>
        <p:nvSpPr>
          <p:cNvPr id="53" name="Text 51"/>
          <p:cNvSpPr/>
          <p:nvPr/>
        </p:nvSpPr>
        <p:spPr>
          <a:xfrm>
            <a:off x="9692640" y="4517136"/>
            <a:ext cx="1828800" cy="420624"/>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Save &amp; Generate</a:t>
            </a:r>
            <a:endParaRPr lang="en-US" sz="1350" dirty="0"/>
          </a:p>
        </p:txBody>
      </p:sp>
      <p:sp>
        <p:nvSpPr>
          <p:cNvPr id="54" name="Text 52"/>
          <p:cNvSpPr/>
          <p:nvPr/>
        </p:nvSpPr>
        <p:spPr>
          <a:xfrm>
            <a:off x="9217152" y="5029200"/>
            <a:ext cx="228600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Check CE, save, print the form</a:t>
            </a:r>
            <a:endParaRPr lang="en-US" sz="1100" dirty="0"/>
          </a:p>
        </p:txBody>
      </p:sp>
      <p:sp>
        <p:nvSpPr>
          <p:cNvPr id="55" name="Text 53"/>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6" name="Text 54"/>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BEFORE YOU START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Getting in</a:t>
            </a:r>
            <a:endParaRPr lang="en-US" sz="3200" dirty="0"/>
          </a:p>
        </p:txBody>
      </p:sp>
      <p:sp>
        <p:nvSpPr>
          <p:cNvPr id="4" name="Shape 2"/>
          <p:cNvSpPr/>
          <p:nvPr/>
        </p:nvSpPr>
        <p:spPr>
          <a:xfrm>
            <a:off x="566928" y="1408176"/>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86384" y="1664208"/>
            <a:ext cx="402336" cy="402336"/>
          </a:xfrm>
          <a:prstGeom prst="ellipse">
            <a:avLst/>
          </a:prstGeom>
          <a:solidFill>
            <a:srgbClr val="F0A429"/>
          </a:solidFill>
          <a:ln w="12700">
            <a:solidFill>
              <a:srgbClr val="F0A429"/>
            </a:solidFill>
            <a:prstDash val="solid"/>
          </a:ln>
        </p:spPr>
      </p:sp>
      <p:sp>
        <p:nvSpPr>
          <p:cNvPr id="6" name="Text 4"/>
          <p:cNvSpPr/>
          <p:nvPr/>
        </p:nvSpPr>
        <p:spPr>
          <a:xfrm>
            <a:off x="786384" y="1664208"/>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7" name="Text 5"/>
          <p:cNvSpPr/>
          <p:nvPr/>
        </p:nvSpPr>
        <p:spPr>
          <a:xfrm>
            <a:off x="1353312" y="1527048"/>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Request access</a:t>
            </a:r>
            <a:endParaRPr lang="en-US" sz="1450" dirty="0"/>
          </a:p>
        </p:txBody>
      </p:sp>
      <p:sp>
        <p:nvSpPr>
          <p:cNvPr id="8" name="Text 6"/>
          <p:cNvSpPr/>
          <p:nvPr/>
        </p:nvSpPr>
        <p:spPr>
          <a:xfrm>
            <a:off x="1353312" y="1837944"/>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On the sign-in page choose Request Access. Fill in your name, a username and a password.</a:t>
            </a:r>
            <a:endParaRPr lang="en-US" sz="1150" dirty="0"/>
          </a:p>
        </p:txBody>
      </p:sp>
      <p:sp>
        <p:nvSpPr>
          <p:cNvPr id="9" name="Shape 7"/>
          <p:cNvSpPr/>
          <p:nvPr/>
        </p:nvSpPr>
        <p:spPr>
          <a:xfrm>
            <a:off x="566928" y="2450592"/>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86384" y="2706624"/>
            <a:ext cx="402336" cy="402336"/>
          </a:xfrm>
          <a:prstGeom prst="ellipse">
            <a:avLst/>
          </a:prstGeom>
          <a:solidFill>
            <a:srgbClr val="F0A429"/>
          </a:solidFill>
          <a:ln w="12700">
            <a:solidFill>
              <a:srgbClr val="F0A429"/>
            </a:solidFill>
            <a:prstDash val="solid"/>
          </a:ln>
        </p:spPr>
      </p:sp>
      <p:sp>
        <p:nvSpPr>
          <p:cNvPr id="11" name="Text 9"/>
          <p:cNvSpPr/>
          <p:nvPr/>
        </p:nvSpPr>
        <p:spPr>
          <a:xfrm>
            <a:off x="786384" y="270662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2" name="Text 10"/>
          <p:cNvSpPr/>
          <p:nvPr/>
        </p:nvSpPr>
        <p:spPr>
          <a:xfrm>
            <a:off x="1353312" y="2569464"/>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Wait for approval</a:t>
            </a:r>
            <a:endParaRPr lang="en-US" sz="1450" dirty="0"/>
          </a:p>
        </p:txBody>
      </p:sp>
      <p:sp>
        <p:nvSpPr>
          <p:cNvPr id="13" name="Text 11"/>
          <p:cNvSpPr/>
          <p:nvPr/>
        </p:nvSpPr>
        <p:spPr>
          <a:xfrm>
            <a:off x="1353312" y="2880360"/>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An admin approves your account. You cannot sign in until they do — the app will say "pending".</a:t>
            </a:r>
            <a:endParaRPr lang="en-US" sz="1150" dirty="0"/>
          </a:p>
        </p:txBody>
      </p:sp>
      <p:sp>
        <p:nvSpPr>
          <p:cNvPr id="14" name="Shape 12"/>
          <p:cNvSpPr/>
          <p:nvPr/>
        </p:nvSpPr>
        <p:spPr>
          <a:xfrm>
            <a:off x="566928" y="3493008"/>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786384" y="3749040"/>
            <a:ext cx="402336" cy="402336"/>
          </a:xfrm>
          <a:prstGeom prst="ellipse">
            <a:avLst/>
          </a:prstGeom>
          <a:solidFill>
            <a:srgbClr val="F0A429"/>
          </a:solidFill>
          <a:ln w="12700">
            <a:solidFill>
              <a:srgbClr val="F0A429"/>
            </a:solidFill>
            <a:prstDash val="solid"/>
          </a:ln>
        </p:spPr>
      </p:sp>
      <p:sp>
        <p:nvSpPr>
          <p:cNvPr id="16" name="Text 14"/>
          <p:cNvSpPr/>
          <p:nvPr/>
        </p:nvSpPr>
        <p:spPr>
          <a:xfrm>
            <a:off x="786384" y="3749040"/>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1353312" y="3611880"/>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Sign in</a:t>
            </a:r>
            <a:endParaRPr lang="en-US" sz="1450" dirty="0"/>
          </a:p>
        </p:txBody>
      </p:sp>
      <p:sp>
        <p:nvSpPr>
          <p:cNvPr id="18" name="Text 16"/>
          <p:cNvSpPr/>
          <p:nvPr/>
        </p:nvSpPr>
        <p:spPr>
          <a:xfrm>
            <a:off x="1353312" y="3922776"/>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username you chose, not your email address.</a:t>
            </a:r>
            <a:endParaRPr lang="en-US" sz="1150" dirty="0"/>
          </a:p>
        </p:txBody>
      </p:sp>
      <p:sp>
        <p:nvSpPr>
          <p:cNvPr id="19" name="Shape 17"/>
          <p:cNvSpPr/>
          <p:nvPr/>
        </p:nvSpPr>
        <p:spPr>
          <a:xfrm>
            <a:off x="566928" y="4535424"/>
            <a:ext cx="6949440"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786384" y="4791456"/>
            <a:ext cx="402336" cy="402336"/>
          </a:xfrm>
          <a:prstGeom prst="ellipse">
            <a:avLst/>
          </a:prstGeom>
          <a:solidFill>
            <a:srgbClr val="58A6FF"/>
          </a:solidFill>
          <a:ln w="12700">
            <a:solidFill>
              <a:srgbClr val="58A6FF"/>
            </a:solidFill>
            <a:prstDash val="solid"/>
          </a:ln>
        </p:spPr>
      </p:sp>
      <p:sp>
        <p:nvSpPr>
          <p:cNvPr id="21" name="Text 19"/>
          <p:cNvSpPr/>
          <p:nvPr/>
        </p:nvSpPr>
        <p:spPr>
          <a:xfrm>
            <a:off x="786384" y="4791456"/>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2" name="Text 20"/>
          <p:cNvSpPr/>
          <p:nvPr/>
        </p:nvSpPr>
        <p:spPr>
          <a:xfrm>
            <a:off x="1353312" y="4654296"/>
            <a:ext cx="5852160" cy="310896"/>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Change your password</a:t>
            </a:r>
            <a:endParaRPr lang="en-US" sz="1450" dirty="0"/>
          </a:p>
        </p:txBody>
      </p:sp>
      <p:sp>
        <p:nvSpPr>
          <p:cNvPr id="23" name="Text 21"/>
          <p:cNvSpPr/>
          <p:nvPr/>
        </p:nvSpPr>
        <p:spPr>
          <a:xfrm>
            <a:off x="1353312" y="4965192"/>
            <a:ext cx="5943600" cy="420624"/>
          </a:xfrm>
          <a:prstGeom prst="rect">
            <a:avLst/>
          </a:prstGeom>
          <a:noFill/>
          <a:ln/>
        </p:spPr>
        <p:txBody>
          <a:bodyPr wrap="square" lIns="0" tIns="0" rIns="0" bIns="0" rtlCol="0" anchor="ctr"/>
          <a:lstStyle/>
          <a:p>
            <a:pPr indent="0" marL="0">
              <a:lnSpc>
                <a:spcPts val="1450"/>
              </a:lnSpc>
              <a:buNone/>
            </a:pPr>
            <a:r>
              <a:rPr lang="en-US" sz="1150" dirty="0">
                <a:solidFill>
                  <a:srgbClr val="9AA4AF"/>
                </a:solidFill>
                <a:latin typeface="Calibri" pitchFamily="34" charset="0"/>
                <a:ea typeface="Calibri" pitchFamily="34" charset="-122"/>
                <a:cs typeface="Calibri" pitchFamily="34" charset="-120"/>
              </a:rPr>
              <a:t>Use the Password button in the top bar. This needs a connection — it cannot be done offline.</a:t>
            </a:r>
            <a:endParaRPr lang="en-US" sz="1150" dirty="0"/>
          </a:p>
        </p:txBody>
      </p:sp>
      <p:sp>
        <p:nvSpPr>
          <p:cNvPr id="24" name="Shape 22"/>
          <p:cNvSpPr/>
          <p:nvPr/>
        </p:nvSpPr>
        <p:spPr>
          <a:xfrm>
            <a:off x="7772400" y="1408176"/>
            <a:ext cx="3840480" cy="2880360"/>
          </a:xfrm>
          <a:prstGeom prst="roundRect">
            <a:avLst>
              <a:gd name="adj" fmla="val 254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01000" y="1609344"/>
            <a:ext cx="3383280" cy="320040"/>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If sign-in fails</a:t>
            </a:r>
            <a:endParaRPr lang="en-US" sz="1500" dirty="0"/>
          </a:p>
        </p:txBody>
      </p:sp>
      <p:sp>
        <p:nvSpPr>
          <p:cNvPr id="26" name="Text 24"/>
          <p:cNvSpPr/>
          <p:nvPr/>
        </p:nvSpPr>
        <p:spPr>
          <a:xfrm>
            <a:off x="8001000" y="2029968"/>
            <a:ext cx="3383280" cy="2103120"/>
          </a:xfrm>
          <a:prstGeom prst="rect">
            <a:avLst/>
          </a:prstGeom>
          <a:noFill/>
          <a:ln/>
        </p:spPr>
        <p:txBody>
          <a:bodyPr wrap="square" lIns="0" tIns="0" rIns="0" bIns="0" rtlCol="0" anchor="ctr"/>
          <a:lstStyle/>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"Account not found" while offline means this browser has not seen your account before — connect once first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Too many wrong passwords locks the account briefly; wait it out</a:t>
            </a:r>
            <a:endParaRPr lang="en-US" sz="1150" dirty="0"/>
          </a:p>
          <a:p>
            <a:pPr marL="342900" indent="-342900">
              <a:lnSpc>
                <a:spcPts val="1500"/>
              </a:lnSpc>
              <a:spcAft>
                <a:spcPts val="700"/>
              </a:spcAft>
              <a:buSzPct val="100000"/>
              <a:buChar char="●"/>
            </a:pPr>
            <a:r>
              <a:rPr lang="en-US" sz="1150" dirty="0">
                <a:solidFill>
                  <a:srgbClr val="E6EDF3"/>
                </a:solidFill>
                <a:latin typeface="Calibri" pitchFamily="34" charset="0"/>
                <a:ea typeface="Calibri" pitchFamily="34" charset="-122"/>
                <a:cs typeface="Calibri" pitchFamily="34" charset="-120"/>
              </a:rPr>
              <a:t>Still stuck? An admin can reset your password from the Users tab</a:t>
            </a:r>
            <a:endParaRPr lang="en-US" sz="1150" dirty="0"/>
          </a:p>
        </p:txBody>
      </p:sp>
      <p:sp>
        <p:nvSpPr>
          <p:cNvPr id="27" name="Shape 25"/>
          <p:cNvSpPr/>
          <p:nvPr/>
        </p:nvSpPr>
        <p:spPr>
          <a:xfrm>
            <a:off x="7772400" y="4471416"/>
            <a:ext cx="3840480" cy="1005840"/>
          </a:xfrm>
          <a:prstGeom prst="roundRect">
            <a:avLst>
              <a:gd name="adj" fmla="val 727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8001000" y="4608576"/>
            <a:ext cx="33832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Your account is yours</a:t>
            </a:r>
            <a:endParaRPr lang="en-US" sz="1350" dirty="0"/>
          </a:p>
        </p:txBody>
      </p:sp>
      <p:sp>
        <p:nvSpPr>
          <p:cNvPr id="29" name="Text 27"/>
          <p:cNvSpPr/>
          <p:nvPr/>
        </p:nvSpPr>
        <p:spPr>
          <a:xfrm>
            <a:off x="8001000" y="4882896"/>
            <a:ext cx="338328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Never share it. Every CE records who saved it, and account changes are logged.</a:t>
            </a:r>
            <a:endParaRPr lang="en-US" sz="1100" dirty="0"/>
          </a:p>
        </p:txBody>
      </p:sp>
      <p:sp>
        <p:nvSpPr>
          <p:cNvPr id="30" name="Text 2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1" name="Text 2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PROJECT INFO</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Fill in the header first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Shape 3"/>
          <p:cNvSpPr/>
          <p:nvPr/>
        </p:nvSpPr>
        <p:spPr>
          <a:xfrm>
            <a:off x="594360" y="1408176"/>
            <a:ext cx="1173480" cy="329184"/>
          </a:xfrm>
          <a:prstGeom prst="roundRect">
            <a:avLst>
              <a:gd name="adj" fmla="val 13889"/>
            </a:avLst>
          </a:prstGeom>
          <a:solidFill>
            <a:srgbClr val="F0A429"/>
          </a:solidFill>
          <a:ln w="12700">
            <a:solidFill>
              <a:srgbClr val="F0A429"/>
            </a:solidFill>
            <a:prstDash val="solid"/>
          </a:ln>
        </p:spPr>
      </p:sp>
      <p:sp>
        <p:nvSpPr>
          <p:cNvPr id="6" name="Text 4"/>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Project Info</a:t>
            </a:r>
            <a:endParaRPr lang="en-US" sz="900" dirty="0"/>
          </a:p>
        </p:txBody>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86384" y="205740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CE Number</a:t>
            </a:r>
            <a:endParaRPr lang="en-US" sz="1250" dirty="0"/>
          </a:p>
        </p:txBody>
      </p:sp>
      <p:sp>
        <p:nvSpPr>
          <p:cNvPr id="17" name="Text 15"/>
          <p:cNvSpPr/>
          <p:nvPr/>
        </p:nvSpPr>
        <p:spPr>
          <a:xfrm>
            <a:off x="786384" y="23134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Auto-suggested. 2–30 characters, letters, numbers and dashes. Must be unique.</a:t>
            </a:r>
            <a:endParaRPr lang="en-US" sz="1050" dirty="0"/>
          </a:p>
        </p:txBody>
      </p:sp>
      <p:sp>
        <p:nvSpPr>
          <p:cNvPr id="18" name="Shape 16"/>
          <p:cNvSpPr/>
          <p:nvPr/>
        </p:nvSpPr>
        <p:spPr>
          <a:xfrm>
            <a:off x="566928" y="273405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786384" y="278892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Client name</a:t>
            </a:r>
            <a:endParaRPr lang="en-US" sz="1250" dirty="0"/>
          </a:p>
        </p:txBody>
      </p:sp>
      <p:sp>
        <p:nvSpPr>
          <p:cNvPr id="20" name="Text 18"/>
          <p:cNvSpPr/>
          <p:nvPr/>
        </p:nvSpPr>
        <p:spPr>
          <a:xfrm>
            <a:off x="786384" y="304495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Required before you can save.</a:t>
            </a:r>
            <a:endParaRPr lang="en-US" sz="1050" dirty="0"/>
          </a:p>
        </p:txBody>
      </p:sp>
      <p:sp>
        <p:nvSpPr>
          <p:cNvPr id="21" name="Shape 19"/>
          <p:cNvSpPr/>
          <p:nvPr/>
        </p:nvSpPr>
        <p:spPr>
          <a:xfrm>
            <a:off x="566928" y="3465576"/>
            <a:ext cx="6766560" cy="658368"/>
          </a:xfrm>
          <a:prstGeom prst="roundRect">
            <a:avLst>
              <a:gd name="adj" fmla="val 11111"/>
            </a:avLst>
          </a:prstGeom>
          <a:solidFill>
            <a:srgbClr val="1F1A0E"/>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786384" y="3520440"/>
            <a:ext cx="2834640" cy="274320"/>
          </a:xfrm>
          <a:prstGeom prst="rect">
            <a:avLst/>
          </a:prstGeom>
          <a:noFill/>
          <a:ln/>
        </p:spPr>
        <p:txBody>
          <a:bodyPr wrap="square" lIns="0" tIns="0" rIns="0" bIns="0" rtlCol="0" anchor="ctr"/>
          <a:lstStyle/>
          <a:p>
            <a:pPr indent="0" marL="0">
              <a:buNone/>
            </a:pPr>
            <a:r>
              <a:rPr lang="en-US" sz="1250" b="1" dirty="0">
                <a:solidFill>
                  <a:srgbClr val="F0A429"/>
                </a:solidFill>
                <a:latin typeface="Arial" pitchFamily="34" charset="0"/>
                <a:ea typeface="Arial" pitchFamily="34" charset="-122"/>
                <a:cs typeface="Arial" pitchFamily="34" charset="-120"/>
              </a:rPr>
              <a:t>Project description</a:t>
            </a:r>
            <a:endParaRPr lang="en-US" sz="1250" dirty="0"/>
          </a:p>
        </p:txBody>
      </p:sp>
      <p:sp>
        <p:nvSpPr>
          <p:cNvPr id="23" name="Text 21"/>
          <p:cNvSpPr/>
          <p:nvPr/>
        </p:nvSpPr>
        <p:spPr>
          <a:xfrm>
            <a:off x="786384" y="377647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One or two sentences. Printed on the CE.</a:t>
            </a:r>
            <a:endParaRPr lang="en-US" sz="1050" dirty="0"/>
          </a:p>
        </p:txBody>
      </p:sp>
      <p:sp>
        <p:nvSpPr>
          <p:cNvPr id="24" name="Shape 22"/>
          <p:cNvSpPr/>
          <p:nvPr/>
        </p:nvSpPr>
        <p:spPr>
          <a:xfrm>
            <a:off x="566928" y="419709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786384" y="425196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Quantity</a:t>
            </a:r>
            <a:endParaRPr lang="en-US" sz="1250" dirty="0"/>
          </a:p>
        </p:txBody>
      </p:sp>
      <p:sp>
        <p:nvSpPr>
          <p:cNvPr id="26" name="Text 24"/>
          <p:cNvSpPr/>
          <p:nvPr/>
        </p:nvSpPr>
        <p:spPr>
          <a:xfrm>
            <a:off x="786384" y="450799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Divides the total into a unit price. Leave it at 1 for a one-off job.</a:t>
            </a:r>
            <a:endParaRPr lang="en-US" sz="1050" dirty="0"/>
          </a:p>
        </p:txBody>
      </p:sp>
      <p:sp>
        <p:nvSpPr>
          <p:cNvPr id="27" name="Shape 25"/>
          <p:cNvSpPr/>
          <p:nvPr/>
        </p:nvSpPr>
        <p:spPr>
          <a:xfrm>
            <a:off x="566928" y="492861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 y="498348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No. of days</a:t>
            </a:r>
            <a:endParaRPr lang="en-US" sz="1250" dirty="0"/>
          </a:p>
        </p:txBody>
      </p:sp>
      <p:sp>
        <p:nvSpPr>
          <p:cNvPr id="29" name="Text 27"/>
          <p:cNvSpPr/>
          <p:nvPr/>
        </p:nvSpPr>
        <p:spPr>
          <a:xfrm>
            <a:off x="786384" y="523951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Becomes the default duration for every manpower row you add.</a:t>
            </a:r>
            <a:endParaRPr lang="en-US" sz="1050" dirty="0"/>
          </a:p>
        </p:txBody>
      </p:sp>
      <p:sp>
        <p:nvSpPr>
          <p:cNvPr id="30" name="Shape 28"/>
          <p:cNvSpPr/>
          <p:nvPr/>
        </p:nvSpPr>
        <p:spPr>
          <a:xfrm>
            <a:off x="566928" y="5660136"/>
            <a:ext cx="6766560" cy="658368"/>
          </a:xfrm>
          <a:prstGeom prst="roundRect">
            <a:avLst>
              <a:gd name="adj" fmla="val 1111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 y="5715000"/>
            <a:ext cx="28346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Discipline · Department · Status</a:t>
            </a:r>
            <a:endParaRPr lang="en-US" sz="1250" dirty="0"/>
          </a:p>
        </p:txBody>
      </p:sp>
      <p:sp>
        <p:nvSpPr>
          <p:cNvPr id="32" name="Text 30"/>
          <p:cNvSpPr/>
          <p:nvPr/>
        </p:nvSpPr>
        <p:spPr>
          <a:xfrm>
            <a:off x="786384" y="5971032"/>
            <a:ext cx="6309360" cy="292608"/>
          </a:xfrm>
          <a:prstGeom prst="rect">
            <a:avLst/>
          </a:prstGeom>
          <a:noFill/>
          <a:ln/>
        </p:spPr>
        <p:txBody>
          <a:bodyPr wrap="square" lIns="0" tIns="0" rIns="0" bIns="0" rtlCol="0" anchor="ctr"/>
          <a:lstStyle/>
          <a:p>
            <a:pPr indent="0" marL="0">
              <a:buNone/>
            </a:pPr>
            <a:r>
              <a:rPr lang="en-US" sz="1050" dirty="0">
                <a:solidFill>
                  <a:srgbClr val="9AA4AF"/>
                </a:solidFill>
                <a:latin typeface="Calibri" pitchFamily="34" charset="0"/>
                <a:ea typeface="Calibri" pitchFamily="34" charset="-122"/>
                <a:cs typeface="Calibri" pitchFamily="34" charset="-120"/>
              </a:rPr>
              <a:t>Appear on the printed form.</a:t>
            </a:r>
            <a:endParaRPr lang="en-US" sz="1050" dirty="0"/>
          </a:p>
        </p:txBody>
      </p:sp>
      <p:sp>
        <p:nvSpPr>
          <p:cNvPr id="33" name="Shape 31"/>
          <p:cNvSpPr/>
          <p:nvPr/>
        </p:nvSpPr>
        <p:spPr>
          <a:xfrm>
            <a:off x="7589520" y="2002536"/>
            <a:ext cx="4023360" cy="2103120"/>
          </a:xfrm>
          <a:prstGeom prst="roundRect">
            <a:avLst>
              <a:gd name="adj" fmla="val 347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18120" y="2185416"/>
            <a:ext cx="3566160" cy="292608"/>
          </a:xfrm>
          <a:prstGeom prst="rect">
            <a:avLst/>
          </a:prstGeom>
          <a:noFill/>
          <a:ln/>
        </p:spPr>
        <p:txBody>
          <a:bodyPr wrap="square" lIns="0" tIns="0" rIns="0" bIns="0" rtlCol="0" anchor="ctr"/>
          <a:lstStyle/>
          <a:p>
            <a:pPr indent="0" marL="0">
              <a:buNone/>
            </a:pPr>
            <a:r>
              <a:rPr lang="en-US" sz="1400" b="1" dirty="0">
                <a:solidFill>
                  <a:srgbClr val="F0A429"/>
                </a:solidFill>
                <a:latin typeface="Arial" pitchFamily="34" charset="0"/>
                <a:ea typeface="Arial" pitchFamily="34" charset="-122"/>
                <a:cs typeface="Arial" pitchFamily="34" charset="-120"/>
              </a:rPr>
              <a:t>Required to save</a:t>
            </a:r>
            <a:endParaRPr lang="en-US" sz="1400" dirty="0"/>
          </a:p>
        </p:txBody>
      </p:sp>
      <p:sp>
        <p:nvSpPr>
          <p:cNvPr id="35" name="Text 33"/>
          <p:cNvSpPr/>
          <p:nvPr/>
        </p:nvSpPr>
        <p:spPr>
          <a:xfrm>
            <a:off x="7818120" y="2551176"/>
            <a:ext cx="3566160" cy="137160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The app will refuse to save without a CE Number and a Client name. Everything else can be filled in later — but Quantity and No. of days change your numbers, so set them now.</a:t>
            </a:r>
            <a:endParaRPr lang="en-US" sz="1200" dirty="0"/>
          </a:p>
        </p:txBody>
      </p:sp>
      <p:sp>
        <p:nvSpPr>
          <p:cNvPr id="36" name="Shape 34"/>
          <p:cNvSpPr/>
          <p:nvPr/>
        </p:nvSpPr>
        <p:spPr>
          <a:xfrm>
            <a:off x="7589520" y="4288536"/>
            <a:ext cx="4023360" cy="1920240"/>
          </a:xfrm>
          <a:prstGeom prst="roundRect">
            <a:avLst>
              <a:gd name="adj" fmla="val 381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818120" y="4453128"/>
            <a:ext cx="3566160" cy="274320"/>
          </a:xfrm>
          <a:prstGeom prst="rect">
            <a:avLst/>
          </a:prstGeom>
          <a:noFill/>
          <a:ln/>
        </p:spPr>
        <p:txBody>
          <a:bodyPr wrap="square" lIns="0" tIns="0" rIns="0" bIns="0" rtlCol="0" anchor="ctr"/>
          <a:lstStyle/>
          <a:p>
            <a:pPr indent="0" marL="0">
              <a:buNone/>
            </a:pPr>
            <a:r>
              <a:rPr lang="en-US" sz="1400" b="1" dirty="0">
                <a:solidFill>
                  <a:srgbClr val="58A6FF"/>
                </a:solidFill>
                <a:latin typeface="Arial" pitchFamily="34" charset="0"/>
                <a:ea typeface="Arial" pitchFamily="34" charset="-122"/>
                <a:cs typeface="Arial" pitchFamily="34" charset="-120"/>
              </a:rPr>
              <a:t>Shortcut</a:t>
            </a:r>
            <a:endParaRPr lang="en-US" sz="1400" dirty="0"/>
          </a:p>
        </p:txBody>
      </p:sp>
      <p:sp>
        <p:nvSpPr>
          <p:cNvPr id="38" name="Text 36"/>
          <p:cNvSpPr/>
          <p:nvPr/>
        </p:nvSpPr>
        <p:spPr>
          <a:xfrm>
            <a:off x="7818120" y="4791456"/>
            <a:ext cx="3566160" cy="1280160"/>
          </a:xfrm>
          <a:prstGeom prst="rect">
            <a:avLst/>
          </a:prstGeom>
          <a:noFill/>
          <a:ln/>
        </p:spPr>
        <p:txBody>
          <a:bodyPr wrap="square" lIns="0" tIns="0" rIns="0" bIns="0" rtlCol="0" anchor="t"/>
          <a:lstStyle/>
          <a:p>
            <a:pPr algn="l" indent="0" marL="0">
              <a:lnSpc>
                <a:spcPts val="1700"/>
              </a:lnSpc>
              <a:buNone/>
            </a:pPr>
            <a:r>
              <a:rPr lang="en-US" sz="1200" dirty="0">
                <a:solidFill>
                  <a:srgbClr val="E6EDF3"/>
                </a:solidFill>
                <a:latin typeface="Calibri" pitchFamily="34" charset="0"/>
                <a:ea typeface="Calibri" pitchFamily="34" charset="-122"/>
                <a:cs typeface="Calibri" pitchFamily="34" charset="-120"/>
              </a:rPr>
              <a:t>Drop a client enquiry (PDF, Word, Excel) on the Client Document box and the app will read it and pre-fill what it can.</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1 · SERVICE SCOPE BUILDER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fastest way to start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Still on Project Info. Pick standard services from the library and the app fills in the scope AND the resources.</a:t>
            </a:r>
            <a:endParaRPr lang="en-US" sz="1400" dirty="0"/>
          </a:p>
        </p:txBody>
      </p:sp>
      <p:sp>
        <p:nvSpPr>
          <p:cNvPr id="5" name="Shape 3"/>
          <p:cNvSpPr/>
          <p:nvPr/>
        </p:nvSpPr>
        <p:spPr>
          <a:xfrm>
            <a:off x="566928"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786384" y="2066544"/>
            <a:ext cx="402336" cy="402336"/>
          </a:xfrm>
          <a:prstGeom prst="ellipse">
            <a:avLst/>
          </a:prstGeom>
          <a:solidFill>
            <a:srgbClr val="F0A429"/>
          </a:solidFill>
          <a:ln w="12700">
            <a:solidFill>
              <a:srgbClr val="F0A429"/>
            </a:solidFill>
            <a:prstDash val="solid"/>
          </a:ln>
        </p:spPr>
      </p:sp>
      <p:sp>
        <p:nvSpPr>
          <p:cNvPr id="7" name="Text 5"/>
          <p:cNvSpPr/>
          <p:nvPr/>
        </p:nvSpPr>
        <p:spPr>
          <a:xfrm>
            <a:off x="786384"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786384"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Tick the services</a:t>
            </a:r>
            <a:endParaRPr lang="en-US" sz="1300" dirty="0"/>
          </a:p>
        </p:txBody>
      </p:sp>
      <p:sp>
        <p:nvSpPr>
          <p:cNvPr id="9" name="Text 7"/>
          <p:cNvSpPr/>
          <p:nvPr/>
        </p:nvSpPr>
        <p:spPr>
          <a:xfrm>
            <a:off x="786384"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Search or filter by category, then tick what the job involves.</a:t>
            </a:r>
            <a:endParaRPr lang="en-US" sz="1050" dirty="0"/>
          </a:p>
        </p:txBody>
      </p:sp>
      <p:sp>
        <p:nvSpPr>
          <p:cNvPr id="10" name="Text 8"/>
          <p:cNvSpPr/>
          <p:nvPr/>
        </p:nvSpPr>
        <p:spPr>
          <a:xfrm>
            <a:off x="3218688"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1" name="Shape 9"/>
          <p:cNvSpPr/>
          <p:nvPr/>
        </p:nvSpPr>
        <p:spPr>
          <a:xfrm>
            <a:off x="3410712"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Shape 10"/>
          <p:cNvSpPr/>
          <p:nvPr/>
        </p:nvSpPr>
        <p:spPr>
          <a:xfrm>
            <a:off x="3630168" y="2066544"/>
            <a:ext cx="402336" cy="402336"/>
          </a:xfrm>
          <a:prstGeom prst="ellipse">
            <a:avLst/>
          </a:prstGeom>
          <a:solidFill>
            <a:srgbClr val="F0A429"/>
          </a:solidFill>
          <a:ln w="12700">
            <a:solidFill>
              <a:srgbClr val="F0A429"/>
            </a:solidFill>
            <a:prstDash val="solid"/>
          </a:ln>
        </p:spPr>
      </p:sp>
      <p:sp>
        <p:nvSpPr>
          <p:cNvPr id="13" name="Text 11"/>
          <p:cNvSpPr/>
          <p:nvPr/>
        </p:nvSpPr>
        <p:spPr>
          <a:xfrm>
            <a:off x="3630168"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4" name="Text 12"/>
          <p:cNvSpPr/>
          <p:nvPr/>
        </p:nvSpPr>
        <p:spPr>
          <a:xfrm>
            <a:off x="3630168"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Set the quantity</a:t>
            </a:r>
            <a:endParaRPr lang="en-US" sz="1300" dirty="0"/>
          </a:p>
        </p:txBody>
      </p:sp>
      <p:sp>
        <p:nvSpPr>
          <p:cNvPr id="15" name="Text 13"/>
          <p:cNvSpPr/>
          <p:nvPr/>
        </p:nvSpPr>
        <p:spPr>
          <a:xfrm>
            <a:off x="3630168"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Use +/- if a service happens more than once.</a:t>
            </a:r>
            <a:endParaRPr lang="en-US" sz="1050" dirty="0"/>
          </a:p>
        </p:txBody>
      </p:sp>
      <p:sp>
        <p:nvSpPr>
          <p:cNvPr id="16" name="Text 14"/>
          <p:cNvSpPr/>
          <p:nvPr/>
        </p:nvSpPr>
        <p:spPr>
          <a:xfrm>
            <a:off x="6062472"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17" name="Shape 15"/>
          <p:cNvSpPr/>
          <p:nvPr/>
        </p:nvSpPr>
        <p:spPr>
          <a:xfrm>
            <a:off x="6254496"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6473952" y="2066544"/>
            <a:ext cx="402336" cy="402336"/>
          </a:xfrm>
          <a:prstGeom prst="ellipse">
            <a:avLst/>
          </a:prstGeom>
          <a:solidFill>
            <a:srgbClr val="F0A429"/>
          </a:solidFill>
          <a:ln w="12700">
            <a:solidFill>
              <a:srgbClr val="F0A429"/>
            </a:solidFill>
            <a:prstDash val="solid"/>
          </a:ln>
        </p:spPr>
      </p:sp>
      <p:sp>
        <p:nvSpPr>
          <p:cNvPr id="19" name="Text 17"/>
          <p:cNvSpPr/>
          <p:nvPr/>
        </p:nvSpPr>
        <p:spPr>
          <a:xfrm>
            <a:off x="6473952"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20" name="Text 18"/>
          <p:cNvSpPr/>
          <p:nvPr/>
        </p:nvSpPr>
        <p:spPr>
          <a:xfrm>
            <a:off x="6473952"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Choose Replace or Add</a:t>
            </a:r>
            <a:endParaRPr lang="en-US" sz="1300" dirty="0"/>
          </a:p>
        </p:txBody>
      </p:sp>
      <p:sp>
        <p:nvSpPr>
          <p:cNvPr id="21" name="Text 19"/>
          <p:cNvSpPr/>
          <p:nvPr/>
        </p:nvSpPr>
        <p:spPr>
          <a:xfrm>
            <a:off x="6473952"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Replace clears the CE first. Add merges into what is already there.</a:t>
            </a:r>
            <a:endParaRPr lang="en-US" sz="1050" dirty="0"/>
          </a:p>
        </p:txBody>
      </p:sp>
      <p:sp>
        <p:nvSpPr>
          <p:cNvPr id="22" name="Text 20"/>
          <p:cNvSpPr/>
          <p:nvPr/>
        </p:nvSpPr>
        <p:spPr>
          <a:xfrm>
            <a:off x="8906256" y="2505456"/>
            <a:ext cx="192024" cy="457200"/>
          </a:xfrm>
          <a:prstGeom prst="rect">
            <a:avLst/>
          </a:prstGeom>
          <a:noFill/>
          <a:ln/>
        </p:spPr>
        <p:txBody>
          <a:bodyPr wrap="square" lIns="0" tIns="0" rIns="0" bIns="0" rtlCol="0" anchor="ctr"/>
          <a:lstStyle/>
          <a:p>
            <a:pPr algn="ctr" indent="0" marL="0">
              <a:buNone/>
            </a:pPr>
            <a:r>
              <a:rPr lang="en-US" sz="2600" b="1" dirty="0">
                <a:solidFill>
                  <a:srgbClr val="F0A429"/>
                </a:solidFill>
                <a:latin typeface="Arial" pitchFamily="34" charset="0"/>
                <a:ea typeface="Arial" pitchFamily="34" charset="-122"/>
                <a:cs typeface="Arial" pitchFamily="34" charset="-120"/>
              </a:rPr>
              <a:t>›</a:t>
            </a:r>
            <a:endParaRPr lang="en-US" sz="2600" dirty="0"/>
          </a:p>
        </p:txBody>
      </p:sp>
      <p:sp>
        <p:nvSpPr>
          <p:cNvPr id="23" name="Shape 21"/>
          <p:cNvSpPr/>
          <p:nvPr/>
        </p:nvSpPr>
        <p:spPr>
          <a:xfrm>
            <a:off x="9098280" y="1865376"/>
            <a:ext cx="2651760" cy="1874520"/>
          </a:xfrm>
          <a:prstGeom prst="roundRect">
            <a:avLst>
              <a:gd name="adj" fmla="val 390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4" name="Shape 22"/>
          <p:cNvSpPr/>
          <p:nvPr/>
        </p:nvSpPr>
        <p:spPr>
          <a:xfrm>
            <a:off x="9317736" y="2066544"/>
            <a:ext cx="402336" cy="402336"/>
          </a:xfrm>
          <a:prstGeom prst="ellipse">
            <a:avLst/>
          </a:prstGeom>
          <a:solidFill>
            <a:srgbClr val="F0A429"/>
          </a:solidFill>
          <a:ln w="12700">
            <a:solidFill>
              <a:srgbClr val="F0A429"/>
            </a:solidFill>
            <a:prstDash val="solid"/>
          </a:ln>
        </p:spPr>
      </p:sp>
      <p:sp>
        <p:nvSpPr>
          <p:cNvPr id="25" name="Text 23"/>
          <p:cNvSpPr/>
          <p:nvPr/>
        </p:nvSpPr>
        <p:spPr>
          <a:xfrm>
            <a:off x="9317736" y="2066544"/>
            <a:ext cx="402336" cy="402336"/>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4</a:t>
            </a:r>
            <a:endParaRPr lang="en-US" sz="1300" dirty="0"/>
          </a:p>
        </p:txBody>
      </p:sp>
      <p:sp>
        <p:nvSpPr>
          <p:cNvPr id="26" name="Text 24"/>
          <p:cNvSpPr/>
          <p:nvPr/>
        </p:nvSpPr>
        <p:spPr>
          <a:xfrm>
            <a:off x="9317736" y="2578608"/>
            <a:ext cx="224028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Press Apply to CE</a:t>
            </a:r>
            <a:endParaRPr lang="en-US" sz="1300" dirty="0"/>
          </a:p>
        </p:txBody>
      </p:sp>
      <p:sp>
        <p:nvSpPr>
          <p:cNvPr id="27" name="Text 25"/>
          <p:cNvSpPr/>
          <p:nvPr/>
        </p:nvSpPr>
        <p:spPr>
          <a:xfrm>
            <a:off x="9317736" y="2907792"/>
            <a:ext cx="2240280" cy="685800"/>
          </a:xfrm>
          <a:prstGeom prst="rect">
            <a:avLst/>
          </a:prstGeom>
          <a:noFill/>
          <a:ln/>
        </p:spPr>
        <p:txBody>
          <a:bodyPr wrap="square" lIns="0" tIns="0" rIns="0" bIns="0" rtlCol="0" anchor="ctr"/>
          <a:lstStyle/>
          <a:p>
            <a:pPr indent="0" marL="0">
              <a:lnSpc>
                <a:spcPts val="1350"/>
              </a:lnSpc>
              <a:buNone/>
            </a:pPr>
            <a:r>
              <a:rPr lang="en-US" sz="1050" dirty="0">
                <a:solidFill>
                  <a:srgbClr val="9AA4AF"/>
                </a:solidFill>
                <a:latin typeface="Calibri" pitchFamily="34" charset="0"/>
                <a:ea typeface="Calibri" pitchFamily="34" charset="-122"/>
                <a:cs typeface="Calibri" pitchFamily="34" charset="-120"/>
              </a:rPr>
              <a:t>Scope tasks and every resource appear, already filed against the right task.</a:t>
            </a:r>
            <a:endParaRPr lang="en-US" sz="1050" dirty="0"/>
          </a:p>
        </p:txBody>
      </p:sp>
      <p:sp>
        <p:nvSpPr>
          <p:cNvPr id="28" name="Shape 26"/>
          <p:cNvSpPr/>
          <p:nvPr/>
        </p:nvSpPr>
        <p:spPr>
          <a:xfrm>
            <a:off x="566928" y="4014216"/>
            <a:ext cx="557784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9" name="Text 27"/>
          <p:cNvSpPr/>
          <p:nvPr/>
        </p:nvSpPr>
        <p:spPr>
          <a:xfrm>
            <a:off x="822960" y="4197096"/>
            <a:ext cx="5029200" cy="292608"/>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Merge duplicates across services</a:t>
            </a:r>
            <a:endParaRPr lang="en-US" sz="1350" dirty="0"/>
          </a:p>
        </p:txBody>
      </p:sp>
      <p:sp>
        <p:nvSpPr>
          <p:cNvPr id="30" name="Text 28"/>
          <p:cNvSpPr/>
          <p:nvPr/>
        </p:nvSpPr>
        <p:spPr>
          <a:xfrm>
            <a:off x="822960" y="4535424"/>
            <a:ext cx="5074920" cy="109728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Leave this OFF (the default). Each service keeps its own rows, so every scope task shows exactly what it costs. Tick it only if you want one short flat list and do not need per-task totals.</a:t>
            </a:r>
            <a:endParaRPr lang="en-US" sz="1150" dirty="0"/>
          </a:p>
        </p:txBody>
      </p:sp>
      <p:sp>
        <p:nvSpPr>
          <p:cNvPr id="31" name="Shape 29"/>
          <p:cNvSpPr/>
          <p:nvPr/>
        </p:nvSpPr>
        <p:spPr>
          <a:xfrm>
            <a:off x="6446520" y="4014216"/>
            <a:ext cx="5175504" cy="1691640"/>
          </a:xfrm>
          <a:prstGeom prst="roundRect">
            <a:avLst>
              <a:gd name="adj" fmla="val 432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6702552" y="4197096"/>
            <a:ext cx="4663440" cy="292608"/>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Adding the same service twice</a:t>
            </a:r>
            <a:endParaRPr lang="en-US" sz="1350" dirty="0"/>
          </a:p>
        </p:txBody>
      </p:sp>
      <p:sp>
        <p:nvSpPr>
          <p:cNvPr id="33" name="Text 31"/>
          <p:cNvSpPr/>
          <p:nvPr/>
        </p:nvSpPr>
        <p:spPr>
          <a:xfrm>
            <a:off x="6702552" y="4535424"/>
            <a:ext cx="4663440" cy="1097280"/>
          </a:xfrm>
          <a:prstGeom prst="rect">
            <a:avLst/>
          </a:prstGeom>
          <a:noFill/>
          <a:ln/>
        </p:spPr>
        <p:txBody>
          <a:bodyPr wrap="square" lIns="0" tIns="0" rIns="0" bIns="0" rtlCol="0" anchor="t"/>
          <a:lstStyle/>
          <a:p>
            <a:pPr algn="l" indent="0" marL="0">
              <a:lnSpc>
                <a:spcPts val="1500"/>
              </a:lnSpc>
              <a:buNone/>
            </a:pPr>
            <a:r>
              <a:rPr lang="en-US" sz="1150" dirty="0">
                <a:solidFill>
                  <a:srgbClr val="E6EDF3"/>
                </a:solidFill>
                <a:latin typeface="Calibri" pitchFamily="34" charset="0"/>
                <a:ea typeface="Calibri" pitchFamily="34" charset="-122"/>
                <a:cs typeface="Calibri" pitchFamily="34" charset="-120"/>
              </a:rPr>
              <a:t>Add to CE is additive — a second press builds a second set of tasks and doubles that cost. The app now asks first. To change what is already there, edit it in SOW Breakdown instead.</a:t>
            </a:r>
            <a:endParaRPr lang="en-US" sz="1150" dirty="0"/>
          </a:p>
        </p:txBody>
      </p:sp>
      <p:sp>
        <p:nvSpPr>
          <p:cNvPr id="34" name="Text 3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5" name="Text 3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2 · SCOPE OF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Describe the job in steps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Shape 4"/>
          <p:cNvSpPr/>
          <p:nvPr/>
        </p:nvSpPr>
        <p:spPr>
          <a:xfrm>
            <a:off x="1822704" y="1408176"/>
            <a:ext cx="1173480" cy="329184"/>
          </a:xfrm>
          <a:prstGeom prst="roundRect">
            <a:avLst>
              <a:gd name="adj" fmla="val 13889"/>
            </a:avLst>
          </a:prstGeom>
          <a:solidFill>
            <a:srgbClr val="F0A429"/>
          </a:solidFill>
          <a:ln w="12700">
            <a:solidFill>
              <a:srgbClr val="F0A429"/>
            </a:solidFill>
            <a:prstDash val="solid"/>
          </a:ln>
        </p:spPr>
      </p:sp>
      <p:sp>
        <p:nvSpPr>
          <p:cNvPr id="7" name="Text 5"/>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Scope of Work</a:t>
            </a:r>
            <a:endParaRPr lang="en-US" sz="900" dirty="0"/>
          </a:p>
        </p:txBody>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30936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41248" y="2212848"/>
            <a:ext cx="5669280" cy="310896"/>
          </a:xfrm>
          <a:prstGeom prst="rect">
            <a:avLst/>
          </a:prstGeom>
          <a:noFill/>
          <a:ln/>
        </p:spPr>
        <p:txBody>
          <a:bodyPr wrap="square" lIns="0" tIns="0" rIns="0" bIns="0" rtlCol="0" anchor="ctr"/>
          <a:lstStyle/>
          <a:p>
            <a:pPr indent="0" marL="0">
              <a:buNone/>
            </a:pPr>
            <a:r>
              <a:rPr lang="en-US" sz="1600" b="1" dirty="0">
                <a:solidFill>
                  <a:srgbClr val="F0A429"/>
                </a:solidFill>
                <a:latin typeface="Arial" pitchFamily="34" charset="0"/>
                <a:ea typeface="Arial" pitchFamily="34" charset="-122"/>
                <a:cs typeface="Arial" pitchFamily="34" charset="-120"/>
              </a:rPr>
              <a:t>Main items and sub-steps</a:t>
            </a:r>
            <a:endParaRPr lang="en-US" sz="1600" dirty="0"/>
          </a:p>
        </p:txBody>
      </p:sp>
      <p:sp>
        <p:nvSpPr>
          <p:cNvPr id="17" name="Text 15"/>
          <p:cNvSpPr/>
          <p:nvPr/>
        </p:nvSpPr>
        <p:spPr>
          <a:xfrm>
            <a:off x="841248" y="2642616"/>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1.</a:t>
            </a:r>
            <a:endParaRPr lang="en-US" sz="1200" dirty="0"/>
          </a:p>
        </p:txBody>
      </p:sp>
      <p:sp>
        <p:nvSpPr>
          <p:cNvPr id="18" name="Shape 16"/>
          <p:cNvSpPr/>
          <p:nvPr/>
        </p:nvSpPr>
        <p:spPr>
          <a:xfrm>
            <a:off x="1408176" y="2642616"/>
            <a:ext cx="4892040" cy="384048"/>
          </a:xfrm>
          <a:prstGeom prst="roundRect">
            <a:avLst>
              <a:gd name="adj" fmla="val 11905"/>
            </a:avLst>
          </a:prstGeom>
          <a:solidFill>
            <a:srgbClr val="161B22"/>
          </a:solidFill>
          <a:ln w="12700">
            <a:solidFill>
              <a:srgbClr val="30363D"/>
            </a:solidFill>
            <a:prstDash val="solid"/>
          </a:ln>
        </p:spPr>
      </p:sp>
      <p:sp>
        <p:nvSpPr>
          <p:cNvPr id="19" name="Text 17"/>
          <p:cNvSpPr/>
          <p:nvPr/>
        </p:nvSpPr>
        <p:spPr>
          <a:xfrm>
            <a:off x="1536192" y="2642616"/>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Sand blasting</a:t>
            </a:r>
            <a:endParaRPr lang="en-US" sz="1200" dirty="0"/>
          </a:p>
        </p:txBody>
      </p:sp>
      <p:sp>
        <p:nvSpPr>
          <p:cNvPr id="20" name="Text 18"/>
          <p:cNvSpPr/>
          <p:nvPr/>
        </p:nvSpPr>
        <p:spPr>
          <a:xfrm>
            <a:off x="1133856" y="3127248"/>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1.1</a:t>
            </a:r>
            <a:endParaRPr lang="en-US" sz="1200" dirty="0"/>
          </a:p>
        </p:txBody>
      </p:sp>
      <p:sp>
        <p:nvSpPr>
          <p:cNvPr id="21" name="Shape 19"/>
          <p:cNvSpPr/>
          <p:nvPr/>
        </p:nvSpPr>
        <p:spPr>
          <a:xfrm>
            <a:off x="1700784" y="3127248"/>
            <a:ext cx="4599432" cy="384048"/>
          </a:xfrm>
          <a:prstGeom prst="roundRect">
            <a:avLst>
              <a:gd name="adj" fmla="val 11905"/>
            </a:avLst>
          </a:prstGeom>
          <a:solidFill>
            <a:srgbClr val="141922"/>
          </a:solidFill>
          <a:ln w="12700">
            <a:solidFill>
              <a:srgbClr val="30363D"/>
            </a:solidFill>
            <a:prstDash val="solid"/>
          </a:ln>
        </p:spPr>
      </p:sp>
      <p:sp>
        <p:nvSpPr>
          <p:cNvPr id="22" name="Text 20"/>
          <p:cNvSpPr/>
          <p:nvPr/>
        </p:nvSpPr>
        <p:spPr>
          <a:xfrm>
            <a:off x="1828800" y="3127248"/>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HIP — high impact area</a:t>
            </a:r>
            <a:endParaRPr lang="en-US" sz="1200" dirty="0"/>
          </a:p>
        </p:txBody>
      </p:sp>
      <p:sp>
        <p:nvSpPr>
          <p:cNvPr id="23" name="Text 21"/>
          <p:cNvSpPr/>
          <p:nvPr/>
        </p:nvSpPr>
        <p:spPr>
          <a:xfrm>
            <a:off x="1133856" y="3611880"/>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1.2</a:t>
            </a:r>
            <a:endParaRPr lang="en-US" sz="1200" dirty="0"/>
          </a:p>
        </p:txBody>
      </p:sp>
      <p:sp>
        <p:nvSpPr>
          <p:cNvPr id="24" name="Shape 22"/>
          <p:cNvSpPr/>
          <p:nvPr/>
        </p:nvSpPr>
        <p:spPr>
          <a:xfrm>
            <a:off x="1700784" y="3611880"/>
            <a:ext cx="4599432" cy="384048"/>
          </a:xfrm>
          <a:prstGeom prst="roundRect">
            <a:avLst>
              <a:gd name="adj" fmla="val 11905"/>
            </a:avLst>
          </a:prstGeom>
          <a:solidFill>
            <a:srgbClr val="141922"/>
          </a:solidFill>
          <a:ln w="12700">
            <a:solidFill>
              <a:srgbClr val="30363D"/>
            </a:solidFill>
            <a:prstDash val="solid"/>
          </a:ln>
        </p:spPr>
      </p:sp>
      <p:sp>
        <p:nvSpPr>
          <p:cNvPr id="25" name="Text 23"/>
          <p:cNvSpPr/>
          <p:nvPr/>
        </p:nvSpPr>
        <p:spPr>
          <a:xfrm>
            <a:off x="1828800" y="3611880"/>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LIP — low impact area</a:t>
            </a:r>
            <a:endParaRPr lang="en-US" sz="1200" dirty="0"/>
          </a:p>
        </p:txBody>
      </p:sp>
      <p:sp>
        <p:nvSpPr>
          <p:cNvPr id="26" name="Text 24"/>
          <p:cNvSpPr/>
          <p:nvPr/>
        </p:nvSpPr>
        <p:spPr>
          <a:xfrm>
            <a:off x="841248" y="4096512"/>
            <a:ext cx="502920" cy="384048"/>
          </a:xfrm>
          <a:prstGeom prst="rect">
            <a:avLst/>
          </a:prstGeom>
          <a:noFill/>
          <a:ln/>
        </p:spPr>
        <p:txBody>
          <a:bodyPr wrap="square" lIns="0" tIns="0" rIns="0" bIns="0" rtlCol="0" anchor="ctr"/>
          <a:lstStyle/>
          <a:p>
            <a:pPr indent="0" marL="0">
              <a:buNone/>
            </a:pPr>
            <a:r>
              <a:rPr lang="en-US" sz="1200" b="1" dirty="0">
                <a:solidFill>
                  <a:srgbClr val="F0A429"/>
                </a:solidFill>
                <a:latin typeface="Courier New" pitchFamily="34" charset="0"/>
                <a:ea typeface="Courier New" pitchFamily="34" charset="-122"/>
                <a:cs typeface="Courier New" pitchFamily="34" charset="-120"/>
              </a:rPr>
              <a:t>2.</a:t>
            </a:r>
            <a:endParaRPr lang="en-US" sz="1200" dirty="0"/>
          </a:p>
        </p:txBody>
      </p:sp>
      <p:sp>
        <p:nvSpPr>
          <p:cNvPr id="27" name="Shape 25"/>
          <p:cNvSpPr/>
          <p:nvPr/>
        </p:nvSpPr>
        <p:spPr>
          <a:xfrm>
            <a:off x="1408176" y="4096512"/>
            <a:ext cx="4892040" cy="384048"/>
          </a:xfrm>
          <a:prstGeom prst="roundRect">
            <a:avLst>
              <a:gd name="adj" fmla="val 11905"/>
            </a:avLst>
          </a:prstGeom>
          <a:solidFill>
            <a:srgbClr val="161B22"/>
          </a:solidFill>
          <a:ln w="12700">
            <a:solidFill>
              <a:srgbClr val="30363D"/>
            </a:solidFill>
            <a:prstDash val="solid"/>
          </a:ln>
        </p:spPr>
      </p:sp>
      <p:sp>
        <p:nvSpPr>
          <p:cNvPr id="28" name="Text 26"/>
          <p:cNvSpPr/>
          <p:nvPr/>
        </p:nvSpPr>
        <p:spPr>
          <a:xfrm>
            <a:off x="1536192" y="4096512"/>
            <a:ext cx="4572000" cy="384048"/>
          </a:xfrm>
          <a:prstGeom prst="rect">
            <a:avLst/>
          </a:prstGeom>
          <a:noFill/>
          <a:ln/>
        </p:spPr>
        <p:txBody>
          <a:bodyPr wrap="square" lIns="0" tIns="0" rIns="0" bIns="0" rtlCol="0" anchor="ctr"/>
          <a:lstStyle/>
          <a:p>
            <a:pPr indent="0" marL="0">
              <a:buNone/>
            </a:pPr>
            <a:r>
              <a:rPr lang="en-US" sz="1200" b="1" dirty="0">
                <a:solidFill>
                  <a:srgbClr val="E6EDF3"/>
                </a:solidFill>
                <a:latin typeface="Calibri" pitchFamily="34" charset="0"/>
                <a:ea typeface="Calibri" pitchFamily="34" charset="-122"/>
                <a:cs typeface="Calibri" pitchFamily="34" charset="-120"/>
              </a:rPr>
              <a:t>Rebabbitting of plain bearing</a:t>
            </a:r>
            <a:endParaRPr lang="en-US" sz="1200" dirty="0"/>
          </a:p>
        </p:txBody>
      </p:sp>
      <p:sp>
        <p:nvSpPr>
          <p:cNvPr id="29" name="Text 27"/>
          <p:cNvSpPr/>
          <p:nvPr/>
        </p:nvSpPr>
        <p:spPr>
          <a:xfrm>
            <a:off x="1133856" y="4581144"/>
            <a:ext cx="502920" cy="384048"/>
          </a:xfrm>
          <a:prstGeom prst="rect">
            <a:avLst/>
          </a:prstGeom>
          <a:noFill/>
          <a:ln/>
        </p:spPr>
        <p:txBody>
          <a:bodyPr wrap="square" lIns="0" tIns="0" rIns="0" bIns="0" rtlCol="0" anchor="ctr"/>
          <a:lstStyle/>
          <a:p>
            <a:pPr indent="0" marL="0">
              <a:buNone/>
            </a:pPr>
            <a:r>
              <a:rPr lang="en-US" sz="1200" dirty="0">
                <a:solidFill>
                  <a:srgbClr val="9AA4AF"/>
                </a:solidFill>
                <a:latin typeface="Courier New" pitchFamily="34" charset="0"/>
                <a:ea typeface="Courier New" pitchFamily="34" charset="-122"/>
                <a:cs typeface="Courier New" pitchFamily="34" charset="-120"/>
              </a:rPr>
              <a:t>2.1</a:t>
            </a:r>
            <a:endParaRPr lang="en-US" sz="1200" dirty="0"/>
          </a:p>
        </p:txBody>
      </p:sp>
      <p:sp>
        <p:nvSpPr>
          <p:cNvPr id="30" name="Shape 28"/>
          <p:cNvSpPr/>
          <p:nvPr/>
        </p:nvSpPr>
        <p:spPr>
          <a:xfrm>
            <a:off x="1700784" y="4581144"/>
            <a:ext cx="4599432" cy="384048"/>
          </a:xfrm>
          <a:prstGeom prst="roundRect">
            <a:avLst>
              <a:gd name="adj" fmla="val 11905"/>
            </a:avLst>
          </a:prstGeom>
          <a:solidFill>
            <a:srgbClr val="141922"/>
          </a:solidFill>
          <a:ln w="12700">
            <a:solidFill>
              <a:srgbClr val="30363D"/>
            </a:solidFill>
            <a:prstDash val="solid"/>
          </a:ln>
        </p:spPr>
      </p:sp>
      <p:sp>
        <p:nvSpPr>
          <p:cNvPr id="31" name="Text 29"/>
          <p:cNvSpPr/>
          <p:nvPr/>
        </p:nvSpPr>
        <p:spPr>
          <a:xfrm>
            <a:off x="1828800" y="4581144"/>
            <a:ext cx="4572000" cy="384048"/>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Disassembly and inspection</a:t>
            </a:r>
            <a:endParaRPr lang="en-US" sz="1200" dirty="0"/>
          </a:p>
        </p:txBody>
      </p:sp>
      <p:sp>
        <p:nvSpPr>
          <p:cNvPr id="32" name="Text 30"/>
          <p:cNvSpPr/>
          <p:nvPr/>
        </p:nvSpPr>
        <p:spPr>
          <a:xfrm>
            <a:off x="841248" y="5065776"/>
            <a:ext cx="566928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Use + Main Item for a numbered step, + Sub Item for detail under it. Reorder with the arrows.</a:t>
            </a:r>
            <a:endParaRPr lang="en-US" sz="1100" dirty="0"/>
          </a:p>
        </p:txBody>
      </p:sp>
      <p:sp>
        <p:nvSpPr>
          <p:cNvPr id="33" name="Shape 31"/>
          <p:cNvSpPr/>
          <p:nvPr/>
        </p:nvSpPr>
        <p:spPr>
          <a:xfrm>
            <a:off x="7086600" y="200253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315200" y="2185416"/>
            <a:ext cx="4023360" cy="292608"/>
          </a:xfrm>
          <a:prstGeom prst="rect">
            <a:avLst/>
          </a:prstGeom>
          <a:noFill/>
          <a:ln/>
        </p:spPr>
        <p:txBody>
          <a:bodyPr wrap="square" lIns="0" tIns="0" rIns="0" bIns="0" rtlCol="0" anchor="ctr"/>
          <a:lstStyle/>
          <a:p>
            <a:pPr indent="0" marL="0">
              <a:buNone/>
            </a:pPr>
            <a:r>
              <a:rPr lang="en-US" sz="1450" b="1" dirty="0">
                <a:solidFill>
                  <a:srgbClr val="E6EDF3"/>
                </a:solidFill>
                <a:latin typeface="Arial" pitchFamily="34" charset="0"/>
                <a:ea typeface="Arial" pitchFamily="34" charset="-122"/>
                <a:cs typeface="Arial" pitchFamily="34" charset="-120"/>
              </a:rPr>
              <a:t>Why it matters</a:t>
            </a:r>
            <a:endParaRPr lang="en-US" sz="1450" dirty="0"/>
          </a:p>
        </p:txBody>
      </p:sp>
      <p:sp>
        <p:nvSpPr>
          <p:cNvPr id="35" name="Text 33"/>
          <p:cNvSpPr/>
          <p:nvPr/>
        </p:nvSpPr>
        <p:spPr>
          <a:xfrm>
            <a:off x="7315200" y="254203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These steps become the tasks in SOW Breakdown. Every resource you add is filed against one of them, so the scope you write here decides how the cost is grouped.</a:t>
            </a:r>
            <a:endParaRPr lang="en-US" sz="1200" dirty="0"/>
          </a:p>
        </p:txBody>
      </p:sp>
      <p:sp>
        <p:nvSpPr>
          <p:cNvPr id="36" name="Shape 34"/>
          <p:cNvSpPr/>
          <p:nvPr/>
        </p:nvSpPr>
        <p:spPr>
          <a:xfrm>
            <a:off x="7086600" y="3877056"/>
            <a:ext cx="4526280" cy="1691640"/>
          </a:xfrm>
          <a:prstGeom prst="roundRect">
            <a:avLst>
              <a:gd name="adj" fmla="val 4324"/>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7315200" y="4059936"/>
            <a:ext cx="402336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Deleting a step</a:t>
            </a:r>
            <a:endParaRPr lang="en-US" sz="1450" dirty="0"/>
          </a:p>
        </p:txBody>
      </p:sp>
      <p:sp>
        <p:nvSpPr>
          <p:cNvPr id="38" name="Text 36"/>
          <p:cNvSpPr/>
          <p:nvPr/>
        </p:nvSpPr>
        <p:spPr>
          <a:xfrm>
            <a:off x="7315200" y="4416552"/>
            <a:ext cx="4069080" cy="1097280"/>
          </a:xfrm>
          <a:prstGeom prst="rect">
            <a:avLst/>
          </a:prstGeom>
          <a:noFill/>
          <a:ln/>
        </p:spPr>
        <p:txBody>
          <a:bodyPr wrap="square" lIns="0" tIns="0" rIns="0" bIns="0" rtlCol="0" anchor="t"/>
          <a:lstStyle/>
          <a:p>
            <a:pPr algn="l" indent="0" marL="0">
              <a:lnSpc>
                <a:spcPts val="1600"/>
              </a:lnSpc>
              <a:buNone/>
            </a:pPr>
            <a:r>
              <a:rPr lang="en-US" sz="1200" dirty="0">
                <a:solidFill>
                  <a:srgbClr val="9AA4AF"/>
                </a:solidFill>
                <a:latin typeface="Calibri" pitchFamily="34" charset="0"/>
                <a:ea typeface="Calibri" pitchFamily="34" charset="-122"/>
                <a:cs typeface="Calibri" pitchFamily="34" charset="-120"/>
              </a:rPr>
              <a:t>Deleting a main item also deletes its sub-steps and every resource assigned to them. The app tells you how many and gives you 10 seconds to undo.</a:t>
            </a:r>
            <a:endParaRPr lang="en-US" sz="120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3 · SOW BREAKDOWN</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each step needs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Shape 5"/>
          <p:cNvSpPr/>
          <p:nvPr/>
        </p:nvSpPr>
        <p:spPr>
          <a:xfrm>
            <a:off x="3051048" y="1408176"/>
            <a:ext cx="1173480" cy="329184"/>
          </a:xfrm>
          <a:prstGeom prst="roundRect">
            <a:avLst>
              <a:gd name="adj" fmla="val 13889"/>
            </a:avLst>
          </a:prstGeom>
          <a:solidFill>
            <a:srgbClr val="F0A429"/>
          </a:solidFill>
          <a:ln w="12700">
            <a:solidFill>
              <a:srgbClr val="F0A429"/>
            </a:solidFill>
            <a:prstDash val="solid"/>
          </a:ln>
        </p:spPr>
      </p:sp>
      <p:sp>
        <p:nvSpPr>
          <p:cNvPr id="8" name="Text 6"/>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SOW Breakdown</a:t>
            </a:r>
            <a:endParaRPr lang="en-US" sz="900" dirty="0"/>
          </a:p>
        </p:txBody>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6858000" cy="2286000"/>
          </a:xfrm>
          <a:prstGeom prst="roundRect">
            <a:avLst>
              <a:gd name="adj" fmla="val 32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795528" y="2157984"/>
            <a:ext cx="3291840" cy="329184"/>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  1   Sand Blasting</a:t>
            </a:r>
            <a:endParaRPr lang="en-US" sz="1400" dirty="0"/>
          </a:p>
        </p:txBody>
      </p:sp>
      <p:sp>
        <p:nvSpPr>
          <p:cNvPr id="17" name="Text 15"/>
          <p:cNvSpPr/>
          <p:nvPr/>
        </p:nvSpPr>
        <p:spPr>
          <a:xfrm>
            <a:off x="4133088" y="2157984"/>
            <a:ext cx="1371600" cy="329184"/>
          </a:xfrm>
          <a:prstGeom prst="rect">
            <a:avLst/>
          </a:prstGeom>
          <a:noFill/>
          <a:ln/>
        </p:spPr>
        <p:txBody>
          <a:bodyPr wrap="square" lIns="0" tIns="0" rIns="0" bIns="0" rtlCol="0" anchor="ctr"/>
          <a:lstStyle/>
          <a:p>
            <a:pPr algn="r" indent="0" marL="0">
              <a:buNone/>
            </a:pPr>
            <a:r>
              <a:rPr lang="en-US" sz="1300" b="1" dirty="0">
                <a:solidFill>
                  <a:srgbClr val="F0A429"/>
                </a:solidFill>
                <a:latin typeface="Courier New" pitchFamily="34" charset="0"/>
                <a:ea typeface="Courier New" pitchFamily="34" charset="-122"/>
                <a:cs typeface="Courier New" pitchFamily="34" charset="-120"/>
              </a:rPr>
              <a:t>₱6,072.16</a:t>
            </a:r>
            <a:endParaRPr lang="en-US" sz="1300" dirty="0"/>
          </a:p>
        </p:txBody>
      </p:sp>
      <p:sp>
        <p:nvSpPr>
          <p:cNvPr id="18" name="Shape 16"/>
          <p:cNvSpPr/>
          <p:nvPr/>
        </p:nvSpPr>
        <p:spPr>
          <a:xfrm>
            <a:off x="5641848" y="2194560"/>
            <a:ext cx="1572768" cy="265176"/>
          </a:xfrm>
          <a:prstGeom prst="roundRect">
            <a:avLst>
              <a:gd name="adj" fmla="val 48276"/>
            </a:avLst>
          </a:prstGeom>
          <a:solidFill>
            <a:srgbClr val="13301C"/>
          </a:solidFill>
          <a:ln w="12700">
            <a:solidFill>
              <a:srgbClr val="13301C"/>
            </a:solidFill>
            <a:prstDash val="solid"/>
          </a:ln>
        </p:spPr>
      </p:sp>
      <p:sp>
        <p:nvSpPr>
          <p:cNvPr id="19" name="Text 17"/>
          <p:cNvSpPr/>
          <p:nvPr/>
        </p:nvSpPr>
        <p:spPr>
          <a:xfrm>
            <a:off x="5641848" y="2194560"/>
            <a:ext cx="1572768" cy="265176"/>
          </a:xfrm>
          <a:prstGeom prst="rect">
            <a:avLst/>
          </a:prstGeom>
          <a:noFill/>
          <a:ln/>
        </p:spPr>
        <p:txBody>
          <a:bodyPr wrap="square" lIns="0" tIns="0" rIns="0" bIns="0" rtlCol="0" anchor="ctr"/>
          <a:lstStyle/>
          <a:p>
            <a:pPr algn="ctr" indent="0" marL="0">
              <a:buNone/>
            </a:pPr>
            <a:r>
              <a:rPr lang="en-US" sz="950" dirty="0">
                <a:solidFill>
                  <a:srgbClr val="3FB950"/>
                </a:solidFill>
                <a:latin typeface="Calibri" pitchFamily="34" charset="0"/>
                <a:ea typeface="Calibri" pitchFamily="34" charset="-122"/>
                <a:cs typeface="Calibri" pitchFamily="34" charset="-120"/>
              </a:rPr>
              <a:t>5 resources</a:t>
            </a:r>
            <a:endParaRPr lang="en-US" sz="950" dirty="0"/>
          </a:p>
        </p:txBody>
      </p:sp>
      <p:sp>
        <p:nvSpPr>
          <p:cNvPr id="20" name="Shape 18"/>
          <p:cNvSpPr/>
          <p:nvPr/>
        </p:nvSpPr>
        <p:spPr>
          <a:xfrm>
            <a:off x="978408" y="2642616"/>
            <a:ext cx="6217920" cy="420624"/>
          </a:xfrm>
          <a:prstGeom prst="roundRect">
            <a:avLst>
              <a:gd name="adj" fmla="val 10870"/>
            </a:avLst>
          </a:prstGeom>
          <a:solidFill>
            <a:srgbClr val="161B22"/>
          </a:solidFill>
          <a:ln w="12700">
            <a:solidFill>
              <a:srgbClr val="30363D"/>
            </a:solidFill>
            <a:prstDash val="solid"/>
          </a:ln>
        </p:spPr>
      </p:sp>
      <p:sp>
        <p:nvSpPr>
          <p:cNvPr id="21" name="Text 19"/>
          <p:cNvSpPr/>
          <p:nvPr/>
        </p:nvSpPr>
        <p:spPr>
          <a:xfrm>
            <a:off x="1133856" y="2642616"/>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1.1   HIP</a:t>
            </a:r>
            <a:endParaRPr lang="en-US" sz="1200" dirty="0"/>
          </a:p>
        </p:txBody>
      </p:sp>
      <p:sp>
        <p:nvSpPr>
          <p:cNvPr id="22" name="Text 20"/>
          <p:cNvSpPr/>
          <p:nvPr/>
        </p:nvSpPr>
        <p:spPr>
          <a:xfrm>
            <a:off x="5321808" y="2642616"/>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₱4,872.16</a:t>
            </a:r>
            <a:endParaRPr lang="en-US" sz="1150" dirty="0"/>
          </a:p>
        </p:txBody>
      </p:sp>
      <p:sp>
        <p:nvSpPr>
          <p:cNvPr id="23" name="Shape 21"/>
          <p:cNvSpPr/>
          <p:nvPr/>
        </p:nvSpPr>
        <p:spPr>
          <a:xfrm>
            <a:off x="978408" y="3154680"/>
            <a:ext cx="6217920" cy="420624"/>
          </a:xfrm>
          <a:prstGeom prst="roundRect">
            <a:avLst>
              <a:gd name="adj" fmla="val 10870"/>
            </a:avLst>
          </a:prstGeom>
          <a:solidFill>
            <a:srgbClr val="161B22"/>
          </a:solidFill>
          <a:ln w="12700">
            <a:solidFill>
              <a:srgbClr val="30363D"/>
            </a:solidFill>
            <a:prstDash val="solid"/>
          </a:ln>
        </p:spPr>
      </p:sp>
      <p:sp>
        <p:nvSpPr>
          <p:cNvPr id="24" name="Text 22"/>
          <p:cNvSpPr/>
          <p:nvPr/>
        </p:nvSpPr>
        <p:spPr>
          <a:xfrm>
            <a:off x="1133856" y="3154680"/>
            <a:ext cx="2926080" cy="420624"/>
          </a:xfrm>
          <a:prstGeom prst="rect">
            <a:avLst/>
          </a:prstGeom>
          <a:noFill/>
          <a:ln/>
        </p:spPr>
        <p:txBody>
          <a:bodyPr wrap="square" lIns="0" tIns="0" rIns="0" bIns="0" rtlCol="0" anchor="ctr"/>
          <a:lstStyle/>
          <a:p>
            <a:pPr indent="0" marL="0">
              <a:buNone/>
            </a:pPr>
            <a:r>
              <a:rPr lang="en-US" sz="1200" dirty="0">
                <a:solidFill>
                  <a:srgbClr val="E6EDF3"/>
                </a:solidFill>
                <a:latin typeface="Calibri" pitchFamily="34" charset="0"/>
                <a:ea typeface="Calibri" pitchFamily="34" charset="-122"/>
                <a:cs typeface="Calibri" pitchFamily="34" charset="-120"/>
              </a:rPr>
              <a:t>▾  1.2   LIP</a:t>
            </a:r>
            <a:endParaRPr lang="en-US" sz="1200" dirty="0"/>
          </a:p>
        </p:txBody>
      </p:sp>
      <p:sp>
        <p:nvSpPr>
          <p:cNvPr id="25" name="Text 23"/>
          <p:cNvSpPr/>
          <p:nvPr/>
        </p:nvSpPr>
        <p:spPr>
          <a:xfrm>
            <a:off x="5321808" y="3154680"/>
            <a:ext cx="1691640" cy="420624"/>
          </a:xfrm>
          <a:prstGeom prst="rect">
            <a:avLst/>
          </a:prstGeom>
          <a:noFill/>
          <a:ln/>
        </p:spPr>
        <p:txBody>
          <a:bodyPr wrap="square" lIns="0" tIns="0" rIns="0" bIns="0" rtlCol="0" anchor="ctr"/>
          <a:lstStyle/>
          <a:p>
            <a:pPr algn="r" indent="0" marL="0">
              <a:buNone/>
            </a:pPr>
            <a:r>
              <a:rPr lang="en-US" sz="1150" dirty="0">
                <a:solidFill>
                  <a:srgbClr val="F0A429"/>
                </a:solidFill>
                <a:latin typeface="Courier New" pitchFamily="34" charset="0"/>
                <a:ea typeface="Courier New" pitchFamily="34" charset="-122"/>
                <a:cs typeface="Courier New" pitchFamily="34" charset="-120"/>
              </a:rPr>
              <a:t>₱1,200.00</a:t>
            </a:r>
            <a:endParaRPr lang="en-US" sz="1150" dirty="0"/>
          </a:p>
        </p:txBody>
      </p:sp>
      <p:sp>
        <p:nvSpPr>
          <p:cNvPr id="26" name="Text 24"/>
          <p:cNvSpPr/>
          <p:nvPr/>
        </p:nvSpPr>
        <p:spPr>
          <a:xfrm>
            <a:off x="795528" y="3694176"/>
            <a:ext cx="6400800" cy="5029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parent shows the total of everything beneath it. Open a task to add Manpower, Tools &amp; Equipment, Consumables, PPE or Miscellaneous to that step alone.</a:t>
            </a:r>
            <a:endParaRPr lang="en-US" sz="1100" dirty="0"/>
          </a:p>
        </p:txBody>
      </p:sp>
      <p:sp>
        <p:nvSpPr>
          <p:cNvPr id="27" name="Shape 25"/>
          <p:cNvSpPr/>
          <p:nvPr/>
        </p:nvSpPr>
        <p:spPr>
          <a:xfrm>
            <a:off x="7635240" y="2002536"/>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7863840" y="213055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Unassigned resources</a:t>
            </a:r>
            <a:endParaRPr lang="en-US" sz="1350" dirty="0"/>
          </a:p>
        </p:txBody>
      </p:sp>
      <p:sp>
        <p:nvSpPr>
          <p:cNvPr id="29" name="Text 27"/>
          <p:cNvSpPr/>
          <p:nvPr/>
        </p:nvSpPr>
        <p:spPr>
          <a:xfrm>
            <a:off x="7863840" y="2441448"/>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Rows not linked to a step appear in an amber panel below. Tick several and file them at once.</a:t>
            </a:r>
            <a:endParaRPr lang="en-US" sz="1100" dirty="0"/>
          </a:p>
        </p:txBody>
      </p:sp>
      <p:sp>
        <p:nvSpPr>
          <p:cNvPr id="30" name="Shape 28"/>
          <p:cNvSpPr/>
          <p:nvPr/>
        </p:nvSpPr>
        <p:spPr>
          <a:xfrm>
            <a:off x="7635240" y="3209544"/>
            <a:ext cx="3977640" cy="1078992"/>
          </a:xfrm>
          <a:prstGeom prst="roundRect">
            <a:avLst>
              <a:gd name="adj" fmla="val 678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7863840" y="3337560"/>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Breakdown note</a:t>
            </a:r>
            <a:endParaRPr lang="en-US" sz="1350" dirty="0"/>
          </a:p>
        </p:txBody>
      </p:sp>
      <p:sp>
        <p:nvSpPr>
          <p:cNvPr id="32" name="Text 30"/>
          <p:cNvSpPr/>
          <p:nvPr/>
        </p:nvSpPr>
        <p:spPr>
          <a:xfrm>
            <a:off x="7863840" y="3648456"/>
            <a:ext cx="356616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Explain how a task was costed. It prints with the CE notes, labelled "Scope 1.1".</a:t>
            </a:r>
            <a:endParaRPr lang="en-US" sz="1100" dirty="0"/>
          </a:p>
        </p:txBody>
      </p:sp>
      <p:sp>
        <p:nvSpPr>
          <p:cNvPr id="33" name="Shape 31"/>
          <p:cNvSpPr/>
          <p:nvPr/>
        </p:nvSpPr>
        <p:spPr>
          <a:xfrm>
            <a:off x="7635240" y="4416552"/>
            <a:ext cx="3977640" cy="1152144"/>
          </a:xfrm>
          <a:prstGeom prst="roundRect">
            <a:avLst>
              <a:gd name="adj" fmla="val 6349"/>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7863840" y="4553712"/>
            <a:ext cx="356616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This is the same data</a:t>
            </a:r>
            <a:endParaRPr lang="en-US" sz="1350" dirty="0"/>
          </a:p>
        </p:txBody>
      </p:sp>
      <p:sp>
        <p:nvSpPr>
          <p:cNvPr id="35" name="Text 33"/>
          <p:cNvSpPr/>
          <p:nvPr/>
        </p:nvSpPr>
        <p:spPr>
          <a:xfrm>
            <a:off x="7863840" y="4864608"/>
            <a:ext cx="3566160" cy="65836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Anything you change here changes the Manpower, Tools, Materials, PPE and Miscellaneous tabs too. It is one set of rows, grouped two ways.</a:t>
            </a:r>
            <a:endParaRPr lang="en-US" sz="1100" dirty="0"/>
          </a:p>
        </p:txBody>
      </p:sp>
      <p:sp>
        <p:nvSpPr>
          <p:cNvPr id="36" name="Shape 34"/>
          <p:cNvSpPr/>
          <p:nvPr/>
        </p:nvSpPr>
        <p:spPr>
          <a:xfrm>
            <a:off x="566928" y="4425696"/>
            <a:ext cx="6858000" cy="1143000"/>
          </a:xfrm>
          <a:prstGeom prst="roundRect">
            <a:avLst>
              <a:gd name="adj" fmla="val 64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7" name="Text 35"/>
          <p:cNvSpPr/>
          <p:nvPr/>
        </p:nvSpPr>
        <p:spPr>
          <a:xfrm>
            <a:off x="822960" y="457200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shortcuts worth knowing</a:t>
            </a:r>
            <a:endParaRPr lang="en-US" sz="1400" dirty="0"/>
          </a:p>
        </p:txBody>
      </p:sp>
      <p:sp>
        <p:nvSpPr>
          <p:cNvPr id="38" name="Text 36"/>
          <p:cNvSpPr/>
          <p:nvPr/>
        </p:nvSpPr>
        <p:spPr>
          <a:xfrm>
            <a:off x="822960" y="4882896"/>
            <a:ext cx="6309360" cy="621792"/>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copy from… clones every resource on another task into this one — ideal when step 1.2 mirrors 1.1. Collapse all turns a long CE into a one-screen summary of what each step costs.</a:t>
            </a:r>
            <a:endParaRPr lang="en-US" sz="1150" dirty="0"/>
          </a:p>
        </p:txBody>
      </p:sp>
      <p:sp>
        <p:nvSpPr>
          <p:cNvPr id="39" name="Text 3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0" name="Text 3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4 · MANPOWER</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People, days and overtime</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Shape 6"/>
          <p:cNvSpPr/>
          <p:nvPr/>
        </p:nvSpPr>
        <p:spPr>
          <a:xfrm>
            <a:off x="4279392" y="1408176"/>
            <a:ext cx="1173480" cy="329184"/>
          </a:xfrm>
          <a:prstGeom prst="roundRect">
            <a:avLst>
              <a:gd name="adj" fmla="val 13889"/>
            </a:avLst>
          </a:prstGeom>
          <a:solidFill>
            <a:srgbClr val="F0A429"/>
          </a:solidFill>
          <a:ln w="12700">
            <a:solidFill>
              <a:srgbClr val="F0A429"/>
            </a:solidFill>
            <a:prstDash val="solid"/>
          </a:ln>
        </p:spPr>
      </p:sp>
      <p:sp>
        <p:nvSpPr>
          <p:cNvPr id="9" name="Text 7"/>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Manpower</a:t>
            </a:r>
            <a:endParaRPr lang="en-US" sz="900" dirty="0"/>
          </a:p>
        </p:txBody>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2415886"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ROLE / POSITION</a:t>
            </a:r>
            <a:endParaRPr lang="en-US" sz="850" dirty="0"/>
          </a:p>
        </p:txBody>
      </p:sp>
      <p:sp>
        <p:nvSpPr>
          <p:cNvPr id="16" name="Text 14"/>
          <p:cNvSpPr/>
          <p:nvPr/>
        </p:nvSpPr>
        <p:spPr>
          <a:xfrm>
            <a:off x="2982814" y="2048256"/>
            <a:ext cx="623455"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PAX</a:t>
            </a:r>
            <a:endParaRPr lang="en-US" sz="850" dirty="0"/>
          </a:p>
        </p:txBody>
      </p:sp>
      <p:sp>
        <p:nvSpPr>
          <p:cNvPr id="17" name="Text 15"/>
          <p:cNvSpPr/>
          <p:nvPr/>
        </p:nvSpPr>
        <p:spPr>
          <a:xfrm>
            <a:off x="3606269" y="2048256"/>
            <a:ext cx="70138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DAYS</a:t>
            </a:r>
            <a:endParaRPr lang="en-US" sz="850" dirty="0"/>
          </a:p>
        </p:txBody>
      </p:sp>
      <p:sp>
        <p:nvSpPr>
          <p:cNvPr id="18" name="Text 16"/>
          <p:cNvSpPr/>
          <p:nvPr/>
        </p:nvSpPr>
        <p:spPr>
          <a:xfrm>
            <a:off x="4307655" y="2048256"/>
            <a:ext cx="1013114"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OT HRS/DAY</a:t>
            </a:r>
            <a:endParaRPr lang="en-US" sz="850" dirty="0"/>
          </a:p>
        </p:txBody>
      </p:sp>
      <p:sp>
        <p:nvSpPr>
          <p:cNvPr id="19" name="Text 17"/>
          <p:cNvSpPr/>
          <p:nvPr/>
        </p:nvSpPr>
        <p:spPr>
          <a:xfrm>
            <a:off x="5320769" y="2048256"/>
            <a:ext cx="93518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DAY RATE</a:t>
            </a:r>
            <a:endParaRPr lang="en-US" sz="850" dirty="0"/>
          </a:p>
        </p:txBody>
      </p:sp>
      <p:sp>
        <p:nvSpPr>
          <p:cNvPr id="20" name="Text 18"/>
          <p:cNvSpPr/>
          <p:nvPr/>
        </p:nvSpPr>
        <p:spPr>
          <a:xfrm>
            <a:off x="6255951" y="2048256"/>
            <a:ext cx="1168977"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ROW TOTAL</a:t>
            </a:r>
            <a:endParaRPr lang="en-US" sz="850" dirty="0"/>
          </a:p>
        </p:txBody>
      </p:sp>
      <p:sp>
        <p:nvSpPr>
          <p:cNvPr id="21" name="Shape 19"/>
          <p:cNvSpPr/>
          <p:nvPr/>
        </p:nvSpPr>
        <p:spPr>
          <a:xfrm>
            <a:off x="566928" y="2322576"/>
            <a:ext cx="6858000" cy="292608"/>
          </a:xfrm>
          <a:prstGeom prst="rect">
            <a:avLst/>
          </a:prstGeom>
          <a:solidFill>
            <a:srgbClr val="1C2128"/>
          </a:solidFill>
          <a:ln w="6350">
            <a:solidFill>
              <a:srgbClr val="30363D"/>
            </a:solidFill>
            <a:prstDash val="solid"/>
          </a:ln>
        </p:spPr>
      </p:sp>
      <p:sp>
        <p:nvSpPr>
          <p:cNvPr id="22" name="Text 20"/>
          <p:cNvSpPr/>
          <p:nvPr/>
        </p:nvSpPr>
        <p:spPr>
          <a:xfrm>
            <a:off x="621792" y="2322576"/>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Welder</a:t>
            </a:r>
            <a:endParaRPr lang="en-US" sz="1050" dirty="0"/>
          </a:p>
        </p:txBody>
      </p:sp>
      <p:sp>
        <p:nvSpPr>
          <p:cNvPr id="23" name="Text 21"/>
          <p:cNvSpPr/>
          <p:nvPr/>
        </p:nvSpPr>
        <p:spPr>
          <a:xfrm>
            <a:off x="3037678" y="2322576"/>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2</a:t>
            </a:r>
            <a:endParaRPr lang="en-US" sz="1050" dirty="0"/>
          </a:p>
        </p:txBody>
      </p:sp>
      <p:sp>
        <p:nvSpPr>
          <p:cNvPr id="24" name="Text 22"/>
          <p:cNvSpPr/>
          <p:nvPr/>
        </p:nvSpPr>
        <p:spPr>
          <a:xfrm>
            <a:off x="3661133" y="2322576"/>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25" name="Text 23"/>
          <p:cNvSpPr/>
          <p:nvPr/>
        </p:nvSpPr>
        <p:spPr>
          <a:xfrm>
            <a:off x="4362519" y="2322576"/>
            <a:ext cx="903386" cy="292608"/>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3</a:t>
            </a:r>
            <a:endParaRPr lang="en-US" sz="1050" dirty="0"/>
          </a:p>
        </p:txBody>
      </p:sp>
      <p:sp>
        <p:nvSpPr>
          <p:cNvPr id="26" name="Text 24"/>
          <p:cNvSpPr/>
          <p:nvPr/>
        </p:nvSpPr>
        <p:spPr>
          <a:xfrm>
            <a:off x="5375633" y="2322576"/>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950.00</a:t>
            </a:r>
            <a:endParaRPr lang="en-US" sz="1050" dirty="0"/>
          </a:p>
        </p:txBody>
      </p:sp>
      <p:sp>
        <p:nvSpPr>
          <p:cNvPr id="27" name="Text 25"/>
          <p:cNvSpPr/>
          <p:nvPr/>
        </p:nvSpPr>
        <p:spPr>
          <a:xfrm>
            <a:off x="6310815" y="2322576"/>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₱27,906</a:t>
            </a:r>
            <a:endParaRPr lang="en-US" sz="1050" dirty="0"/>
          </a:p>
        </p:txBody>
      </p:sp>
      <p:sp>
        <p:nvSpPr>
          <p:cNvPr id="28" name="Shape 26"/>
          <p:cNvSpPr/>
          <p:nvPr/>
        </p:nvSpPr>
        <p:spPr>
          <a:xfrm>
            <a:off x="566928" y="2615184"/>
            <a:ext cx="6858000" cy="292608"/>
          </a:xfrm>
          <a:prstGeom prst="rect">
            <a:avLst/>
          </a:prstGeom>
          <a:solidFill>
            <a:srgbClr val="161B22"/>
          </a:solidFill>
          <a:ln w="6350">
            <a:solidFill>
              <a:srgbClr val="30363D"/>
            </a:solidFill>
            <a:prstDash val="solid"/>
          </a:ln>
        </p:spPr>
      </p:sp>
      <p:sp>
        <p:nvSpPr>
          <p:cNvPr id="29" name="Text 27"/>
          <p:cNvSpPr/>
          <p:nvPr/>
        </p:nvSpPr>
        <p:spPr>
          <a:xfrm>
            <a:off x="621792" y="2615184"/>
            <a:ext cx="2306158" cy="292608"/>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Machinist</a:t>
            </a:r>
            <a:endParaRPr lang="en-US" sz="1050" dirty="0"/>
          </a:p>
        </p:txBody>
      </p:sp>
      <p:sp>
        <p:nvSpPr>
          <p:cNvPr id="30" name="Text 28"/>
          <p:cNvSpPr/>
          <p:nvPr/>
        </p:nvSpPr>
        <p:spPr>
          <a:xfrm>
            <a:off x="3037678" y="2615184"/>
            <a:ext cx="513727"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a:t>
            </a:r>
            <a:endParaRPr lang="en-US" sz="1050" dirty="0"/>
          </a:p>
        </p:txBody>
      </p:sp>
      <p:sp>
        <p:nvSpPr>
          <p:cNvPr id="31" name="Text 29"/>
          <p:cNvSpPr/>
          <p:nvPr/>
        </p:nvSpPr>
        <p:spPr>
          <a:xfrm>
            <a:off x="3661133" y="2615184"/>
            <a:ext cx="591658"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10</a:t>
            </a:r>
            <a:endParaRPr lang="en-US" sz="1050" dirty="0"/>
          </a:p>
        </p:txBody>
      </p:sp>
      <p:sp>
        <p:nvSpPr>
          <p:cNvPr id="32" name="Text 30"/>
          <p:cNvSpPr/>
          <p:nvPr/>
        </p:nvSpPr>
        <p:spPr>
          <a:xfrm>
            <a:off x="4362519" y="2615184"/>
            <a:ext cx="903386" cy="292608"/>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a:t>
            </a:r>
            <a:endParaRPr lang="en-US" sz="1050" dirty="0"/>
          </a:p>
        </p:txBody>
      </p:sp>
      <p:sp>
        <p:nvSpPr>
          <p:cNvPr id="33" name="Text 31"/>
          <p:cNvSpPr/>
          <p:nvPr/>
        </p:nvSpPr>
        <p:spPr>
          <a:xfrm>
            <a:off x="5375633" y="2615184"/>
            <a:ext cx="825454" cy="292608"/>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1,050.00</a:t>
            </a:r>
            <a:endParaRPr lang="en-US" sz="1050" dirty="0"/>
          </a:p>
        </p:txBody>
      </p:sp>
      <p:sp>
        <p:nvSpPr>
          <p:cNvPr id="34" name="Text 32"/>
          <p:cNvSpPr/>
          <p:nvPr/>
        </p:nvSpPr>
        <p:spPr>
          <a:xfrm>
            <a:off x="6310815" y="2615184"/>
            <a:ext cx="1059249" cy="292608"/>
          </a:xfrm>
          <a:prstGeom prst="rect">
            <a:avLst/>
          </a:prstGeom>
          <a:noFill/>
          <a:ln/>
        </p:spPr>
        <p:txBody>
          <a:bodyPr wrap="square" lIns="0" tIns="0" rIns="0" bIns="0" rtlCol="0" anchor="ctr"/>
          <a:lstStyle/>
          <a:p>
            <a:pPr algn="r" indent="0" marL="0">
              <a:buNone/>
            </a:pPr>
            <a:r>
              <a:rPr lang="en-US" sz="1050" b="1" dirty="0">
                <a:solidFill>
                  <a:srgbClr val="F0A429"/>
                </a:solidFill>
                <a:latin typeface="Calibri" pitchFamily="34" charset="0"/>
                <a:ea typeface="Calibri" pitchFamily="34" charset="-122"/>
                <a:cs typeface="Calibri" pitchFamily="34" charset="-120"/>
              </a:rPr>
              <a:t>₱10,500</a:t>
            </a:r>
            <a:endParaRPr lang="en-US" sz="1050" dirty="0"/>
          </a:p>
        </p:txBody>
      </p:sp>
      <p:sp>
        <p:nvSpPr>
          <p:cNvPr id="35" name="Shape 33"/>
          <p:cNvSpPr/>
          <p:nvPr/>
        </p:nvSpPr>
        <p:spPr>
          <a:xfrm>
            <a:off x="566928" y="3136392"/>
            <a:ext cx="6858000" cy="1371600"/>
          </a:xfrm>
          <a:prstGeom prst="roundRect">
            <a:avLst>
              <a:gd name="adj" fmla="val 5333"/>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36" name="Text 34"/>
          <p:cNvSpPr/>
          <p:nvPr/>
        </p:nvSpPr>
        <p:spPr>
          <a:xfrm>
            <a:off x="822960" y="3291840"/>
            <a:ext cx="63093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OT hours are PER DAY</a:t>
            </a:r>
            <a:endParaRPr lang="en-US" sz="1450" dirty="0"/>
          </a:p>
        </p:txBody>
      </p:sp>
      <p:sp>
        <p:nvSpPr>
          <p:cNvPr id="37" name="Text 35"/>
          <p:cNvSpPr/>
          <p:nvPr/>
        </p:nvSpPr>
        <p:spPr>
          <a:xfrm>
            <a:off x="822960" y="3639312"/>
            <a:ext cx="6309360" cy="777240"/>
          </a:xfrm>
          <a:prstGeom prst="rect">
            <a:avLst/>
          </a:prstGeom>
          <a:noFill/>
          <a:ln/>
        </p:spPr>
        <p:txBody>
          <a:bodyPr wrap="square" lIns="0" tIns="0" rIns="0" bIns="0" rtlCol="0" anchor="t"/>
          <a:lstStyle/>
          <a:p>
            <a:pPr algn="l" indent="0" marL="0">
              <a:lnSpc>
                <a:spcPts val="1600"/>
              </a:lnSpc>
              <a:buNone/>
            </a:pPr>
            <a:r>
              <a:rPr lang="en-US" sz="1200" dirty="0">
                <a:solidFill>
                  <a:srgbClr val="E6EDF3"/>
                </a:solidFill>
                <a:latin typeface="Calibri" pitchFamily="34" charset="0"/>
                <a:ea typeface="Calibri" pitchFamily="34" charset="-122"/>
                <a:cs typeface="Calibri" pitchFamily="34" charset="-120"/>
              </a:rPr>
              <a:t>3 hours over 10 days is charged as 30 hours, matching the OT HRS column on our own manpower loading sheet. Overtime is paid at 1.25 × the hourly rate (day rate ÷ 8).</a:t>
            </a:r>
            <a:endParaRPr lang="en-US" sz="1200" dirty="0"/>
          </a:p>
        </p:txBody>
      </p:sp>
      <p:sp>
        <p:nvSpPr>
          <p:cNvPr id="38" name="Shape 36"/>
          <p:cNvSpPr/>
          <p:nvPr/>
        </p:nvSpPr>
        <p:spPr>
          <a:xfrm>
            <a:off x="566928" y="4690872"/>
            <a:ext cx="6858000" cy="1371600"/>
          </a:xfrm>
          <a:prstGeom prst="roundRect">
            <a:avLst>
              <a:gd name="adj" fmla="val 533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822960" y="4846320"/>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Adding a row</a:t>
            </a:r>
            <a:endParaRPr lang="en-US" sz="1400" dirty="0"/>
          </a:p>
        </p:txBody>
      </p:sp>
      <p:sp>
        <p:nvSpPr>
          <p:cNvPr id="40" name="Text 38"/>
          <p:cNvSpPr/>
          <p:nvPr/>
        </p:nvSpPr>
        <p:spPr>
          <a:xfrm>
            <a:off x="822960" y="5175504"/>
            <a:ext cx="6309360" cy="8229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 Masterlist picks a role and brings its rate and per diem with it — always prefer that to typing. + Blank adds an empty row. Row Total here is pay plus overtime; benefits are added into the grand total on the Summary tab.</a:t>
            </a:r>
            <a:endParaRPr lang="en-US" sz="1150" dirty="0"/>
          </a:p>
        </p:txBody>
      </p:sp>
      <p:sp>
        <p:nvSpPr>
          <p:cNvPr id="41" name="Shape 39"/>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21945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Shifts</a:t>
            </a:r>
            <a:endParaRPr lang="en-US" sz="1400" dirty="0"/>
          </a:p>
        </p:txBody>
      </p:sp>
      <p:sp>
        <p:nvSpPr>
          <p:cNvPr id="43" name="Text 41"/>
          <p:cNvSpPr/>
          <p:nvPr/>
        </p:nvSpPr>
        <p:spPr>
          <a:xfrm>
            <a:off x="7863840" y="25054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Regular, night, Sunday and holiday each carry their own multiplier. Group rows under the right shift heading.</a:t>
            </a:r>
            <a:endParaRPr lang="en-US" sz="1100" dirty="0"/>
          </a:p>
        </p:txBody>
      </p:sp>
      <p:sp>
        <p:nvSpPr>
          <p:cNvPr id="44" name="Shape 42"/>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35661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Benefits</a:t>
            </a:r>
            <a:endParaRPr lang="en-US" sz="1400" dirty="0"/>
          </a:p>
        </p:txBody>
      </p:sp>
      <p:sp>
        <p:nvSpPr>
          <p:cNvPr id="46" name="Text 44"/>
          <p:cNvSpPr/>
          <p:nvPr/>
        </p:nvSpPr>
        <p:spPr>
          <a:xfrm>
            <a:off x="7863840" y="38770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13th month, SSS, HDMF/PHIC and SIL are added automatically. You do not enter them.</a:t>
            </a:r>
            <a:endParaRPr lang="en-US" sz="1100" dirty="0"/>
          </a:p>
        </p:txBody>
      </p:sp>
      <p:sp>
        <p:nvSpPr>
          <p:cNvPr id="47" name="Shape 45"/>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8" name="Text 46"/>
          <p:cNvSpPr/>
          <p:nvPr/>
        </p:nvSpPr>
        <p:spPr>
          <a:xfrm>
            <a:off x="7863840" y="4937760"/>
            <a:ext cx="35661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Per diem</a:t>
            </a:r>
            <a:endParaRPr lang="en-US" sz="1400" dirty="0"/>
          </a:p>
        </p:txBody>
      </p:sp>
      <p:sp>
        <p:nvSpPr>
          <p:cNvPr id="49" name="Text 47"/>
          <p:cNvSpPr/>
          <p:nvPr/>
        </p:nvSpPr>
        <p:spPr>
          <a:xfrm>
            <a:off x="7863840" y="5248656"/>
            <a:ext cx="3566160" cy="713232"/>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Charged per person per day. Pulled from the Masterlist where the role has one.</a:t>
            </a:r>
            <a:endParaRPr lang="en-US" sz="1100" dirty="0"/>
          </a:p>
        </p:txBody>
      </p:sp>
      <p:sp>
        <p:nvSpPr>
          <p:cNvPr id="50" name="Text 48"/>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1" name="Text 49"/>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5 · TOOLS · MATERIALS · PPE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Equipment and consumables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Shape 7"/>
          <p:cNvSpPr/>
          <p:nvPr/>
        </p:nvSpPr>
        <p:spPr>
          <a:xfrm>
            <a:off x="5507736" y="1408176"/>
            <a:ext cx="1173480" cy="329184"/>
          </a:xfrm>
          <a:prstGeom prst="roundRect">
            <a:avLst>
              <a:gd name="adj" fmla="val 13889"/>
            </a:avLst>
          </a:prstGeom>
          <a:solidFill>
            <a:srgbClr val="F0A429"/>
          </a:solidFill>
          <a:ln w="12700">
            <a:solidFill>
              <a:srgbClr val="F0A429"/>
            </a:solidFill>
            <a:prstDash val="solid"/>
          </a:ln>
        </p:spPr>
      </p:sp>
      <p:sp>
        <p:nvSpPr>
          <p:cNvPr id="10" name="Text 8"/>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Tools</a:t>
            </a:r>
            <a:endParaRPr lang="en-US" sz="900" dirty="0"/>
          </a:p>
        </p:txBody>
      </p:sp>
      <p:sp>
        <p:nvSpPr>
          <p:cNvPr id="11" name="Text 9"/>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2" name="Text 10"/>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185416"/>
            <a:ext cx="3108960" cy="310896"/>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Tools &amp; Equipment</a:t>
            </a:r>
            <a:endParaRPr lang="en-US" sz="1450" dirty="0"/>
          </a:p>
        </p:txBody>
      </p:sp>
      <p:sp>
        <p:nvSpPr>
          <p:cNvPr id="17" name="Text 15"/>
          <p:cNvSpPr/>
          <p:nvPr/>
        </p:nvSpPr>
        <p:spPr>
          <a:xfrm>
            <a:off x="804672"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Charged qty × days × unit cost. Leave Days at 1 for a one-off charge; set it for hired plant.</a:t>
            </a:r>
            <a:endParaRPr lang="en-US" sz="1150" dirty="0"/>
          </a:p>
        </p:txBody>
      </p:sp>
      <p:sp>
        <p:nvSpPr>
          <p:cNvPr id="18" name="Shape 16"/>
          <p:cNvSpPr/>
          <p:nvPr/>
        </p:nvSpPr>
        <p:spPr>
          <a:xfrm>
            <a:off x="4352544"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185416"/>
            <a:ext cx="3108960" cy="310896"/>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Materials</a:t>
            </a:r>
            <a:endParaRPr lang="en-US" sz="1450" dirty="0"/>
          </a:p>
        </p:txBody>
      </p:sp>
      <p:sp>
        <p:nvSpPr>
          <p:cNvPr id="20" name="Text 18"/>
          <p:cNvSpPr/>
          <p:nvPr/>
        </p:nvSpPr>
        <p:spPr>
          <a:xfrm>
            <a:off x="4590288"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Consumables and spare parts. Charged qty × unit cost.</a:t>
            </a:r>
            <a:endParaRPr lang="en-US" sz="1150" dirty="0"/>
          </a:p>
        </p:txBody>
      </p:sp>
      <p:sp>
        <p:nvSpPr>
          <p:cNvPr id="21" name="Shape 19"/>
          <p:cNvSpPr/>
          <p:nvPr/>
        </p:nvSpPr>
        <p:spPr>
          <a:xfrm>
            <a:off x="8138160" y="2002536"/>
            <a:ext cx="3566160" cy="1463040"/>
          </a:xfrm>
          <a:prstGeom prst="roundRect">
            <a:avLst>
              <a:gd name="adj" fmla="val 5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185416"/>
            <a:ext cx="3108960" cy="310896"/>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PPE</a:t>
            </a:r>
            <a:endParaRPr lang="en-US" sz="1450" dirty="0"/>
          </a:p>
        </p:txBody>
      </p:sp>
      <p:sp>
        <p:nvSpPr>
          <p:cNvPr id="23" name="Text 21"/>
          <p:cNvSpPr/>
          <p:nvPr/>
        </p:nvSpPr>
        <p:spPr>
          <a:xfrm>
            <a:off x="8375904" y="2542032"/>
            <a:ext cx="3108960" cy="82296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Personal protective equipment, charged the same way.</a:t>
            </a:r>
            <a:endParaRPr lang="en-US" sz="1150" dirty="0"/>
          </a:p>
        </p:txBody>
      </p:sp>
      <p:sp>
        <p:nvSpPr>
          <p:cNvPr id="24" name="Shape 22"/>
          <p:cNvSpPr/>
          <p:nvPr/>
        </p:nvSpPr>
        <p:spPr>
          <a:xfrm>
            <a:off x="566928"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From Masterlist</a:t>
            </a:r>
            <a:endParaRPr lang="en-US" sz="1350" dirty="0"/>
          </a:p>
        </p:txBody>
      </p:sp>
      <p:sp>
        <p:nvSpPr>
          <p:cNvPr id="26" name="Text 24"/>
          <p:cNvSpPr/>
          <p:nvPr/>
        </p:nvSpPr>
        <p:spPr>
          <a:xfrm>
            <a:off x="804672"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Pick an item and its rate and unit come with it. Always prefer this over typing.</a:t>
            </a:r>
            <a:endParaRPr lang="en-US" sz="1100" dirty="0"/>
          </a:p>
        </p:txBody>
      </p:sp>
      <p:sp>
        <p:nvSpPr>
          <p:cNvPr id="27" name="Shape 25"/>
          <p:cNvSpPr/>
          <p:nvPr/>
        </p:nvSpPr>
        <p:spPr>
          <a:xfrm>
            <a:off x="6309360" y="3648456"/>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6547104" y="3767328"/>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Sync Rates</a:t>
            </a:r>
            <a:endParaRPr lang="en-US" sz="1350" dirty="0"/>
          </a:p>
        </p:txBody>
      </p:sp>
      <p:sp>
        <p:nvSpPr>
          <p:cNvPr id="29" name="Text 27"/>
          <p:cNvSpPr/>
          <p:nvPr/>
        </p:nvSpPr>
        <p:spPr>
          <a:xfrm>
            <a:off x="6547104" y="4069080"/>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Updates every matching row to the current Masterlist rate. Use it on an older CE before requoting.</a:t>
            </a:r>
            <a:endParaRPr lang="en-US" sz="1100" dirty="0"/>
          </a:p>
        </p:txBody>
      </p:sp>
      <p:sp>
        <p:nvSpPr>
          <p:cNvPr id="30" name="Shape 28"/>
          <p:cNvSpPr/>
          <p:nvPr/>
        </p:nvSpPr>
        <p:spPr>
          <a:xfrm>
            <a:off x="566928"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04672"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 Import XLS</a:t>
            </a:r>
            <a:endParaRPr lang="en-US" sz="1350" dirty="0"/>
          </a:p>
        </p:txBody>
      </p:sp>
      <p:sp>
        <p:nvSpPr>
          <p:cNvPr id="32" name="Text 30"/>
          <p:cNvSpPr/>
          <p:nvPr/>
        </p:nvSpPr>
        <p:spPr>
          <a:xfrm>
            <a:off x="804672"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Bulk-load rows from a spreadsheet: Description, Qty, UOM, Unit Cost.</a:t>
            </a:r>
            <a:endParaRPr lang="en-US" sz="1100" dirty="0"/>
          </a:p>
        </p:txBody>
      </p:sp>
      <p:sp>
        <p:nvSpPr>
          <p:cNvPr id="33" name="Shape 31"/>
          <p:cNvSpPr/>
          <p:nvPr/>
        </p:nvSpPr>
        <p:spPr>
          <a:xfrm>
            <a:off x="6309360" y="4818888"/>
            <a:ext cx="5532120" cy="1042416"/>
          </a:xfrm>
          <a:prstGeom prst="roundRect">
            <a:avLst>
              <a:gd name="adj" fmla="val 701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6547104" y="4937760"/>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Unit of measure</a:t>
            </a:r>
            <a:endParaRPr lang="en-US" sz="1350" dirty="0"/>
          </a:p>
        </p:txBody>
      </p:sp>
      <p:sp>
        <p:nvSpPr>
          <p:cNvPr id="35" name="Text 33"/>
          <p:cNvSpPr/>
          <p:nvPr/>
        </p:nvSpPr>
        <p:spPr>
          <a:xfrm>
            <a:off x="6547104" y="5239512"/>
            <a:ext cx="5074920" cy="566928"/>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62 units grouped by kind — Pcs, Box, Can, Gallon, Drum, Kg, sq.m, L.M. and more. An unusual unit from an imported file is kept as it was.</a:t>
            </a:r>
            <a:endParaRPr lang="en-US" sz="110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6 · MISCELLANEOUS</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Everything else the job carries</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Shape 10"/>
          <p:cNvSpPr/>
          <p:nvPr/>
        </p:nvSpPr>
        <p:spPr>
          <a:xfrm>
            <a:off x="9192768" y="1408176"/>
            <a:ext cx="1173480" cy="329184"/>
          </a:xfrm>
          <a:prstGeom prst="roundRect">
            <a:avLst>
              <a:gd name="adj" fmla="val 13889"/>
            </a:avLst>
          </a:prstGeom>
          <a:solidFill>
            <a:srgbClr val="F0A429"/>
          </a:solidFill>
          <a:ln w="12700">
            <a:solidFill>
              <a:srgbClr val="F0A429"/>
            </a:solidFill>
            <a:prstDash val="solid"/>
          </a:ln>
        </p:spPr>
      </p:sp>
      <p:sp>
        <p:nvSpPr>
          <p:cNvPr id="13" name="Text 11"/>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Misc.</a:t>
            </a:r>
            <a:endParaRPr lang="en-US" sz="900" dirty="0"/>
          </a:p>
        </p:txBody>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Summary</a:t>
            </a:r>
            <a:endParaRPr lang="en-US" sz="900" dirty="0"/>
          </a:p>
        </p:txBody>
      </p:sp>
      <p:sp>
        <p:nvSpPr>
          <p:cNvPr id="15" name="Shape 13"/>
          <p:cNvSpPr/>
          <p:nvPr/>
        </p:nvSpPr>
        <p:spPr>
          <a:xfrm>
            <a:off x="566928"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Text 14"/>
          <p:cNvSpPr/>
          <p:nvPr/>
        </p:nvSpPr>
        <p:spPr>
          <a:xfrm>
            <a:off x="804672"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Accommodation</a:t>
            </a:r>
            <a:endParaRPr lang="en-US" sz="1350" dirty="0"/>
          </a:p>
        </p:txBody>
      </p:sp>
      <p:sp>
        <p:nvSpPr>
          <p:cNvPr id="17" name="Text 15"/>
          <p:cNvSpPr/>
          <p:nvPr/>
        </p:nvSpPr>
        <p:spPr>
          <a:xfrm>
            <a:off x="804672"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Lodging for the crew</a:t>
            </a:r>
            <a:endParaRPr lang="en-US" sz="1100" dirty="0"/>
          </a:p>
        </p:txBody>
      </p:sp>
      <p:sp>
        <p:nvSpPr>
          <p:cNvPr id="18" name="Shape 16"/>
          <p:cNvSpPr/>
          <p:nvPr/>
        </p:nvSpPr>
        <p:spPr>
          <a:xfrm>
            <a:off x="4352544"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4590288"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Transportation</a:t>
            </a:r>
            <a:endParaRPr lang="en-US" sz="1350" dirty="0"/>
          </a:p>
        </p:txBody>
      </p:sp>
      <p:sp>
        <p:nvSpPr>
          <p:cNvPr id="20" name="Text 18"/>
          <p:cNvSpPr/>
          <p:nvPr/>
        </p:nvSpPr>
        <p:spPr>
          <a:xfrm>
            <a:off x="4590288"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Getting people and equipment to site</a:t>
            </a:r>
            <a:endParaRPr lang="en-US" sz="1100" dirty="0"/>
          </a:p>
        </p:txBody>
      </p:sp>
      <p:sp>
        <p:nvSpPr>
          <p:cNvPr id="21" name="Shape 19"/>
          <p:cNvSpPr/>
          <p:nvPr/>
        </p:nvSpPr>
        <p:spPr>
          <a:xfrm>
            <a:off x="8138160" y="204825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Text 20"/>
          <p:cNvSpPr/>
          <p:nvPr/>
        </p:nvSpPr>
        <p:spPr>
          <a:xfrm>
            <a:off x="8375904" y="221284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Requirements</a:t>
            </a:r>
            <a:endParaRPr lang="en-US" sz="1350" dirty="0"/>
          </a:p>
        </p:txBody>
      </p:sp>
      <p:sp>
        <p:nvSpPr>
          <p:cNvPr id="23" name="Text 21"/>
          <p:cNvSpPr/>
          <p:nvPr/>
        </p:nvSpPr>
        <p:spPr>
          <a:xfrm>
            <a:off x="8375904" y="254203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Permits, clearances, site requirements</a:t>
            </a:r>
            <a:endParaRPr lang="en-US" sz="1100" dirty="0"/>
          </a:p>
        </p:txBody>
      </p:sp>
      <p:sp>
        <p:nvSpPr>
          <p:cNvPr id="24" name="Shape 22"/>
          <p:cNvSpPr/>
          <p:nvPr/>
        </p:nvSpPr>
        <p:spPr>
          <a:xfrm>
            <a:off x="566928"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804672"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Admin Cost</a:t>
            </a:r>
            <a:endParaRPr lang="en-US" sz="1350" dirty="0"/>
          </a:p>
        </p:txBody>
      </p:sp>
      <p:sp>
        <p:nvSpPr>
          <p:cNvPr id="26" name="Text 24"/>
          <p:cNvSpPr/>
          <p:nvPr/>
        </p:nvSpPr>
        <p:spPr>
          <a:xfrm>
            <a:off x="804672"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Documentation and coordination</a:t>
            </a:r>
            <a:endParaRPr lang="en-US" sz="1100" dirty="0"/>
          </a:p>
        </p:txBody>
      </p:sp>
      <p:sp>
        <p:nvSpPr>
          <p:cNvPr id="27" name="Shape 25"/>
          <p:cNvSpPr/>
          <p:nvPr/>
        </p:nvSpPr>
        <p:spPr>
          <a:xfrm>
            <a:off x="4352544"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8" name="Text 26"/>
          <p:cNvSpPr/>
          <p:nvPr/>
        </p:nvSpPr>
        <p:spPr>
          <a:xfrm>
            <a:off x="4590288"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Third Party</a:t>
            </a:r>
            <a:endParaRPr lang="en-US" sz="1350" dirty="0"/>
          </a:p>
        </p:txBody>
      </p:sp>
      <p:sp>
        <p:nvSpPr>
          <p:cNvPr id="29" name="Text 27"/>
          <p:cNvSpPr/>
          <p:nvPr/>
        </p:nvSpPr>
        <p:spPr>
          <a:xfrm>
            <a:off x="4590288"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Subcontracted or specialist services</a:t>
            </a:r>
            <a:endParaRPr lang="en-US" sz="1100" dirty="0"/>
          </a:p>
        </p:txBody>
      </p:sp>
      <p:sp>
        <p:nvSpPr>
          <p:cNvPr id="30" name="Shape 28"/>
          <p:cNvSpPr/>
          <p:nvPr/>
        </p:nvSpPr>
        <p:spPr>
          <a:xfrm>
            <a:off x="8138160" y="3282696"/>
            <a:ext cx="3566160" cy="1078992"/>
          </a:xfrm>
          <a:prstGeom prst="roundRect">
            <a:avLst>
              <a:gd name="adj" fmla="val 678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1" name="Text 29"/>
          <p:cNvSpPr/>
          <p:nvPr/>
        </p:nvSpPr>
        <p:spPr>
          <a:xfrm>
            <a:off x="8375904" y="3447288"/>
            <a:ext cx="3108960" cy="292608"/>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Insurances</a:t>
            </a:r>
            <a:endParaRPr lang="en-US" sz="1350" dirty="0"/>
          </a:p>
        </p:txBody>
      </p:sp>
      <p:sp>
        <p:nvSpPr>
          <p:cNvPr id="32" name="Text 30"/>
          <p:cNvSpPr/>
          <p:nvPr/>
        </p:nvSpPr>
        <p:spPr>
          <a:xfrm>
            <a:off x="8375904" y="3776472"/>
            <a:ext cx="3108960" cy="45720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Cover required for the works</a:t>
            </a:r>
            <a:endParaRPr lang="en-US" sz="1100" dirty="0"/>
          </a:p>
        </p:txBody>
      </p:sp>
      <p:sp>
        <p:nvSpPr>
          <p:cNvPr id="33" name="Shape 31"/>
          <p:cNvSpPr/>
          <p:nvPr/>
        </p:nvSpPr>
        <p:spPr>
          <a:xfrm>
            <a:off x="566928" y="4608576"/>
            <a:ext cx="11055096" cy="1051560"/>
          </a:xfrm>
          <a:prstGeom prst="roundRect">
            <a:avLst>
              <a:gd name="adj" fmla="val 6957"/>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4" name="Text 32"/>
          <p:cNvSpPr/>
          <p:nvPr/>
        </p:nvSpPr>
        <p:spPr>
          <a:xfrm>
            <a:off x="841248" y="4754880"/>
            <a:ext cx="7315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Add as many lines as you need under each heading</a:t>
            </a:r>
            <a:endParaRPr lang="en-US" sz="1350" dirty="0"/>
          </a:p>
        </p:txBody>
      </p:sp>
      <p:sp>
        <p:nvSpPr>
          <p:cNvPr id="35" name="Text 33"/>
          <p:cNvSpPr/>
          <p:nvPr/>
        </p:nvSpPr>
        <p:spPr>
          <a:xfrm>
            <a:off x="841248" y="5056632"/>
            <a:ext cx="10515600" cy="457200"/>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Each line takes a description, quantity, unit and cost — the same as any other resource. Mobilisation and demobilisation vehicles are entered separately on the Summary tab for on-site jobs.</a:t>
            </a:r>
            <a:endParaRPr lang="en-US" sz="1150" dirty="0"/>
          </a:p>
        </p:txBody>
      </p:sp>
      <p:sp>
        <p:nvSpPr>
          <p:cNvPr id="36" name="Text 3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7" name="Text 3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7 · SUMMARY</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Price it and sign it</a:t>
            </a:r>
            <a:endParaRPr lang="en-US" sz="3200" dirty="0"/>
          </a:p>
        </p:txBody>
      </p:sp>
      <p:sp>
        <p:nvSpPr>
          <p:cNvPr id="4" name="Shape 2"/>
          <p:cNvSpPr/>
          <p:nvPr/>
        </p:nvSpPr>
        <p:spPr>
          <a:xfrm>
            <a:off x="566928" y="1362456"/>
            <a:ext cx="11055096" cy="420624"/>
          </a:xfrm>
          <a:prstGeom prst="roundRect">
            <a:avLst>
              <a:gd name="adj" fmla="val 13043"/>
            </a:avLst>
          </a:prstGeom>
          <a:solidFill>
            <a:srgbClr val="161B22"/>
          </a:solidFill>
          <a:ln w="12700">
            <a:solidFill>
              <a:srgbClr val="30363D"/>
            </a:solidFill>
            <a:prstDash val="solid"/>
          </a:ln>
        </p:spPr>
      </p:sp>
      <p:sp>
        <p:nvSpPr>
          <p:cNvPr id="5" name="Text 3"/>
          <p:cNvSpPr/>
          <p:nvPr/>
        </p:nvSpPr>
        <p:spPr>
          <a:xfrm>
            <a:off x="56692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Project Info</a:t>
            </a:r>
            <a:endParaRPr lang="en-US" sz="900" dirty="0"/>
          </a:p>
        </p:txBody>
      </p:sp>
      <p:sp>
        <p:nvSpPr>
          <p:cNvPr id="6" name="Text 4"/>
          <p:cNvSpPr/>
          <p:nvPr/>
        </p:nvSpPr>
        <p:spPr>
          <a:xfrm>
            <a:off x="179527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Scope of Work</a:t>
            </a:r>
            <a:endParaRPr lang="en-US" sz="900" dirty="0"/>
          </a:p>
        </p:txBody>
      </p:sp>
      <p:sp>
        <p:nvSpPr>
          <p:cNvPr id="7" name="Text 5"/>
          <p:cNvSpPr/>
          <p:nvPr/>
        </p:nvSpPr>
        <p:spPr>
          <a:xfrm>
            <a:off x="302361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SOW Breakdown</a:t>
            </a:r>
            <a:endParaRPr lang="en-US" sz="900" dirty="0"/>
          </a:p>
        </p:txBody>
      </p:sp>
      <p:sp>
        <p:nvSpPr>
          <p:cNvPr id="8" name="Text 6"/>
          <p:cNvSpPr/>
          <p:nvPr/>
        </p:nvSpPr>
        <p:spPr>
          <a:xfrm>
            <a:off x="4251960"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Manpower</a:t>
            </a:r>
            <a:endParaRPr lang="en-US" sz="900" dirty="0"/>
          </a:p>
        </p:txBody>
      </p:sp>
      <p:sp>
        <p:nvSpPr>
          <p:cNvPr id="9" name="Text 7"/>
          <p:cNvSpPr/>
          <p:nvPr/>
        </p:nvSpPr>
        <p:spPr>
          <a:xfrm>
            <a:off x="5480304"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Tools</a:t>
            </a:r>
            <a:endParaRPr lang="en-US" sz="900" dirty="0"/>
          </a:p>
        </p:txBody>
      </p:sp>
      <p:sp>
        <p:nvSpPr>
          <p:cNvPr id="10" name="Text 8"/>
          <p:cNvSpPr/>
          <p:nvPr/>
        </p:nvSpPr>
        <p:spPr>
          <a:xfrm>
            <a:off x="6708648"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Materials</a:t>
            </a:r>
            <a:endParaRPr lang="en-US" sz="900" dirty="0"/>
          </a:p>
        </p:txBody>
      </p:sp>
      <p:sp>
        <p:nvSpPr>
          <p:cNvPr id="11" name="Text 9"/>
          <p:cNvSpPr/>
          <p:nvPr/>
        </p:nvSpPr>
        <p:spPr>
          <a:xfrm>
            <a:off x="7936992"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PPE</a:t>
            </a:r>
            <a:endParaRPr lang="en-US" sz="900" dirty="0"/>
          </a:p>
        </p:txBody>
      </p:sp>
      <p:sp>
        <p:nvSpPr>
          <p:cNvPr id="12" name="Text 10"/>
          <p:cNvSpPr/>
          <p:nvPr/>
        </p:nvSpPr>
        <p:spPr>
          <a:xfrm>
            <a:off x="9165336" y="1408176"/>
            <a:ext cx="1228344" cy="329184"/>
          </a:xfrm>
          <a:prstGeom prst="rect">
            <a:avLst/>
          </a:prstGeom>
          <a:noFill/>
          <a:ln/>
        </p:spPr>
        <p:txBody>
          <a:bodyPr wrap="square" lIns="0" tIns="0" rIns="0" bIns="0" rtlCol="0" anchor="ctr"/>
          <a:lstStyle/>
          <a:p>
            <a:pPr algn="ctr" indent="0" marL="0">
              <a:buNone/>
            </a:pPr>
            <a:r>
              <a:rPr lang="en-US" sz="900" dirty="0">
                <a:solidFill>
                  <a:srgbClr val="9AA4AF"/>
                </a:solidFill>
                <a:latin typeface="Calibri" pitchFamily="34" charset="0"/>
                <a:ea typeface="Calibri" pitchFamily="34" charset="-122"/>
                <a:cs typeface="Calibri" pitchFamily="34" charset="-120"/>
              </a:rPr>
              <a:t>Misc.</a:t>
            </a:r>
            <a:endParaRPr lang="en-US" sz="900" dirty="0"/>
          </a:p>
        </p:txBody>
      </p:sp>
      <p:sp>
        <p:nvSpPr>
          <p:cNvPr id="13" name="Shape 11"/>
          <p:cNvSpPr/>
          <p:nvPr/>
        </p:nvSpPr>
        <p:spPr>
          <a:xfrm>
            <a:off x="10421112" y="1408176"/>
            <a:ext cx="1173480" cy="329184"/>
          </a:xfrm>
          <a:prstGeom prst="roundRect">
            <a:avLst>
              <a:gd name="adj" fmla="val 13889"/>
            </a:avLst>
          </a:prstGeom>
          <a:solidFill>
            <a:srgbClr val="F0A429"/>
          </a:solidFill>
          <a:ln w="12700">
            <a:solidFill>
              <a:srgbClr val="F0A429"/>
            </a:solidFill>
            <a:prstDash val="solid"/>
          </a:ln>
        </p:spPr>
      </p:sp>
      <p:sp>
        <p:nvSpPr>
          <p:cNvPr id="14" name="Text 12"/>
          <p:cNvSpPr/>
          <p:nvPr/>
        </p:nvSpPr>
        <p:spPr>
          <a:xfrm>
            <a:off x="10393680" y="1408176"/>
            <a:ext cx="1228344" cy="329184"/>
          </a:xfrm>
          <a:prstGeom prst="rect">
            <a:avLst/>
          </a:prstGeom>
          <a:noFill/>
          <a:ln/>
        </p:spPr>
        <p:txBody>
          <a:bodyPr wrap="square" lIns="0" tIns="0" rIns="0" bIns="0" rtlCol="0" anchor="ctr"/>
          <a:lstStyle/>
          <a:p>
            <a:pPr algn="ctr" indent="0" marL="0">
              <a:buNone/>
            </a:pPr>
            <a:r>
              <a:rPr lang="en-US" sz="900" b="1" dirty="0">
                <a:solidFill>
                  <a:srgbClr val="000000"/>
                </a:solidFill>
                <a:latin typeface="Calibri" pitchFamily="34" charset="0"/>
                <a:ea typeface="Calibri" pitchFamily="34" charset="-122"/>
                <a:cs typeface="Calibri" pitchFamily="34" charset="-120"/>
              </a:rPr>
              <a:t>Summary</a:t>
            </a:r>
            <a:endParaRPr lang="en-US" sz="900" dirty="0"/>
          </a:p>
        </p:txBody>
      </p:sp>
      <p:sp>
        <p:nvSpPr>
          <p:cNvPr id="15" name="Text 13"/>
          <p:cNvSpPr/>
          <p:nvPr/>
        </p:nvSpPr>
        <p:spPr>
          <a:xfrm>
            <a:off x="566928" y="2048256"/>
            <a:ext cx="3945699"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SECTION</a:t>
            </a:r>
            <a:endParaRPr lang="en-US" sz="850" dirty="0"/>
          </a:p>
        </p:txBody>
      </p:sp>
      <p:sp>
        <p:nvSpPr>
          <p:cNvPr id="16" name="Text 14"/>
          <p:cNvSpPr/>
          <p:nvPr/>
        </p:nvSpPr>
        <p:spPr>
          <a:xfrm>
            <a:off x="4512627" y="2048256"/>
            <a:ext cx="1784959"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AMOUNT</a:t>
            </a:r>
            <a:endParaRPr lang="en-US" sz="850" dirty="0"/>
          </a:p>
        </p:txBody>
      </p:sp>
      <p:sp>
        <p:nvSpPr>
          <p:cNvPr id="17" name="Text 15"/>
          <p:cNvSpPr/>
          <p:nvPr/>
        </p:nvSpPr>
        <p:spPr>
          <a:xfrm>
            <a:off x="6297586" y="2048256"/>
            <a:ext cx="1127342"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SHARE</a:t>
            </a:r>
            <a:endParaRPr lang="en-US" sz="850" dirty="0"/>
          </a:p>
        </p:txBody>
      </p:sp>
      <p:sp>
        <p:nvSpPr>
          <p:cNvPr id="18" name="Shape 16"/>
          <p:cNvSpPr/>
          <p:nvPr/>
        </p:nvSpPr>
        <p:spPr>
          <a:xfrm>
            <a:off x="566928" y="2322576"/>
            <a:ext cx="6858000" cy="310896"/>
          </a:xfrm>
          <a:prstGeom prst="rect">
            <a:avLst/>
          </a:prstGeom>
          <a:solidFill>
            <a:srgbClr val="1C2128"/>
          </a:solidFill>
          <a:ln w="6350">
            <a:solidFill>
              <a:srgbClr val="30363D"/>
            </a:solidFill>
            <a:prstDash val="solid"/>
          </a:ln>
        </p:spPr>
      </p:sp>
      <p:sp>
        <p:nvSpPr>
          <p:cNvPr id="19" name="Text 17"/>
          <p:cNvSpPr/>
          <p:nvPr/>
        </p:nvSpPr>
        <p:spPr>
          <a:xfrm>
            <a:off x="621792" y="2322576"/>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Manpower</a:t>
            </a:r>
            <a:endParaRPr lang="en-US" sz="1050" dirty="0"/>
          </a:p>
        </p:txBody>
      </p:sp>
      <p:sp>
        <p:nvSpPr>
          <p:cNvPr id="20" name="Text 18"/>
          <p:cNvSpPr/>
          <p:nvPr/>
        </p:nvSpPr>
        <p:spPr>
          <a:xfrm>
            <a:off x="4567491" y="2322576"/>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₱38,217.00</a:t>
            </a:r>
            <a:endParaRPr lang="en-US" sz="1050" dirty="0"/>
          </a:p>
        </p:txBody>
      </p:sp>
      <p:sp>
        <p:nvSpPr>
          <p:cNvPr id="21" name="Text 19"/>
          <p:cNvSpPr/>
          <p:nvPr/>
        </p:nvSpPr>
        <p:spPr>
          <a:xfrm>
            <a:off x="6352450" y="2322576"/>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72.6%</a:t>
            </a:r>
            <a:endParaRPr lang="en-US" sz="1050" dirty="0"/>
          </a:p>
        </p:txBody>
      </p:sp>
      <p:sp>
        <p:nvSpPr>
          <p:cNvPr id="22" name="Shape 20"/>
          <p:cNvSpPr/>
          <p:nvPr/>
        </p:nvSpPr>
        <p:spPr>
          <a:xfrm>
            <a:off x="566928" y="2633472"/>
            <a:ext cx="6858000" cy="310896"/>
          </a:xfrm>
          <a:prstGeom prst="rect">
            <a:avLst/>
          </a:prstGeom>
          <a:solidFill>
            <a:srgbClr val="161B22"/>
          </a:solidFill>
          <a:ln w="6350">
            <a:solidFill>
              <a:srgbClr val="30363D"/>
            </a:solidFill>
            <a:prstDash val="solid"/>
          </a:ln>
        </p:spPr>
      </p:sp>
      <p:sp>
        <p:nvSpPr>
          <p:cNvPr id="23" name="Text 21"/>
          <p:cNvSpPr/>
          <p:nvPr/>
        </p:nvSpPr>
        <p:spPr>
          <a:xfrm>
            <a:off x="621792" y="2633472"/>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Tools &amp; Equipment</a:t>
            </a:r>
            <a:endParaRPr lang="en-US" sz="1050" dirty="0"/>
          </a:p>
        </p:txBody>
      </p:sp>
      <p:sp>
        <p:nvSpPr>
          <p:cNvPr id="24" name="Text 22"/>
          <p:cNvSpPr/>
          <p:nvPr/>
        </p:nvSpPr>
        <p:spPr>
          <a:xfrm>
            <a:off x="4567491" y="2633472"/>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₱8,400.00</a:t>
            </a:r>
            <a:endParaRPr lang="en-US" sz="1050" dirty="0"/>
          </a:p>
        </p:txBody>
      </p:sp>
      <p:sp>
        <p:nvSpPr>
          <p:cNvPr id="25" name="Text 23"/>
          <p:cNvSpPr/>
          <p:nvPr/>
        </p:nvSpPr>
        <p:spPr>
          <a:xfrm>
            <a:off x="6352450" y="2633472"/>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16.0%</a:t>
            </a:r>
            <a:endParaRPr lang="en-US" sz="1050" dirty="0"/>
          </a:p>
        </p:txBody>
      </p:sp>
      <p:sp>
        <p:nvSpPr>
          <p:cNvPr id="26" name="Shape 24"/>
          <p:cNvSpPr/>
          <p:nvPr/>
        </p:nvSpPr>
        <p:spPr>
          <a:xfrm>
            <a:off x="566928" y="2944368"/>
            <a:ext cx="6858000" cy="310896"/>
          </a:xfrm>
          <a:prstGeom prst="rect">
            <a:avLst/>
          </a:prstGeom>
          <a:solidFill>
            <a:srgbClr val="1C2128"/>
          </a:solidFill>
          <a:ln w="6350">
            <a:solidFill>
              <a:srgbClr val="30363D"/>
            </a:solidFill>
            <a:prstDash val="solid"/>
          </a:ln>
        </p:spPr>
      </p:sp>
      <p:sp>
        <p:nvSpPr>
          <p:cNvPr id="27" name="Text 25"/>
          <p:cNvSpPr/>
          <p:nvPr/>
        </p:nvSpPr>
        <p:spPr>
          <a:xfrm>
            <a:off x="621792" y="2944368"/>
            <a:ext cx="3835971" cy="310896"/>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Materials · PPE · Misc.</a:t>
            </a:r>
            <a:endParaRPr lang="en-US" sz="1050" dirty="0"/>
          </a:p>
        </p:txBody>
      </p:sp>
      <p:sp>
        <p:nvSpPr>
          <p:cNvPr id="28" name="Text 26"/>
          <p:cNvSpPr/>
          <p:nvPr/>
        </p:nvSpPr>
        <p:spPr>
          <a:xfrm>
            <a:off x="4567491" y="2944368"/>
            <a:ext cx="1675231"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₱6,000.00</a:t>
            </a:r>
            <a:endParaRPr lang="en-US" sz="1050" dirty="0"/>
          </a:p>
        </p:txBody>
      </p:sp>
      <p:sp>
        <p:nvSpPr>
          <p:cNvPr id="29" name="Text 27"/>
          <p:cNvSpPr/>
          <p:nvPr/>
        </p:nvSpPr>
        <p:spPr>
          <a:xfrm>
            <a:off x="6352450" y="2944368"/>
            <a:ext cx="1017614" cy="310896"/>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11.4%</a:t>
            </a:r>
            <a:endParaRPr lang="en-US" sz="1050" dirty="0"/>
          </a:p>
        </p:txBody>
      </p:sp>
      <p:sp>
        <p:nvSpPr>
          <p:cNvPr id="30" name="Shape 28"/>
          <p:cNvSpPr/>
          <p:nvPr/>
        </p:nvSpPr>
        <p:spPr>
          <a:xfrm>
            <a:off x="566928" y="3255264"/>
            <a:ext cx="6858000" cy="310896"/>
          </a:xfrm>
          <a:prstGeom prst="rect">
            <a:avLst/>
          </a:prstGeom>
          <a:solidFill>
            <a:srgbClr val="161B22"/>
          </a:solidFill>
          <a:ln w="6350">
            <a:solidFill>
              <a:srgbClr val="30363D"/>
            </a:solidFill>
            <a:prstDash val="solid"/>
          </a:ln>
        </p:spPr>
      </p:sp>
      <p:sp>
        <p:nvSpPr>
          <p:cNvPr id="31" name="Text 29"/>
          <p:cNvSpPr/>
          <p:nvPr/>
        </p:nvSpPr>
        <p:spPr>
          <a:xfrm>
            <a:off x="621792" y="3255264"/>
            <a:ext cx="3835971" cy="310896"/>
          </a:xfrm>
          <a:prstGeom prst="rect">
            <a:avLst/>
          </a:prstGeom>
          <a:noFill/>
          <a:ln/>
        </p:spPr>
        <p:txBody>
          <a:bodyPr wrap="square" lIns="0" tIns="0" rIns="0" bIns="0" rtlCol="0" anchor="ctr"/>
          <a:lstStyle/>
          <a:p>
            <a:pPr algn="l" indent="0" marL="0">
              <a:buNone/>
            </a:pPr>
            <a:r>
              <a:rPr lang="en-US" sz="1050" b="1" dirty="0">
                <a:solidFill>
                  <a:srgbClr val="E6EDF3"/>
                </a:solidFill>
                <a:latin typeface="Calibri" pitchFamily="34" charset="0"/>
                <a:ea typeface="Calibri" pitchFamily="34" charset="-122"/>
                <a:cs typeface="Calibri" pitchFamily="34" charset="-120"/>
              </a:rPr>
              <a:t>TOTAL AMOUNT</a:t>
            </a:r>
            <a:endParaRPr lang="en-US" sz="1050" dirty="0"/>
          </a:p>
        </p:txBody>
      </p:sp>
      <p:sp>
        <p:nvSpPr>
          <p:cNvPr id="32" name="Text 30"/>
          <p:cNvSpPr/>
          <p:nvPr/>
        </p:nvSpPr>
        <p:spPr>
          <a:xfrm>
            <a:off x="4567491" y="3255264"/>
            <a:ext cx="1675231"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₱52,617.00</a:t>
            </a:r>
            <a:endParaRPr lang="en-US" sz="1050" dirty="0"/>
          </a:p>
        </p:txBody>
      </p:sp>
      <p:sp>
        <p:nvSpPr>
          <p:cNvPr id="33" name="Text 31"/>
          <p:cNvSpPr/>
          <p:nvPr/>
        </p:nvSpPr>
        <p:spPr>
          <a:xfrm>
            <a:off x="6352450" y="3255264"/>
            <a:ext cx="1017614" cy="310896"/>
          </a:xfrm>
          <a:prstGeom prst="rect">
            <a:avLst/>
          </a:prstGeom>
          <a:noFill/>
          <a:ln/>
        </p:spPr>
        <p:txBody>
          <a:bodyPr wrap="square" lIns="0" tIns="0" rIns="0" bIns="0" rtlCol="0" anchor="ctr"/>
          <a:lstStyle/>
          <a:p>
            <a:pPr algn="r" indent="0" marL="0">
              <a:buNone/>
            </a:pPr>
            <a:r>
              <a:rPr lang="en-US" sz="1050" b="1" dirty="0">
                <a:solidFill>
                  <a:srgbClr val="E6EDF3"/>
                </a:solidFill>
                <a:latin typeface="Calibri" pitchFamily="34" charset="0"/>
                <a:ea typeface="Calibri" pitchFamily="34" charset="-122"/>
                <a:cs typeface="Calibri" pitchFamily="34" charset="-120"/>
              </a:rPr>
              <a:t>100%</a:t>
            </a:r>
            <a:endParaRPr lang="en-US" sz="1050" dirty="0"/>
          </a:p>
        </p:txBody>
      </p:sp>
      <p:sp>
        <p:nvSpPr>
          <p:cNvPr id="34" name="Shape 32"/>
          <p:cNvSpPr/>
          <p:nvPr/>
        </p:nvSpPr>
        <p:spPr>
          <a:xfrm>
            <a:off x="566928" y="3566160"/>
            <a:ext cx="6858000" cy="310896"/>
          </a:xfrm>
          <a:prstGeom prst="rect">
            <a:avLst/>
          </a:prstGeom>
          <a:solidFill>
            <a:srgbClr val="1C2128"/>
          </a:solidFill>
          <a:ln w="6350">
            <a:solidFill>
              <a:srgbClr val="30363D"/>
            </a:solidFill>
            <a:prstDash val="solid"/>
          </a:ln>
        </p:spPr>
      </p:sp>
      <p:sp>
        <p:nvSpPr>
          <p:cNvPr id="35" name="Text 33"/>
          <p:cNvSpPr/>
          <p:nvPr/>
        </p:nvSpPr>
        <p:spPr>
          <a:xfrm>
            <a:off x="621792" y="3566160"/>
            <a:ext cx="3835971" cy="310896"/>
          </a:xfrm>
          <a:prstGeom prst="rect">
            <a:avLst/>
          </a:prstGeom>
          <a:noFill/>
          <a:ln/>
        </p:spPr>
        <p:txBody>
          <a:bodyPr wrap="square" lIns="0" tIns="0" rIns="0" bIns="0" rtlCol="0" anchor="ctr"/>
          <a:lstStyle/>
          <a:p>
            <a:pPr algn="l" indent="0" marL="0">
              <a:buNone/>
            </a:pPr>
            <a:r>
              <a:rPr lang="en-US" sz="1050" b="1" dirty="0">
                <a:solidFill>
                  <a:srgbClr val="3FB950"/>
                </a:solidFill>
                <a:latin typeface="Calibri" pitchFamily="34" charset="0"/>
                <a:ea typeface="Calibri" pitchFamily="34" charset="-122"/>
                <a:cs typeface="Calibri" pitchFamily="34" charset="-120"/>
              </a:rPr>
              <a:t>SELLING PRICE  (+15% margin)</a:t>
            </a:r>
            <a:endParaRPr lang="en-US" sz="1050" dirty="0"/>
          </a:p>
        </p:txBody>
      </p:sp>
      <p:sp>
        <p:nvSpPr>
          <p:cNvPr id="36" name="Text 34"/>
          <p:cNvSpPr/>
          <p:nvPr/>
        </p:nvSpPr>
        <p:spPr>
          <a:xfrm>
            <a:off x="4567491" y="3566160"/>
            <a:ext cx="1675231" cy="310896"/>
          </a:xfrm>
          <a:prstGeom prst="rect">
            <a:avLst/>
          </a:prstGeom>
          <a:noFill/>
          <a:ln/>
        </p:spPr>
        <p:txBody>
          <a:bodyPr wrap="square" lIns="0" tIns="0" rIns="0" bIns="0" rtlCol="0" anchor="ctr"/>
          <a:lstStyle/>
          <a:p>
            <a:pPr algn="r" indent="0" marL="0">
              <a:buNone/>
            </a:pPr>
            <a:r>
              <a:rPr lang="en-US" sz="1050" b="1" dirty="0">
                <a:solidFill>
                  <a:srgbClr val="3FB950"/>
                </a:solidFill>
                <a:latin typeface="Calibri" pitchFamily="34" charset="0"/>
                <a:ea typeface="Calibri" pitchFamily="34" charset="-122"/>
                <a:cs typeface="Calibri" pitchFamily="34" charset="-120"/>
              </a:rPr>
              <a:t>₱60,509.55</a:t>
            </a:r>
            <a:endParaRPr lang="en-US" sz="1050" dirty="0"/>
          </a:p>
        </p:txBody>
      </p:sp>
      <p:sp>
        <p:nvSpPr>
          <p:cNvPr id="37" name="Text 35"/>
          <p:cNvSpPr/>
          <p:nvPr/>
        </p:nvSpPr>
        <p:spPr>
          <a:xfrm>
            <a:off x="6352450" y="3566160"/>
            <a:ext cx="1017614" cy="310896"/>
          </a:xfrm>
          <a:prstGeom prst="rect">
            <a:avLst/>
          </a:prstGeom>
          <a:noFill/>
          <a:ln/>
        </p:spPr>
        <p:txBody>
          <a:bodyPr wrap="square" lIns="0" tIns="0" rIns="0" bIns="0" rtlCol="0" anchor="ctr"/>
          <a:lstStyle/>
          <a:p>
            <a:pPr algn="r" indent="0" marL="0">
              <a:buNone/>
            </a:pPr>
            <a:endParaRPr lang="en-US" sz="1050" dirty="0"/>
          </a:p>
        </p:txBody>
      </p:sp>
      <p:sp>
        <p:nvSpPr>
          <p:cNvPr id="38" name="Shape 36"/>
          <p:cNvSpPr/>
          <p:nvPr/>
        </p:nvSpPr>
        <p:spPr>
          <a:xfrm>
            <a:off x="7635240" y="20482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9" name="Text 37"/>
          <p:cNvSpPr/>
          <p:nvPr/>
        </p:nvSpPr>
        <p:spPr>
          <a:xfrm>
            <a:off x="7863840" y="2176272"/>
            <a:ext cx="3566160" cy="274320"/>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Margin %</a:t>
            </a:r>
            <a:endParaRPr lang="en-US" sz="1350" dirty="0"/>
          </a:p>
        </p:txBody>
      </p:sp>
      <p:sp>
        <p:nvSpPr>
          <p:cNvPr id="40" name="Text 38"/>
          <p:cNvSpPr/>
          <p:nvPr/>
        </p:nvSpPr>
        <p:spPr>
          <a:xfrm>
            <a:off x="7863840" y="24871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Sets the selling price. Leave it at 0 and the CE prints at cost — Check CE will warn you.</a:t>
            </a:r>
            <a:endParaRPr lang="en-US" sz="1100" dirty="0"/>
          </a:p>
        </p:txBody>
      </p:sp>
      <p:sp>
        <p:nvSpPr>
          <p:cNvPr id="41" name="Shape 39"/>
          <p:cNvSpPr/>
          <p:nvPr/>
        </p:nvSpPr>
        <p:spPr>
          <a:xfrm>
            <a:off x="7635240" y="34198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2" name="Text 40"/>
          <p:cNvSpPr/>
          <p:nvPr/>
        </p:nvSpPr>
        <p:spPr>
          <a:xfrm>
            <a:off x="7863840" y="3547872"/>
            <a:ext cx="3566160" cy="274320"/>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Notes / Remarks</a:t>
            </a:r>
            <a:endParaRPr lang="en-US" sz="1350" dirty="0"/>
          </a:p>
        </p:txBody>
      </p:sp>
      <p:sp>
        <p:nvSpPr>
          <p:cNvPr id="43" name="Text 41"/>
          <p:cNvSpPr/>
          <p:nvPr/>
        </p:nvSpPr>
        <p:spPr>
          <a:xfrm>
            <a:off x="7863840" y="38587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Assumptions, exclusions, validity. Printed as a numbered NOTE list. Breakdown notes from SOW Breakdown join them automatically.</a:t>
            </a:r>
            <a:endParaRPr lang="en-US" sz="1100" dirty="0"/>
          </a:p>
        </p:txBody>
      </p:sp>
      <p:sp>
        <p:nvSpPr>
          <p:cNvPr id="44" name="Shape 42"/>
          <p:cNvSpPr/>
          <p:nvPr/>
        </p:nvSpPr>
        <p:spPr>
          <a:xfrm>
            <a:off x="7635240" y="4791456"/>
            <a:ext cx="3977640" cy="1243584"/>
          </a:xfrm>
          <a:prstGeom prst="roundRect">
            <a:avLst>
              <a:gd name="adj" fmla="val 588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5" name="Text 43"/>
          <p:cNvSpPr/>
          <p:nvPr/>
        </p:nvSpPr>
        <p:spPr>
          <a:xfrm>
            <a:off x="7863840" y="4919472"/>
            <a:ext cx="3566160" cy="274320"/>
          </a:xfrm>
          <a:prstGeom prst="rect">
            <a:avLst/>
          </a:prstGeom>
          <a:noFill/>
          <a:ln/>
        </p:spPr>
        <p:txBody>
          <a:bodyPr wrap="square" lIns="0" tIns="0" rIns="0" bIns="0" rtlCol="0" anchor="ctr"/>
          <a:lstStyle/>
          <a:p>
            <a:pPr indent="0" marL="0">
              <a:buNone/>
            </a:pPr>
            <a:r>
              <a:rPr lang="en-US" sz="1350" b="1" dirty="0">
                <a:solidFill>
                  <a:srgbClr val="A78BFA"/>
                </a:solidFill>
                <a:latin typeface="Arial" pitchFamily="34" charset="0"/>
                <a:ea typeface="Arial" pitchFamily="34" charset="-122"/>
                <a:cs typeface="Arial" pitchFamily="34" charset="-120"/>
              </a:rPr>
              <a:t>Signatories</a:t>
            </a:r>
            <a:endParaRPr lang="en-US" sz="1350" dirty="0"/>
          </a:p>
        </p:txBody>
      </p:sp>
      <p:sp>
        <p:nvSpPr>
          <p:cNvPr id="46" name="Text 44"/>
          <p:cNvSpPr/>
          <p:nvPr/>
        </p:nvSpPr>
        <p:spPr>
          <a:xfrm>
            <a:off x="7863840" y="5230368"/>
            <a:ext cx="3566160" cy="73152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Prepared by, checked by, approved by. Sign on screen or leave blank to sign on paper.</a:t>
            </a:r>
            <a:endParaRPr lang="en-US" sz="1100" dirty="0"/>
          </a:p>
        </p:txBody>
      </p:sp>
      <p:sp>
        <p:nvSpPr>
          <p:cNvPr id="47" name="Text 45"/>
          <p:cNvSpPr/>
          <p:nvPr/>
        </p:nvSpPr>
        <p:spPr>
          <a:xfrm>
            <a:off x="566928" y="4059936"/>
            <a:ext cx="6858000" cy="292608"/>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Unit price = total ÷ the Quantity you set on Project Info.</a:t>
            </a:r>
            <a:endParaRPr lang="en-US" sz="1150" dirty="0"/>
          </a:p>
        </p:txBody>
      </p:sp>
      <p:sp>
        <p:nvSpPr>
          <p:cNvPr id="48" name="Shape 46"/>
          <p:cNvSpPr/>
          <p:nvPr/>
        </p:nvSpPr>
        <p:spPr>
          <a:xfrm>
            <a:off x="566928" y="4443984"/>
            <a:ext cx="6858000" cy="1591056"/>
          </a:xfrm>
          <a:prstGeom prst="roundRect">
            <a:avLst>
              <a:gd name="adj" fmla="val 4598"/>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9" name="Text 47"/>
          <p:cNvSpPr/>
          <p:nvPr/>
        </p:nvSpPr>
        <p:spPr>
          <a:xfrm>
            <a:off x="822960" y="4608576"/>
            <a:ext cx="630936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Also on this tab</a:t>
            </a:r>
            <a:endParaRPr lang="en-US" sz="1400" dirty="0"/>
          </a:p>
        </p:txBody>
      </p:sp>
      <p:sp>
        <p:nvSpPr>
          <p:cNvPr id="50" name="Text 48"/>
          <p:cNvSpPr/>
          <p:nvPr/>
        </p:nvSpPr>
        <p:spPr>
          <a:xfrm>
            <a:off x="822960" y="4919472"/>
            <a:ext cx="6309360" cy="1005840"/>
          </a:xfrm>
          <a:prstGeom prst="rect">
            <a:avLst/>
          </a:prstGeom>
          <a:noFill/>
          <a:ln/>
        </p:spPr>
        <p:txBody>
          <a:bodyPr wrap="square" lIns="0" tIns="0" rIns="0" bIns="0" rtlCol="0" anchor="ctr"/>
          <a:lstStyle/>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Additional costs — one-off charges added on top of the sections above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Highlighted costs — pull a figure out to show it separately on the printed CE</a:t>
            </a:r>
            <a:endParaRPr lang="en-US" sz="1150" dirty="0"/>
          </a:p>
          <a:p>
            <a:pPr marL="342900" indent="-342900">
              <a:lnSpc>
                <a:spcPts val="1450"/>
              </a:lnSpc>
              <a:spcAft>
                <a:spcPts val="400"/>
              </a:spcAft>
              <a:buSzPct val="100000"/>
              <a:buChar char="●"/>
            </a:pPr>
            <a:r>
              <a:rPr lang="en-US" sz="1150" dirty="0">
                <a:solidFill>
                  <a:srgbClr val="9AA4AF"/>
                </a:solidFill>
                <a:latin typeface="Calibri" pitchFamily="34" charset="0"/>
                <a:ea typeface="Calibri" pitchFamily="34" charset="-122"/>
                <a:cs typeface="Calibri" pitchFamily="34" charset="-120"/>
              </a:rPr>
              <a:t>Mobilisation and demobilisation vehicles, for on-site jobs</a:t>
            </a:r>
            <a:endParaRPr lang="en-US" sz="1150" dirty="0"/>
          </a:p>
        </p:txBody>
      </p:sp>
      <p:sp>
        <p:nvSpPr>
          <p:cNvPr id="51" name="Text 4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52" name="Text 5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QUALITY GATE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Check CE before you save</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panel on the right of the Summary tab lists everything worth a second look. Click Go → on any line to jump straight to it.</a:t>
            </a:r>
            <a:endParaRPr lang="en-US" sz="1400" dirty="0"/>
          </a:p>
        </p:txBody>
      </p:sp>
      <p:sp>
        <p:nvSpPr>
          <p:cNvPr id="5" name="Shape 3"/>
          <p:cNvSpPr/>
          <p:nvPr/>
        </p:nvSpPr>
        <p:spPr>
          <a:xfrm>
            <a:off x="566928" y="1911096"/>
            <a:ext cx="5532120" cy="2148840"/>
          </a:xfrm>
          <a:prstGeom prst="roundRect">
            <a:avLst>
              <a:gd name="adj" fmla="val 3404"/>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093976"/>
            <a:ext cx="2743200" cy="292608"/>
          </a:xfrm>
          <a:prstGeom prst="rect">
            <a:avLst/>
          </a:prstGeom>
          <a:noFill/>
          <a:ln/>
        </p:spPr>
        <p:txBody>
          <a:bodyPr wrap="square" lIns="0" tIns="0" rIns="0" bIns="0" rtlCol="0" anchor="ctr"/>
          <a:lstStyle/>
          <a:p>
            <a:pPr indent="0" marL="0">
              <a:buNone/>
            </a:pPr>
            <a:r>
              <a:rPr lang="en-US" sz="1500" b="1" dirty="0">
                <a:solidFill>
                  <a:srgbClr val="F85149"/>
                </a:solidFill>
                <a:latin typeface="Arial" pitchFamily="34" charset="0"/>
                <a:ea typeface="Arial" pitchFamily="34" charset="-122"/>
                <a:cs typeface="Arial" pitchFamily="34" charset="-120"/>
              </a:rPr>
              <a:t>To fix</a:t>
            </a:r>
            <a:endParaRPr lang="en-US" sz="1500" dirty="0"/>
          </a:p>
        </p:txBody>
      </p:sp>
      <p:sp>
        <p:nvSpPr>
          <p:cNvPr id="7" name="Text 5"/>
          <p:cNvSpPr/>
          <p:nvPr/>
        </p:nvSpPr>
        <p:spPr>
          <a:xfrm>
            <a:off x="841248" y="2487168"/>
            <a:ext cx="5029200" cy="146304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Grand total is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line item priced at ₱0.00</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client name or project description</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A highlighted cost pointing at something deleted</a:t>
            </a:r>
            <a:endParaRPr lang="en-US" sz="1200" dirty="0"/>
          </a:p>
        </p:txBody>
      </p:sp>
      <p:sp>
        <p:nvSpPr>
          <p:cNvPr id="8" name="Shape 6"/>
          <p:cNvSpPr/>
          <p:nvPr/>
        </p:nvSpPr>
        <p:spPr>
          <a:xfrm>
            <a:off x="6400800" y="1911096"/>
            <a:ext cx="5221224" cy="2148840"/>
          </a:xfrm>
          <a:prstGeom prst="roundRect">
            <a:avLst>
              <a:gd name="adj" fmla="val 3404"/>
            </a:avLst>
          </a:prstGeom>
          <a:solidFill>
            <a:srgbClr val="2A1F0B"/>
          </a:solidFill>
          <a:ln w="12700">
            <a:solidFill>
              <a:srgbClr val="5C4813"/>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093976"/>
            <a:ext cx="2743200" cy="292608"/>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To review</a:t>
            </a:r>
            <a:endParaRPr lang="en-US" sz="1500" dirty="0"/>
          </a:p>
        </p:txBody>
      </p:sp>
      <p:sp>
        <p:nvSpPr>
          <p:cNvPr id="10" name="Text 8"/>
          <p:cNvSpPr/>
          <p:nvPr/>
        </p:nvSpPr>
        <p:spPr>
          <a:xfrm>
            <a:off x="6675120" y="2487168"/>
            <a:ext cx="4709160" cy="1463040"/>
          </a:xfrm>
          <a:prstGeom prst="rect">
            <a:avLst/>
          </a:prstGeom>
          <a:noFill/>
          <a:ln/>
        </p:spPr>
        <p:txBody>
          <a:bodyPr wrap="square" lIns="0" tIns="0" rIns="0" bIns="0" rtlCol="0" anchor="ctr"/>
          <a:lstStyle/>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Margin is 0% — selling price equals cost</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Quantity is blank, so unit price falls back to 1</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Resource rows not assigned to a scope task</a:t>
            </a:r>
            <a:endParaRPr lang="en-US" sz="1200" dirty="0"/>
          </a:p>
          <a:p>
            <a:pPr marL="342900" indent="-342900">
              <a:lnSpc>
                <a:spcPts val="1600"/>
              </a:lnSpc>
              <a:spcAft>
                <a:spcPts val="700"/>
              </a:spcAft>
              <a:buSzPct val="100000"/>
              <a:buChar char="●"/>
            </a:pPr>
            <a:r>
              <a:rPr lang="en-US" sz="1200" dirty="0">
                <a:solidFill>
                  <a:srgbClr val="E6EDF3"/>
                </a:solidFill>
                <a:latin typeface="Calibri" pitchFamily="34" charset="0"/>
                <a:ea typeface="Calibri" pitchFamily="34" charset="-122"/>
                <a:cs typeface="Calibri" pitchFamily="34" charset="-120"/>
              </a:rPr>
              <a:t>No Scope of Work items</a:t>
            </a:r>
            <a:endParaRPr lang="en-US" sz="1200" dirty="0"/>
          </a:p>
        </p:txBody>
      </p:sp>
      <p:sp>
        <p:nvSpPr>
          <p:cNvPr id="11" name="Shape 9"/>
          <p:cNvSpPr/>
          <p:nvPr/>
        </p:nvSpPr>
        <p:spPr>
          <a:xfrm>
            <a:off x="566928" y="4242816"/>
            <a:ext cx="11055096" cy="1234440"/>
          </a:xfrm>
          <a:prstGeom prst="roundRect">
            <a:avLst>
              <a:gd name="adj" fmla="val 592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2" name="Text 10"/>
          <p:cNvSpPr/>
          <p:nvPr/>
        </p:nvSpPr>
        <p:spPr>
          <a:xfrm>
            <a:off x="841248" y="4407408"/>
            <a:ext cx="54864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The app blocks a save only for these</a:t>
            </a:r>
            <a:endParaRPr lang="en-US" sz="1350" dirty="0"/>
          </a:p>
        </p:txBody>
      </p:sp>
      <p:sp>
        <p:nvSpPr>
          <p:cNvPr id="13" name="Text 11"/>
          <p:cNvSpPr/>
          <p:nvPr/>
        </p:nvSpPr>
        <p:spPr>
          <a:xfrm>
            <a:off x="841248" y="4718304"/>
            <a:ext cx="10515600" cy="56692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A missing CE Number, a missing Client name, a CE Number already used by another estimate, or a negative cost. Everything else on Check CE is advice — you can save past it, but read it first.</a:t>
            </a:r>
            <a:endParaRPr lang="en-US" sz="1150" dirty="0"/>
          </a:p>
        </p:txBody>
      </p:sp>
      <p:sp>
        <p:nvSpPr>
          <p:cNvPr id="14" name="Text 12"/>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5" name="Text 13"/>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KEEPING YOUR WORK</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Save, draft, revise, clone</a:t>
            </a:r>
            <a:endParaRPr lang="en-US" sz="3200" dirty="0"/>
          </a:p>
        </p:txBody>
      </p:sp>
      <p:sp>
        <p:nvSpPr>
          <p:cNvPr id="4" name="Shape 2"/>
          <p:cNvSpPr/>
          <p:nvPr/>
        </p:nvSpPr>
        <p:spPr>
          <a:xfrm>
            <a:off x="566928" y="1408176"/>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749808" y="1554480"/>
            <a:ext cx="1234440" cy="438912"/>
          </a:xfrm>
          <a:prstGeom prst="roundRect">
            <a:avLst>
              <a:gd name="adj" fmla="val 12500"/>
            </a:avLst>
          </a:prstGeom>
          <a:solidFill>
            <a:srgbClr val="F0A429"/>
          </a:solidFill>
          <a:ln w="12700">
            <a:solidFill>
              <a:srgbClr val="F0A429"/>
            </a:solidFill>
            <a:prstDash val="solid"/>
          </a:ln>
        </p:spPr>
      </p:sp>
      <p:sp>
        <p:nvSpPr>
          <p:cNvPr id="6" name="Text 4"/>
          <p:cNvSpPr/>
          <p:nvPr/>
        </p:nvSpPr>
        <p:spPr>
          <a:xfrm>
            <a:off x="749808" y="1554480"/>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Save</a:t>
            </a:r>
            <a:endParaRPr lang="en-US" sz="1200" dirty="0"/>
          </a:p>
        </p:txBody>
      </p:sp>
      <p:sp>
        <p:nvSpPr>
          <p:cNvPr id="7" name="Text 5"/>
          <p:cNvSpPr/>
          <p:nvPr/>
        </p:nvSpPr>
        <p:spPr>
          <a:xfrm>
            <a:off x="2139696" y="1499616"/>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Stores the CE and shares it with the team. The CE Number must be unique.</a:t>
            </a:r>
            <a:endParaRPr lang="en-US" sz="1150" dirty="0"/>
          </a:p>
        </p:txBody>
      </p:sp>
      <p:sp>
        <p:nvSpPr>
          <p:cNvPr id="8" name="Text 6"/>
          <p:cNvSpPr/>
          <p:nvPr/>
        </p:nvSpPr>
        <p:spPr>
          <a:xfrm>
            <a:off x="6986016" y="1554480"/>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S</a:t>
            </a:r>
            <a:endParaRPr lang="en-US" sz="950" dirty="0"/>
          </a:p>
        </p:txBody>
      </p:sp>
      <p:sp>
        <p:nvSpPr>
          <p:cNvPr id="9" name="Shape 7"/>
          <p:cNvSpPr/>
          <p:nvPr/>
        </p:nvSpPr>
        <p:spPr>
          <a:xfrm>
            <a:off x="566928" y="2249424"/>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749808" y="2395728"/>
            <a:ext cx="1234440" cy="438912"/>
          </a:xfrm>
          <a:prstGeom prst="roundRect">
            <a:avLst>
              <a:gd name="adj" fmla="val 12500"/>
            </a:avLst>
          </a:prstGeom>
          <a:solidFill>
            <a:srgbClr val="58A6FF"/>
          </a:solidFill>
          <a:ln w="12700">
            <a:solidFill>
              <a:srgbClr val="58A6FF"/>
            </a:solidFill>
            <a:prstDash val="solid"/>
          </a:ln>
        </p:spPr>
      </p:sp>
      <p:sp>
        <p:nvSpPr>
          <p:cNvPr id="11" name="Text 9"/>
          <p:cNvSpPr/>
          <p:nvPr/>
        </p:nvSpPr>
        <p:spPr>
          <a:xfrm>
            <a:off x="749808" y="2395728"/>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Draft</a:t>
            </a:r>
            <a:endParaRPr lang="en-US" sz="1200" dirty="0"/>
          </a:p>
        </p:txBody>
      </p:sp>
      <p:sp>
        <p:nvSpPr>
          <p:cNvPr id="12" name="Text 10"/>
          <p:cNvSpPr/>
          <p:nvPr/>
        </p:nvSpPr>
        <p:spPr>
          <a:xfrm>
            <a:off x="2139696" y="2340864"/>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Parks unfinished work under your name. Drafts are not CEs — they do not appear in Monitoring.</a:t>
            </a:r>
            <a:endParaRPr lang="en-US" sz="1150" dirty="0"/>
          </a:p>
        </p:txBody>
      </p:sp>
      <p:sp>
        <p:nvSpPr>
          <p:cNvPr id="13" name="Shape 11"/>
          <p:cNvSpPr/>
          <p:nvPr/>
        </p:nvSpPr>
        <p:spPr>
          <a:xfrm>
            <a:off x="566928" y="3090672"/>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Shape 12"/>
          <p:cNvSpPr/>
          <p:nvPr/>
        </p:nvSpPr>
        <p:spPr>
          <a:xfrm>
            <a:off x="749808" y="3236976"/>
            <a:ext cx="1234440" cy="438912"/>
          </a:xfrm>
          <a:prstGeom prst="roundRect">
            <a:avLst>
              <a:gd name="adj" fmla="val 12500"/>
            </a:avLst>
          </a:prstGeom>
          <a:solidFill>
            <a:srgbClr val="A78BFA"/>
          </a:solidFill>
          <a:ln w="12700">
            <a:solidFill>
              <a:srgbClr val="A78BFA"/>
            </a:solidFill>
            <a:prstDash val="solid"/>
          </a:ln>
        </p:spPr>
      </p:sp>
      <p:sp>
        <p:nvSpPr>
          <p:cNvPr id="15" name="Text 13"/>
          <p:cNvSpPr/>
          <p:nvPr/>
        </p:nvSpPr>
        <p:spPr>
          <a:xfrm>
            <a:off x="749808" y="3236976"/>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Revise</a:t>
            </a:r>
            <a:endParaRPr lang="en-US" sz="1200" dirty="0"/>
          </a:p>
        </p:txBody>
      </p:sp>
      <p:sp>
        <p:nvSpPr>
          <p:cNvPr id="16" name="Text 14"/>
          <p:cNvSpPr/>
          <p:nvPr/>
        </p:nvSpPr>
        <p:spPr>
          <a:xfrm>
            <a:off x="2139696" y="3182112"/>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Creates the next revision (-R1, -R2) of the CE you have open, so the original is kept.</a:t>
            </a:r>
            <a:endParaRPr lang="en-US" sz="1150" dirty="0"/>
          </a:p>
        </p:txBody>
      </p:sp>
      <p:sp>
        <p:nvSpPr>
          <p:cNvPr id="17" name="Shape 15"/>
          <p:cNvSpPr/>
          <p:nvPr/>
        </p:nvSpPr>
        <p:spPr>
          <a:xfrm>
            <a:off x="566928" y="3931920"/>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8" name="Shape 16"/>
          <p:cNvSpPr/>
          <p:nvPr/>
        </p:nvSpPr>
        <p:spPr>
          <a:xfrm>
            <a:off x="749808" y="4078224"/>
            <a:ext cx="1234440" cy="438912"/>
          </a:xfrm>
          <a:prstGeom prst="roundRect">
            <a:avLst>
              <a:gd name="adj" fmla="val 12500"/>
            </a:avLst>
          </a:prstGeom>
          <a:solidFill>
            <a:srgbClr val="3FB950"/>
          </a:solidFill>
          <a:ln w="12700">
            <a:solidFill>
              <a:srgbClr val="3FB950"/>
            </a:solidFill>
            <a:prstDash val="solid"/>
          </a:ln>
        </p:spPr>
      </p:sp>
      <p:sp>
        <p:nvSpPr>
          <p:cNvPr id="19" name="Text 17"/>
          <p:cNvSpPr/>
          <p:nvPr/>
        </p:nvSpPr>
        <p:spPr>
          <a:xfrm>
            <a:off x="749808" y="4078224"/>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Clone</a:t>
            </a:r>
            <a:endParaRPr lang="en-US" sz="1200" dirty="0"/>
          </a:p>
        </p:txBody>
      </p:sp>
      <p:sp>
        <p:nvSpPr>
          <p:cNvPr id="20" name="Text 18"/>
          <p:cNvSpPr/>
          <p:nvPr/>
        </p:nvSpPr>
        <p:spPr>
          <a:xfrm>
            <a:off x="2139696" y="4023360"/>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Copies an existing CE onto a fresh CE Number. The fastest way to quote a similar job.</a:t>
            </a:r>
            <a:endParaRPr lang="en-US" sz="1150" dirty="0"/>
          </a:p>
        </p:txBody>
      </p:sp>
      <p:sp>
        <p:nvSpPr>
          <p:cNvPr id="21" name="Shape 19"/>
          <p:cNvSpPr/>
          <p:nvPr/>
        </p:nvSpPr>
        <p:spPr>
          <a:xfrm>
            <a:off x="566928" y="4773168"/>
            <a:ext cx="7040880" cy="731520"/>
          </a:xfrm>
          <a:prstGeom prst="roundRect">
            <a:avLst>
              <a:gd name="adj" fmla="val 10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2" name="Shape 20"/>
          <p:cNvSpPr/>
          <p:nvPr/>
        </p:nvSpPr>
        <p:spPr>
          <a:xfrm>
            <a:off x="749808" y="4919472"/>
            <a:ext cx="1234440" cy="438912"/>
          </a:xfrm>
          <a:prstGeom prst="roundRect">
            <a:avLst>
              <a:gd name="adj" fmla="val 12500"/>
            </a:avLst>
          </a:prstGeom>
          <a:solidFill>
            <a:srgbClr val="9AA4AF"/>
          </a:solidFill>
          <a:ln w="12700">
            <a:solidFill>
              <a:srgbClr val="9AA4AF"/>
            </a:solidFill>
            <a:prstDash val="solid"/>
          </a:ln>
        </p:spPr>
      </p:sp>
      <p:sp>
        <p:nvSpPr>
          <p:cNvPr id="23" name="Text 21"/>
          <p:cNvSpPr/>
          <p:nvPr/>
        </p:nvSpPr>
        <p:spPr>
          <a:xfrm>
            <a:off x="749808" y="4919472"/>
            <a:ext cx="1234440" cy="438912"/>
          </a:xfrm>
          <a:prstGeom prst="rect">
            <a:avLst/>
          </a:prstGeom>
          <a:noFill/>
          <a:ln/>
        </p:spPr>
        <p:txBody>
          <a:bodyPr wrap="square" lIns="0" tIns="0" rIns="0" bIns="0" rtlCol="0" anchor="ctr"/>
          <a:lstStyle/>
          <a:p>
            <a:pPr algn="ctr" indent="0" marL="0">
              <a:buNone/>
            </a:pPr>
            <a:r>
              <a:rPr lang="en-US" sz="1200" b="1" dirty="0">
                <a:solidFill>
                  <a:srgbClr val="000000"/>
                </a:solidFill>
                <a:latin typeface="Arial" pitchFamily="34" charset="0"/>
                <a:ea typeface="Arial" pitchFamily="34" charset="-122"/>
                <a:cs typeface="Arial" pitchFamily="34" charset="-120"/>
              </a:rPr>
              <a:t>+ New</a:t>
            </a:r>
            <a:endParaRPr lang="en-US" sz="1200" dirty="0"/>
          </a:p>
        </p:txBody>
      </p:sp>
      <p:sp>
        <p:nvSpPr>
          <p:cNvPr id="24" name="Text 22"/>
          <p:cNvSpPr/>
          <p:nvPr/>
        </p:nvSpPr>
        <p:spPr>
          <a:xfrm>
            <a:off x="2139696" y="4864608"/>
            <a:ext cx="4846320" cy="548640"/>
          </a:xfrm>
          <a:prstGeom prst="rect">
            <a:avLst/>
          </a:prstGeom>
          <a:noFill/>
          <a:ln/>
        </p:spPr>
        <p:txBody>
          <a:bodyPr wrap="square" lIns="0" tIns="0" rIns="0" bIns="0" rtlCol="0" anchor="ctr"/>
          <a:lstStyle/>
          <a:p>
            <a:pPr indent="0" marL="0">
              <a:lnSpc>
                <a:spcPts val="1450"/>
              </a:lnSpc>
              <a:buNone/>
            </a:pPr>
            <a:r>
              <a:rPr lang="en-US" sz="1150" dirty="0">
                <a:solidFill>
                  <a:srgbClr val="E6EDF3"/>
                </a:solidFill>
                <a:latin typeface="Calibri" pitchFamily="34" charset="0"/>
                <a:ea typeface="Calibri" pitchFamily="34" charset="-122"/>
                <a:cs typeface="Calibri" pitchFamily="34" charset="-120"/>
              </a:rPr>
              <a:t>Clears everything and starts again. You will be warned about unsaved work.</a:t>
            </a:r>
            <a:endParaRPr lang="en-US" sz="1150" dirty="0"/>
          </a:p>
        </p:txBody>
      </p:sp>
      <p:sp>
        <p:nvSpPr>
          <p:cNvPr id="25" name="Text 23"/>
          <p:cNvSpPr/>
          <p:nvPr/>
        </p:nvSpPr>
        <p:spPr>
          <a:xfrm>
            <a:off x="6986016" y="4919472"/>
            <a:ext cx="548640" cy="438912"/>
          </a:xfrm>
          <a:prstGeom prst="rect">
            <a:avLst/>
          </a:prstGeom>
          <a:noFill/>
          <a:ln/>
        </p:spPr>
        <p:txBody>
          <a:bodyPr wrap="square" lIns="0" tIns="0" rIns="0" bIns="0" rtlCol="0" anchor="ctr"/>
          <a:lstStyle/>
          <a:p>
            <a:pPr algn="r" indent="0" marL="0">
              <a:buNone/>
            </a:pPr>
            <a:r>
              <a:rPr lang="en-US" sz="950" dirty="0">
                <a:solidFill>
                  <a:srgbClr val="9AA4AF"/>
                </a:solidFill>
                <a:latin typeface="Courier New" pitchFamily="34" charset="0"/>
                <a:ea typeface="Courier New" pitchFamily="34" charset="-122"/>
                <a:cs typeface="Courier New" pitchFamily="34" charset="-120"/>
              </a:rPr>
              <a:t>Ctrl + N</a:t>
            </a:r>
            <a:endParaRPr lang="en-US" sz="950" dirty="0"/>
          </a:p>
        </p:txBody>
      </p:sp>
      <p:sp>
        <p:nvSpPr>
          <p:cNvPr id="26" name="Shape 24"/>
          <p:cNvSpPr/>
          <p:nvPr/>
        </p:nvSpPr>
        <p:spPr>
          <a:xfrm>
            <a:off x="7818120" y="1408176"/>
            <a:ext cx="3803904" cy="1965960"/>
          </a:xfrm>
          <a:prstGeom prst="roundRect">
            <a:avLst>
              <a:gd name="adj" fmla="val 3721"/>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7" name="Text 25"/>
          <p:cNvSpPr/>
          <p:nvPr/>
        </p:nvSpPr>
        <p:spPr>
          <a:xfrm>
            <a:off x="8046720" y="1591056"/>
            <a:ext cx="3383280" cy="292608"/>
          </a:xfrm>
          <a:prstGeom prst="rect">
            <a:avLst/>
          </a:prstGeom>
          <a:noFill/>
          <a:ln/>
        </p:spPr>
        <p:txBody>
          <a:bodyPr wrap="square" lIns="0" tIns="0" rIns="0" bIns="0" rtlCol="0" anchor="ctr"/>
          <a:lstStyle/>
          <a:p>
            <a:pPr indent="0" marL="0">
              <a:buNone/>
            </a:pPr>
            <a:r>
              <a:rPr lang="en-US" sz="1450" b="1" dirty="0">
                <a:solidFill>
                  <a:srgbClr val="3FB950"/>
                </a:solidFill>
                <a:latin typeface="Arial" pitchFamily="34" charset="0"/>
                <a:ea typeface="Arial" pitchFamily="34" charset="-122"/>
                <a:cs typeface="Arial" pitchFamily="34" charset="-120"/>
              </a:rPr>
              <a:t>Auto-save</a:t>
            </a:r>
            <a:endParaRPr lang="en-US" sz="1450" dirty="0"/>
          </a:p>
        </p:txBody>
      </p:sp>
      <p:sp>
        <p:nvSpPr>
          <p:cNvPr id="28" name="Text 26"/>
          <p:cNvSpPr/>
          <p:nvPr/>
        </p:nvSpPr>
        <p:spPr>
          <a:xfrm>
            <a:off x="8046720" y="1956816"/>
            <a:ext cx="3383280" cy="128016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The app keeps a rolling copy of your work in this browser as you type. If the tab closes or the machine restarts, you will be offered it back the next time you open the app.</a:t>
            </a:r>
            <a:endParaRPr lang="en-US" sz="1150" dirty="0"/>
          </a:p>
        </p:txBody>
      </p:sp>
      <p:sp>
        <p:nvSpPr>
          <p:cNvPr id="29" name="Shape 27"/>
          <p:cNvSpPr/>
          <p:nvPr/>
        </p:nvSpPr>
        <p:spPr>
          <a:xfrm>
            <a:off x="7818120" y="3557016"/>
            <a:ext cx="3803904" cy="2057400"/>
          </a:xfrm>
          <a:prstGeom prst="roundRect">
            <a:avLst>
              <a:gd name="adj" fmla="val 355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0" name="Text 28"/>
          <p:cNvSpPr/>
          <p:nvPr/>
        </p:nvSpPr>
        <p:spPr>
          <a:xfrm>
            <a:off x="8046720" y="3739896"/>
            <a:ext cx="3383280" cy="292608"/>
          </a:xfrm>
          <a:prstGeom prst="rect">
            <a:avLst/>
          </a:prstGeom>
          <a:noFill/>
          <a:ln/>
        </p:spPr>
        <p:txBody>
          <a:bodyPr wrap="square" lIns="0" tIns="0" rIns="0" bIns="0" rtlCol="0" anchor="ctr"/>
          <a:lstStyle/>
          <a:p>
            <a:pPr indent="0" marL="0">
              <a:buNone/>
            </a:pPr>
            <a:r>
              <a:rPr lang="en-US" sz="1450" b="1" dirty="0">
                <a:solidFill>
                  <a:srgbClr val="F85149"/>
                </a:solidFill>
                <a:latin typeface="Arial" pitchFamily="34" charset="0"/>
                <a:ea typeface="Arial" pitchFamily="34" charset="-122"/>
                <a:cs typeface="Arial" pitchFamily="34" charset="-120"/>
              </a:rPr>
              <a:t>Duplicate CE numbers</a:t>
            </a:r>
            <a:endParaRPr lang="en-US" sz="1450" dirty="0"/>
          </a:p>
        </p:txBody>
      </p:sp>
      <p:sp>
        <p:nvSpPr>
          <p:cNvPr id="31" name="Text 29"/>
          <p:cNvSpPr/>
          <p:nvPr/>
        </p:nvSpPr>
        <p:spPr>
          <a:xfrm>
            <a:off x="8046720" y="4105656"/>
            <a:ext cx="3383280" cy="1371600"/>
          </a:xfrm>
          <a:prstGeom prst="rect">
            <a:avLst/>
          </a:prstGeom>
          <a:noFill/>
          <a:ln/>
        </p:spPr>
        <p:txBody>
          <a:bodyPr wrap="square" lIns="0" tIns="0" rIns="0" bIns="0" rtlCol="0" anchor="t"/>
          <a:lstStyle/>
          <a:p>
            <a:pPr algn="l" indent="0" marL="0">
              <a:lnSpc>
                <a:spcPts val="1500"/>
              </a:lnSpc>
              <a:buNone/>
            </a:pPr>
            <a:r>
              <a:rPr lang="en-US" sz="1150" dirty="0">
                <a:solidFill>
                  <a:srgbClr val="9AA4AF"/>
                </a:solidFill>
                <a:latin typeface="Calibri" pitchFamily="34" charset="0"/>
                <a:ea typeface="Calibri" pitchFamily="34" charset="-122"/>
                <a:cs typeface="Calibri" pitchFamily="34" charset="-120"/>
              </a:rPr>
              <a:t>Saving over an existing number is refused, and the app tells you when that CE was saved. Use Revise if you meant to supersede it, or pick a new number.</a:t>
            </a:r>
            <a:endParaRPr lang="en-US" sz="1150" dirty="0"/>
          </a:p>
        </p:txBody>
      </p:sp>
      <p:sp>
        <p:nvSpPr>
          <p:cNvPr id="32" name="Text 3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3" name="Text 3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STEP 8 · OUTPUT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Produce the document</a:t>
            </a:r>
            <a:endParaRPr lang="en-US" sz="3200" dirty="0"/>
          </a:p>
        </p:txBody>
      </p:sp>
      <p:sp>
        <p:nvSpPr>
          <p:cNvPr id="4" name="Shape 2"/>
          <p:cNvSpPr/>
          <p:nvPr/>
        </p:nvSpPr>
        <p:spPr>
          <a:xfrm>
            <a:off x="566928" y="14081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54480"/>
            <a:ext cx="2926080" cy="310896"/>
          </a:xfrm>
          <a:prstGeom prst="rect">
            <a:avLst/>
          </a:prstGeom>
          <a:noFill/>
          <a:ln/>
        </p:spPr>
        <p:txBody>
          <a:bodyPr wrap="square" lIns="0" tIns="0" rIns="0" bIns="0" rtlCol="0" anchor="ctr"/>
          <a:lstStyle/>
          <a:p>
            <a:pPr indent="0" marL="0">
              <a:buNone/>
            </a:pPr>
            <a:r>
              <a:rPr lang="en-US" sz="1500" b="1" dirty="0">
                <a:solidFill>
                  <a:srgbClr val="F0A429"/>
                </a:solidFill>
                <a:latin typeface="Arial" pitchFamily="34" charset="0"/>
                <a:ea typeface="Arial" pitchFamily="34" charset="-122"/>
                <a:cs typeface="Arial" pitchFamily="34" charset="-120"/>
              </a:rPr>
              <a:t>🖨  Generate CE</a:t>
            </a:r>
            <a:endParaRPr lang="en-US" sz="1500" dirty="0"/>
          </a:p>
        </p:txBody>
      </p:sp>
      <p:sp>
        <p:nvSpPr>
          <p:cNvPr id="6" name="Text 4"/>
          <p:cNvSpPr/>
          <p:nvPr/>
        </p:nvSpPr>
        <p:spPr>
          <a:xfrm>
            <a:off x="841248" y="19110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Opens the official SHIC form in a print window: cover, cost summary, manpower loading, resources, scope of work and signature blocks. Print it or save as PDF.</a:t>
            </a:r>
            <a:endParaRPr lang="en-US" sz="1150" dirty="0"/>
          </a:p>
        </p:txBody>
      </p:sp>
      <p:sp>
        <p:nvSpPr>
          <p:cNvPr id="7" name="Shape 5"/>
          <p:cNvSpPr/>
          <p:nvPr/>
        </p:nvSpPr>
        <p:spPr>
          <a:xfrm>
            <a:off x="566928" y="27797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841248" y="2926080"/>
            <a:ext cx="2926080" cy="310896"/>
          </a:xfrm>
          <a:prstGeom prst="rect">
            <a:avLst/>
          </a:prstGeom>
          <a:noFill/>
          <a:ln/>
        </p:spPr>
        <p:txBody>
          <a:bodyPr wrap="square" lIns="0" tIns="0" rIns="0" bIns="0" rtlCol="0" anchor="ctr"/>
          <a:lstStyle/>
          <a:p>
            <a:pPr indent="0" marL="0">
              <a:buNone/>
            </a:pPr>
            <a:r>
              <a:rPr lang="en-US" sz="1500" b="1" dirty="0">
                <a:solidFill>
                  <a:srgbClr val="58A6FF"/>
                </a:solidFill>
                <a:latin typeface="Arial" pitchFamily="34" charset="0"/>
                <a:ea typeface="Arial" pitchFamily="34" charset="-122"/>
                <a:cs typeface="Arial" pitchFamily="34" charset="-120"/>
              </a:rPr>
              <a:t>Export CE</a:t>
            </a:r>
            <a:endParaRPr lang="en-US" sz="1500" dirty="0"/>
          </a:p>
        </p:txBody>
      </p:sp>
      <p:sp>
        <p:nvSpPr>
          <p:cNvPr id="9" name="Text 7"/>
          <p:cNvSpPr/>
          <p:nvPr/>
        </p:nvSpPr>
        <p:spPr>
          <a:xfrm>
            <a:off x="841248" y="32826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Writes an Excel workbook of the same estimate — one sheet per section, for anyone who needs the figures rather than the form.</a:t>
            </a:r>
            <a:endParaRPr lang="en-US" sz="1150" dirty="0"/>
          </a:p>
        </p:txBody>
      </p:sp>
      <p:sp>
        <p:nvSpPr>
          <p:cNvPr id="10" name="Shape 8"/>
          <p:cNvSpPr/>
          <p:nvPr/>
        </p:nvSpPr>
        <p:spPr>
          <a:xfrm>
            <a:off x="566928" y="4151376"/>
            <a:ext cx="7040880" cy="1243584"/>
          </a:xfrm>
          <a:prstGeom prst="roundRect">
            <a:avLst>
              <a:gd name="adj" fmla="val 5882"/>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Text 9"/>
          <p:cNvSpPr/>
          <p:nvPr/>
        </p:nvSpPr>
        <p:spPr>
          <a:xfrm>
            <a:off x="841248" y="4297680"/>
            <a:ext cx="2926080" cy="310896"/>
          </a:xfrm>
          <a:prstGeom prst="rect">
            <a:avLst/>
          </a:prstGeom>
          <a:noFill/>
          <a:ln/>
        </p:spPr>
        <p:txBody>
          <a:bodyPr wrap="square" lIns="0" tIns="0" rIns="0" bIns="0" rtlCol="0" anchor="ctr"/>
          <a:lstStyle/>
          <a:p>
            <a:pPr indent="0" marL="0">
              <a:buNone/>
            </a:pPr>
            <a:r>
              <a:rPr lang="en-US" sz="1500" b="1" dirty="0">
                <a:solidFill>
                  <a:srgbClr val="A78BFA"/>
                </a:solidFill>
                <a:latin typeface="Arial" pitchFamily="34" charset="0"/>
                <a:ea typeface="Arial" pitchFamily="34" charset="-122"/>
                <a:cs typeface="Arial" pitchFamily="34" charset="-120"/>
              </a:rPr>
              <a:t>📎 Attachments</a:t>
            </a:r>
            <a:endParaRPr lang="en-US" sz="1500" dirty="0"/>
          </a:p>
        </p:txBody>
      </p:sp>
      <p:sp>
        <p:nvSpPr>
          <p:cNvPr id="12" name="Text 10"/>
          <p:cNvSpPr/>
          <p:nvPr/>
        </p:nvSpPr>
        <p:spPr>
          <a:xfrm>
            <a:off x="841248" y="4654296"/>
            <a:ext cx="649224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Client enquiries and supporting documents can be attached to a saved CE and opened later by anyone on the team.</a:t>
            </a:r>
            <a:endParaRPr lang="en-US" sz="1150" dirty="0"/>
          </a:p>
        </p:txBody>
      </p:sp>
      <p:sp>
        <p:nvSpPr>
          <p:cNvPr id="13" name="Shape 11"/>
          <p:cNvSpPr/>
          <p:nvPr/>
        </p:nvSpPr>
        <p:spPr>
          <a:xfrm>
            <a:off x="7818120" y="1408176"/>
            <a:ext cx="3803904" cy="3986784"/>
          </a:xfrm>
          <a:prstGeom prst="roundRect">
            <a:avLst>
              <a:gd name="adj" fmla="val 1923"/>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4" name="Text 12"/>
          <p:cNvSpPr/>
          <p:nvPr/>
        </p:nvSpPr>
        <p:spPr>
          <a:xfrm>
            <a:off x="8046720" y="1609344"/>
            <a:ext cx="3383280" cy="310896"/>
          </a:xfrm>
          <a:prstGeom prst="rect">
            <a:avLst/>
          </a:prstGeom>
          <a:noFill/>
          <a:ln/>
        </p:spPr>
        <p:txBody>
          <a:bodyPr wrap="square" lIns="0" tIns="0" rIns="0" bIns="0" rtlCol="0" anchor="ctr"/>
          <a:lstStyle/>
          <a:p>
            <a:pPr indent="0" marL="0">
              <a:buNone/>
            </a:pPr>
            <a:r>
              <a:rPr lang="en-US" sz="1500" b="1" dirty="0">
                <a:solidFill>
                  <a:srgbClr val="E6EDF3"/>
                </a:solidFill>
                <a:latin typeface="Arial" pitchFamily="34" charset="0"/>
                <a:ea typeface="Arial" pitchFamily="34" charset="-122"/>
                <a:cs typeface="Arial" pitchFamily="34" charset="-120"/>
              </a:rPr>
              <a:t>On the printed CE</a:t>
            </a:r>
            <a:endParaRPr lang="en-US" sz="1500" dirty="0"/>
          </a:p>
        </p:txBody>
      </p:sp>
      <p:sp>
        <p:nvSpPr>
          <p:cNvPr id="15" name="Text 13"/>
          <p:cNvSpPr/>
          <p:nvPr/>
        </p:nvSpPr>
        <p:spPr>
          <a:xfrm>
            <a:off x="8046720" y="2048256"/>
            <a:ext cx="3383280" cy="3108960"/>
          </a:xfrm>
          <a:prstGeom prst="rect">
            <a:avLst/>
          </a:prstGeom>
          <a:noFill/>
          <a:ln/>
        </p:spPr>
        <p:txBody>
          <a:bodyPr wrap="square" lIns="0" tIns="0" rIns="0" bIns="0" rtlCol="0" anchor="ctr"/>
          <a:lstStyle/>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The AOT column is total overtime hours — your per-day figure multiplied by the days</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SELLING PRICE only appears when the margin is not zero</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Notes print as a numbered list, with breakdown notes labelled by scope number</a:t>
            </a:r>
            <a:endParaRPr lang="en-US" sz="1150" dirty="0"/>
          </a:p>
          <a:p>
            <a:pPr marL="342900" indent="-342900">
              <a:lnSpc>
                <a:spcPts val="1500"/>
              </a:lnSpc>
              <a:spcAft>
                <a:spcPts val="900"/>
              </a:spcAft>
              <a:buSzPct val="100000"/>
              <a:buChar char="●"/>
            </a:pPr>
            <a:r>
              <a:rPr lang="en-US" sz="1150" dirty="0">
                <a:solidFill>
                  <a:srgbClr val="E6EDF3"/>
                </a:solidFill>
                <a:latin typeface="Calibri" pitchFamily="34" charset="0"/>
                <a:ea typeface="Calibri" pitchFamily="34" charset="-122"/>
                <a:cs typeface="Calibri" pitchFamily="34" charset="-120"/>
              </a:rPr>
              <a:t>Rows priced at ₱0.00 are left out of the manpower table</a:t>
            </a:r>
            <a:endParaRPr lang="en-US" sz="1150" dirty="0"/>
          </a:p>
        </p:txBody>
      </p:sp>
      <p:sp>
        <p:nvSpPr>
          <p:cNvPr id="16" name="Text 14"/>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7" name="Text 15"/>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CE MONITORING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Track what you have quoted</a:t>
            </a:r>
            <a:endParaRPr lang="en-US" sz="3200" dirty="0"/>
          </a:p>
        </p:txBody>
      </p:sp>
      <p:sp>
        <p:nvSpPr>
          <p:cNvPr id="4" name="Text 2"/>
          <p:cNvSpPr/>
          <p:nvPr/>
        </p:nvSpPr>
        <p:spPr>
          <a:xfrm>
            <a:off x="566928"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CE NO.</a:t>
            </a:r>
            <a:endParaRPr lang="en-US" sz="850" dirty="0"/>
          </a:p>
        </p:txBody>
      </p:sp>
      <p:sp>
        <p:nvSpPr>
          <p:cNvPr id="5" name="Text 3"/>
          <p:cNvSpPr/>
          <p:nvPr/>
        </p:nvSpPr>
        <p:spPr>
          <a:xfrm>
            <a:off x="2595386" y="1545336"/>
            <a:ext cx="2028458"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CUSTOMER</a:t>
            </a:r>
            <a:endParaRPr lang="en-US" sz="850" dirty="0"/>
          </a:p>
        </p:txBody>
      </p:sp>
      <p:sp>
        <p:nvSpPr>
          <p:cNvPr id="6" name="Text 4"/>
          <p:cNvSpPr/>
          <p:nvPr/>
        </p:nvSpPr>
        <p:spPr>
          <a:xfrm>
            <a:off x="4623844" y="1545336"/>
            <a:ext cx="2636995" cy="256032"/>
          </a:xfrm>
          <a:prstGeom prst="rect">
            <a:avLst/>
          </a:prstGeom>
          <a:noFill/>
          <a:ln/>
        </p:spPr>
        <p:txBody>
          <a:bodyPr wrap="square" lIns="0" tIns="0" rIns="0" bIns="0" rtlCol="0" anchor="ctr"/>
          <a:lstStyle/>
          <a:p>
            <a:pPr algn="l" indent="0" marL="0">
              <a:buNone/>
            </a:pPr>
            <a:r>
              <a:rPr lang="en-US" sz="850" b="1" spc="100" kern="0" dirty="0">
                <a:solidFill>
                  <a:srgbClr val="9AA4AF"/>
                </a:solidFill>
                <a:latin typeface="Calibri" pitchFamily="34" charset="0"/>
                <a:ea typeface="Calibri" pitchFamily="34" charset="-122"/>
                <a:cs typeface="Calibri" pitchFamily="34" charset="-120"/>
              </a:rPr>
              <a:t>JOB TITLE</a:t>
            </a:r>
            <a:endParaRPr lang="en-US" sz="850" dirty="0"/>
          </a:p>
        </p:txBody>
      </p:sp>
      <p:sp>
        <p:nvSpPr>
          <p:cNvPr id="7" name="Text 5"/>
          <p:cNvSpPr/>
          <p:nvPr/>
        </p:nvSpPr>
        <p:spPr>
          <a:xfrm>
            <a:off x="7260839" y="1545336"/>
            <a:ext cx="1419921" cy="256032"/>
          </a:xfrm>
          <a:prstGeom prst="rect">
            <a:avLst/>
          </a:prstGeom>
          <a:noFill/>
          <a:ln/>
        </p:spPr>
        <p:txBody>
          <a:bodyPr wrap="square" lIns="0" tIns="0" rIns="0" bIns="0" rtlCol="0" anchor="ctr"/>
          <a:lstStyle/>
          <a:p>
            <a:pPr algn="r" indent="0" marL="0">
              <a:buNone/>
            </a:pPr>
            <a:r>
              <a:rPr lang="en-US" sz="850" b="1" spc="100" kern="0" dirty="0">
                <a:solidFill>
                  <a:srgbClr val="9AA4AF"/>
                </a:solidFill>
                <a:latin typeface="Calibri" pitchFamily="34" charset="0"/>
                <a:ea typeface="Calibri" pitchFamily="34" charset="-122"/>
                <a:cs typeface="Calibri" pitchFamily="34" charset="-120"/>
              </a:rPr>
              <a:t>TOTAL</a:t>
            </a:r>
            <a:endParaRPr lang="en-US" sz="850" dirty="0"/>
          </a:p>
        </p:txBody>
      </p:sp>
      <p:sp>
        <p:nvSpPr>
          <p:cNvPr id="8" name="Text 6"/>
          <p:cNvSpPr/>
          <p:nvPr/>
        </p:nvSpPr>
        <p:spPr>
          <a:xfrm>
            <a:off x="8680760" y="1545336"/>
            <a:ext cx="1318498"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DEADLINE</a:t>
            </a:r>
            <a:endParaRPr lang="en-US" sz="850" dirty="0"/>
          </a:p>
        </p:txBody>
      </p:sp>
      <p:sp>
        <p:nvSpPr>
          <p:cNvPr id="9" name="Text 7"/>
          <p:cNvSpPr/>
          <p:nvPr/>
        </p:nvSpPr>
        <p:spPr>
          <a:xfrm>
            <a:off x="9999258" y="1545336"/>
            <a:ext cx="1622766" cy="256032"/>
          </a:xfrm>
          <a:prstGeom prst="rect">
            <a:avLst/>
          </a:prstGeom>
          <a:noFill/>
          <a:ln/>
        </p:spPr>
        <p:txBody>
          <a:bodyPr wrap="square" lIns="0" tIns="0" rIns="0" bIns="0" rtlCol="0" anchor="ctr"/>
          <a:lstStyle/>
          <a:p>
            <a:pPr algn="ctr" indent="0" marL="0">
              <a:buNone/>
            </a:pPr>
            <a:r>
              <a:rPr lang="en-US" sz="850" b="1" spc="100" kern="0" dirty="0">
                <a:solidFill>
                  <a:srgbClr val="9AA4AF"/>
                </a:solidFill>
                <a:latin typeface="Calibri" pitchFamily="34" charset="0"/>
                <a:ea typeface="Calibri" pitchFamily="34" charset="-122"/>
                <a:cs typeface="Calibri" pitchFamily="34" charset="-120"/>
              </a:rPr>
              <a:t>STATUS</a:t>
            </a:r>
            <a:endParaRPr lang="en-US" sz="850" dirty="0"/>
          </a:p>
        </p:txBody>
      </p:sp>
      <p:sp>
        <p:nvSpPr>
          <p:cNvPr id="10" name="Shape 8"/>
          <p:cNvSpPr/>
          <p:nvPr/>
        </p:nvSpPr>
        <p:spPr>
          <a:xfrm>
            <a:off x="566928" y="1819656"/>
            <a:ext cx="11055096" cy="329184"/>
          </a:xfrm>
          <a:prstGeom prst="rect">
            <a:avLst/>
          </a:prstGeom>
          <a:solidFill>
            <a:srgbClr val="1C2128"/>
          </a:solidFill>
          <a:ln w="6350">
            <a:solidFill>
              <a:srgbClr val="30363D"/>
            </a:solidFill>
            <a:prstDash val="solid"/>
          </a:ln>
        </p:spPr>
      </p:sp>
      <p:sp>
        <p:nvSpPr>
          <p:cNvPr id="11" name="Text 9"/>
          <p:cNvSpPr/>
          <p:nvPr/>
        </p:nvSpPr>
        <p:spPr>
          <a:xfrm>
            <a:off x="621792"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SHIC-CE-2026-0042</a:t>
            </a:r>
            <a:endParaRPr lang="en-US" sz="1050" dirty="0"/>
          </a:p>
        </p:txBody>
      </p:sp>
      <p:sp>
        <p:nvSpPr>
          <p:cNvPr id="12" name="Text 10"/>
          <p:cNvSpPr/>
          <p:nvPr/>
        </p:nvSpPr>
        <p:spPr>
          <a:xfrm>
            <a:off x="2650250" y="1819656"/>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SEM-Calaca</a:t>
            </a:r>
            <a:endParaRPr lang="en-US" sz="1050" dirty="0"/>
          </a:p>
        </p:txBody>
      </p:sp>
      <p:sp>
        <p:nvSpPr>
          <p:cNvPr id="13" name="Text 11"/>
          <p:cNvSpPr/>
          <p:nvPr/>
        </p:nvSpPr>
        <p:spPr>
          <a:xfrm>
            <a:off x="4678708" y="1819656"/>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Turbine bearing rebabbitting</a:t>
            </a:r>
            <a:endParaRPr lang="en-US" sz="1050" dirty="0"/>
          </a:p>
        </p:txBody>
      </p:sp>
      <p:sp>
        <p:nvSpPr>
          <p:cNvPr id="14" name="Text 12"/>
          <p:cNvSpPr/>
          <p:nvPr/>
        </p:nvSpPr>
        <p:spPr>
          <a:xfrm>
            <a:off x="7315703" y="1819656"/>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₱60,509</a:t>
            </a:r>
            <a:endParaRPr lang="en-US" sz="1050" dirty="0"/>
          </a:p>
        </p:txBody>
      </p:sp>
      <p:sp>
        <p:nvSpPr>
          <p:cNvPr id="15" name="Text 13"/>
          <p:cNvSpPr/>
          <p:nvPr/>
        </p:nvSpPr>
        <p:spPr>
          <a:xfrm>
            <a:off x="8735624" y="1819656"/>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12 Mar</a:t>
            </a:r>
            <a:endParaRPr lang="en-US" sz="1050" dirty="0"/>
          </a:p>
        </p:txBody>
      </p:sp>
      <p:sp>
        <p:nvSpPr>
          <p:cNvPr id="16" name="Text 14"/>
          <p:cNvSpPr/>
          <p:nvPr/>
        </p:nvSpPr>
        <p:spPr>
          <a:xfrm>
            <a:off x="10054122" y="1819656"/>
            <a:ext cx="1513038" cy="329184"/>
          </a:xfrm>
          <a:prstGeom prst="rect">
            <a:avLst/>
          </a:prstGeom>
          <a:noFill/>
          <a:ln/>
        </p:spPr>
        <p:txBody>
          <a:bodyPr wrap="square" lIns="0" tIns="0" rIns="0" bIns="0" rtlCol="0" anchor="ctr"/>
          <a:lstStyle/>
          <a:p>
            <a:pPr algn="ctr" indent="0" marL="0">
              <a:buNone/>
            </a:pPr>
            <a:r>
              <a:rPr lang="en-US" sz="1050" b="1" dirty="0">
                <a:solidFill>
                  <a:srgbClr val="F0A429"/>
                </a:solidFill>
                <a:latin typeface="Calibri" pitchFamily="34" charset="0"/>
                <a:ea typeface="Calibri" pitchFamily="34" charset="-122"/>
                <a:cs typeface="Calibri" pitchFamily="34" charset="-120"/>
              </a:rPr>
              <a:t>FOR REVIEW</a:t>
            </a:r>
            <a:endParaRPr lang="en-US" sz="1050" dirty="0"/>
          </a:p>
        </p:txBody>
      </p:sp>
      <p:sp>
        <p:nvSpPr>
          <p:cNvPr id="17" name="Shape 15"/>
          <p:cNvSpPr/>
          <p:nvPr/>
        </p:nvSpPr>
        <p:spPr>
          <a:xfrm>
            <a:off x="566928" y="2148840"/>
            <a:ext cx="11055096" cy="329184"/>
          </a:xfrm>
          <a:prstGeom prst="rect">
            <a:avLst/>
          </a:prstGeom>
          <a:solidFill>
            <a:srgbClr val="161B22"/>
          </a:solidFill>
          <a:ln w="6350">
            <a:solidFill>
              <a:srgbClr val="30363D"/>
            </a:solidFill>
            <a:prstDash val="solid"/>
          </a:ln>
        </p:spPr>
      </p:sp>
      <p:sp>
        <p:nvSpPr>
          <p:cNvPr id="18" name="Text 16"/>
          <p:cNvSpPr/>
          <p:nvPr/>
        </p:nvSpPr>
        <p:spPr>
          <a:xfrm>
            <a:off x="621792"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SHIC-CE-2026-0041</a:t>
            </a:r>
            <a:endParaRPr lang="en-US" sz="1050" dirty="0"/>
          </a:p>
        </p:txBody>
      </p:sp>
      <p:sp>
        <p:nvSpPr>
          <p:cNvPr id="19" name="Text 17"/>
          <p:cNvSpPr/>
          <p:nvPr/>
        </p:nvSpPr>
        <p:spPr>
          <a:xfrm>
            <a:off x="2650250" y="2148840"/>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Masinloc</a:t>
            </a:r>
            <a:endParaRPr lang="en-US" sz="1050" dirty="0"/>
          </a:p>
        </p:txBody>
      </p:sp>
      <p:sp>
        <p:nvSpPr>
          <p:cNvPr id="20" name="Text 18"/>
          <p:cNvSpPr/>
          <p:nvPr/>
        </p:nvSpPr>
        <p:spPr>
          <a:xfrm>
            <a:off x="4678708" y="2148840"/>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Boiler tube replacement</a:t>
            </a:r>
            <a:endParaRPr lang="en-US" sz="1050" dirty="0"/>
          </a:p>
        </p:txBody>
      </p:sp>
      <p:sp>
        <p:nvSpPr>
          <p:cNvPr id="21" name="Text 19"/>
          <p:cNvSpPr/>
          <p:nvPr/>
        </p:nvSpPr>
        <p:spPr>
          <a:xfrm>
            <a:off x="7315703" y="2148840"/>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₱184,200</a:t>
            </a:r>
            <a:endParaRPr lang="en-US" sz="1050" dirty="0"/>
          </a:p>
        </p:txBody>
      </p:sp>
      <p:sp>
        <p:nvSpPr>
          <p:cNvPr id="22" name="Text 20"/>
          <p:cNvSpPr/>
          <p:nvPr/>
        </p:nvSpPr>
        <p:spPr>
          <a:xfrm>
            <a:off x="8735624" y="2148840"/>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08 Mar</a:t>
            </a:r>
            <a:endParaRPr lang="en-US" sz="1050" dirty="0"/>
          </a:p>
        </p:txBody>
      </p:sp>
      <p:sp>
        <p:nvSpPr>
          <p:cNvPr id="23" name="Text 21"/>
          <p:cNvSpPr/>
          <p:nvPr/>
        </p:nvSpPr>
        <p:spPr>
          <a:xfrm>
            <a:off x="10054122" y="2148840"/>
            <a:ext cx="1513038" cy="329184"/>
          </a:xfrm>
          <a:prstGeom prst="rect">
            <a:avLst/>
          </a:prstGeom>
          <a:noFill/>
          <a:ln/>
        </p:spPr>
        <p:txBody>
          <a:bodyPr wrap="square" lIns="0" tIns="0" rIns="0" bIns="0" rtlCol="0" anchor="ctr"/>
          <a:lstStyle/>
          <a:p>
            <a:pPr algn="ctr" indent="0" marL="0">
              <a:buNone/>
            </a:pPr>
            <a:r>
              <a:rPr lang="en-US" sz="1050" b="1" dirty="0">
                <a:solidFill>
                  <a:srgbClr val="3FB950"/>
                </a:solidFill>
                <a:latin typeface="Calibri" pitchFamily="34" charset="0"/>
                <a:ea typeface="Calibri" pitchFamily="34" charset="-122"/>
                <a:cs typeface="Calibri" pitchFamily="34" charset="-120"/>
              </a:rPr>
              <a:t>APPROVED</a:t>
            </a:r>
            <a:endParaRPr lang="en-US" sz="1050" dirty="0"/>
          </a:p>
        </p:txBody>
      </p:sp>
      <p:sp>
        <p:nvSpPr>
          <p:cNvPr id="24" name="Shape 22"/>
          <p:cNvSpPr/>
          <p:nvPr/>
        </p:nvSpPr>
        <p:spPr>
          <a:xfrm>
            <a:off x="566928" y="2478024"/>
            <a:ext cx="11055096" cy="329184"/>
          </a:xfrm>
          <a:prstGeom prst="rect">
            <a:avLst/>
          </a:prstGeom>
          <a:solidFill>
            <a:srgbClr val="1C2128"/>
          </a:solidFill>
          <a:ln w="6350">
            <a:solidFill>
              <a:srgbClr val="30363D"/>
            </a:solidFill>
            <a:prstDash val="solid"/>
          </a:ln>
        </p:spPr>
      </p:sp>
      <p:sp>
        <p:nvSpPr>
          <p:cNvPr id="25" name="Text 23"/>
          <p:cNvSpPr/>
          <p:nvPr/>
        </p:nvSpPr>
        <p:spPr>
          <a:xfrm>
            <a:off x="621792"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SHIC-CE-2026-0039</a:t>
            </a:r>
            <a:endParaRPr lang="en-US" sz="1050" dirty="0"/>
          </a:p>
        </p:txBody>
      </p:sp>
      <p:sp>
        <p:nvSpPr>
          <p:cNvPr id="26" name="Text 24"/>
          <p:cNvSpPr/>
          <p:nvPr/>
        </p:nvSpPr>
        <p:spPr>
          <a:xfrm>
            <a:off x="2650250" y="2478024"/>
            <a:ext cx="1918730"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Pagbilao</a:t>
            </a:r>
            <a:endParaRPr lang="en-US" sz="1050" dirty="0"/>
          </a:p>
        </p:txBody>
      </p:sp>
      <p:sp>
        <p:nvSpPr>
          <p:cNvPr id="27" name="Text 25"/>
          <p:cNvSpPr/>
          <p:nvPr/>
        </p:nvSpPr>
        <p:spPr>
          <a:xfrm>
            <a:off x="4678708" y="2478024"/>
            <a:ext cx="2527267" cy="329184"/>
          </a:xfrm>
          <a:prstGeom prst="rect">
            <a:avLst/>
          </a:prstGeom>
          <a:noFill/>
          <a:ln/>
        </p:spPr>
        <p:txBody>
          <a:bodyPr wrap="square" lIns="0" tIns="0" rIns="0" bIns="0" rtlCol="0" anchor="ctr"/>
          <a:lstStyle/>
          <a:p>
            <a:pPr algn="l" indent="0" marL="0">
              <a:buNone/>
            </a:pPr>
            <a:r>
              <a:rPr lang="en-US" sz="1050" dirty="0">
                <a:solidFill>
                  <a:srgbClr val="E6EDF3"/>
                </a:solidFill>
                <a:latin typeface="Calibri" pitchFamily="34" charset="0"/>
                <a:ea typeface="Calibri" pitchFamily="34" charset="-122"/>
                <a:cs typeface="Calibri" pitchFamily="34" charset="-120"/>
              </a:rPr>
              <a:t>Valve overhaul — 6 units</a:t>
            </a:r>
            <a:endParaRPr lang="en-US" sz="1050" dirty="0"/>
          </a:p>
        </p:txBody>
      </p:sp>
      <p:sp>
        <p:nvSpPr>
          <p:cNvPr id="28" name="Text 26"/>
          <p:cNvSpPr/>
          <p:nvPr/>
        </p:nvSpPr>
        <p:spPr>
          <a:xfrm>
            <a:off x="7315703" y="2478024"/>
            <a:ext cx="1310193" cy="329184"/>
          </a:xfrm>
          <a:prstGeom prst="rect">
            <a:avLst/>
          </a:prstGeom>
          <a:noFill/>
          <a:ln/>
        </p:spPr>
        <p:txBody>
          <a:bodyPr wrap="square" lIns="0" tIns="0" rIns="0" bIns="0" rtlCol="0" anchor="ctr"/>
          <a:lstStyle/>
          <a:p>
            <a:pPr algn="r" indent="0" marL="0">
              <a:buNone/>
            </a:pPr>
            <a:r>
              <a:rPr lang="en-US" sz="1050" dirty="0">
                <a:solidFill>
                  <a:srgbClr val="E6EDF3"/>
                </a:solidFill>
                <a:latin typeface="Calibri" pitchFamily="34" charset="0"/>
                <a:ea typeface="Calibri" pitchFamily="34" charset="-122"/>
                <a:cs typeface="Calibri" pitchFamily="34" charset="-120"/>
              </a:rPr>
              <a:t>₱97,850</a:t>
            </a:r>
            <a:endParaRPr lang="en-US" sz="1050" dirty="0"/>
          </a:p>
        </p:txBody>
      </p:sp>
      <p:sp>
        <p:nvSpPr>
          <p:cNvPr id="29" name="Text 27"/>
          <p:cNvSpPr/>
          <p:nvPr/>
        </p:nvSpPr>
        <p:spPr>
          <a:xfrm>
            <a:off x="8735624" y="2478024"/>
            <a:ext cx="1208770" cy="329184"/>
          </a:xfrm>
          <a:prstGeom prst="rect">
            <a:avLst/>
          </a:prstGeom>
          <a:noFill/>
          <a:ln/>
        </p:spPr>
        <p:txBody>
          <a:bodyPr wrap="square" lIns="0" tIns="0" rIns="0" bIns="0" rtlCol="0" anchor="ctr"/>
          <a:lstStyle/>
          <a:p>
            <a:pPr algn="ctr" indent="0" marL="0">
              <a:buNone/>
            </a:pPr>
            <a:r>
              <a:rPr lang="en-US" sz="1050" dirty="0">
                <a:solidFill>
                  <a:srgbClr val="E6EDF3"/>
                </a:solidFill>
                <a:latin typeface="Calibri" pitchFamily="34" charset="0"/>
                <a:ea typeface="Calibri" pitchFamily="34" charset="-122"/>
                <a:cs typeface="Calibri" pitchFamily="34" charset="-120"/>
              </a:rPr>
              <a:t>overdue</a:t>
            </a:r>
            <a:endParaRPr lang="en-US" sz="1050" dirty="0"/>
          </a:p>
        </p:txBody>
      </p:sp>
      <p:sp>
        <p:nvSpPr>
          <p:cNvPr id="30" name="Text 28"/>
          <p:cNvSpPr/>
          <p:nvPr/>
        </p:nvSpPr>
        <p:spPr>
          <a:xfrm>
            <a:off x="10054122" y="2478024"/>
            <a:ext cx="1513038" cy="329184"/>
          </a:xfrm>
          <a:prstGeom prst="rect">
            <a:avLst/>
          </a:prstGeom>
          <a:noFill/>
          <a:ln/>
        </p:spPr>
        <p:txBody>
          <a:bodyPr wrap="square" lIns="0" tIns="0" rIns="0" bIns="0" rtlCol="0" anchor="ctr"/>
          <a:lstStyle/>
          <a:p>
            <a:pPr algn="ctr" indent="0" marL="0">
              <a:buNone/>
            </a:pPr>
            <a:r>
              <a:rPr lang="en-US" sz="1050" b="1" dirty="0">
                <a:solidFill>
                  <a:srgbClr val="F85149"/>
                </a:solidFill>
                <a:latin typeface="Calibri" pitchFamily="34" charset="0"/>
                <a:ea typeface="Calibri" pitchFamily="34" charset="-122"/>
                <a:cs typeface="Calibri" pitchFamily="34" charset="-120"/>
              </a:rPr>
              <a:t>REVISED</a:t>
            </a:r>
            <a:endParaRPr lang="en-US" sz="1050" dirty="0"/>
          </a:p>
        </p:txBody>
      </p:sp>
      <p:sp>
        <p:nvSpPr>
          <p:cNvPr id="31" name="Shape 29"/>
          <p:cNvSpPr/>
          <p:nvPr/>
        </p:nvSpPr>
        <p:spPr>
          <a:xfrm>
            <a:off x="566928"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2" name="Text 30"/>
          <p:cNvSpPr/>
          <p:nvPr/>
        </p:nvSpPr>
        <p:spPr>
          <a:xfrm>
            <a:off x="804672"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Editable columns</a:t>
            </a:r>
            <a:endParaRPr lang="en-US" sz="1350" dirty="0"/>
          </a:p>
        </p:txBody>
      </p:sp>
      <p:sp>
        <p:nvSpPr>
          <p:cNvPr id="33" name="Text 31"/>
          <p:cNvSpPr/>
          <p:nvPr/>
        </p:nvSpPr>
        <p:spPr>
          <a:xfrm>
            <a:off x="804672"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Customer, job title, dates, received by, status and remarks are yours to maintain. Click a cell and type.</a:t>
            </a:r>
            <a:endParaRPr lang="en-US" sz="1100" dirty="0"/>
          </a:p>
        </p:txBody>
      </p:sp>
      <p:sp>
        <p:nvSpPr>
          <p:cNvPr id="34" name="Shape 32"/>
          <p:cNvSpPr/>
          <p:nvPr/>
        </p:nvSpPr>
        <p:spPr>
          <a:xfrm>
            <a:off x="6309360" y="317296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5" name="Text 33"/>
          <p:cNvSpPr/>
          <p:nvPr/>
        </p:nvSpPr>
        <p:spPr>
          <a:xfrm>
            <a:off x="6547104" y="331927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Deadlines</a:t>
            </a:r>
            <a:endParaRPr lang="en-US" sz="1350" dirty="0"/>
          </a:p>
        </p:txBody>
      </p:sp>
      <p:sp>
        <p:nvSpPr>
          <p:cNvPr id="36" name="Text 34"/>
          <p:cNvSpPr/>
          <p:nvPr/>
        </p:nvSpPr>
        <p:spPr>
          <a:xfrm>
            <a:off x="6547104" y="363016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Days-left is calculated for you and turns red when a deadline passes.</a:t>
            </a:r>
            <a:endParaRPr lang="en-US" sz="1100" dirty="0"/>
          </a:p>
        </p:txBody>
      </p:sp>
      <p:sp>
        <p:nvSpPr>
          <p:cNvPr id="37" name="Shape 35"/>
          <p:cNvSpPr/>
          <p:nvPr/>
        </p:nvSpPr>
        <p:spPr>
          <a:xfrm>
            <a:off x="566928"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38" name="Text 36"/>
          <p:cNvSpPr/>
          <p:nvPr/>
        </p:nvSpPr>
        <p:spPr>
          <a:xfrm>
            <a:off x="804672"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Load · Clone · Revise</a:t>
            </a:r>
            <a:endParaRPr lang="en-US" sz="1350" dirty="0"/>
          </a:p>
        </p:txBody>
      </p:sp>
      <p:sp>
        <p:nvSpPr>
          <p:cNvPr id="39" name="Text 37"/>
          <p:cNvSpPr/>
          <p:nvPr/>
        </p:nvSpPr>
        <p:spPr>
          <a:xfrm>
            <a:off x="804672"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Open any CE straight from this list, or copy it as the starting point for a new one.</a:t>
            </a:r>
            <a:endParaRPr lang="en-US" sz="1100" dirty="0"/>
          </a:p>
        </p:txBody>
      </p:sp>
      <p:sp>
        <p:nvSpPr>
          <p:cNvPr id="40" name="Shape 38"/>
          <p:cNvSpPr/>
          <p:nvPr/>
        </p:nvSpPr>
        <p:spPr>
          <a:xfrm>
            <a:off x="6309360" y="4453128"/>
            <a:ext cx="5532120" cy="1133856"/>
          </a:xfrm>
          <a:prstGeom prst="roundRect">
            <a:avLst>
              <a:gd name="adj" fmla="val 6452"/>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41" name="Text 39"/>
          <p:cNvSpPr/>
          <p:nvPr/>
        </p:nvSpPr>
        <p:spPr>
          <a:xfrm>
            <a:off x="6547104" y="4599432"/>
            <a:ext cx="502920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Compare</a:t>
            </a:r>
            <a:endParaRPr lang="en-US" sz="1350" dirty="0"/>
          </a:p>
        </p:txBody>
      </p:sp>
      <p:sp>
        <p:nvSpPr>
          <p:cNvPr id="42" name="Text 40"/>
          <p:cNvSpPr/>
          <p:nvPr/>
        </p:nvSpPr>
        <p:spPr>
          <a:xfrm>
            <a:off x="6547104" y="4910328"/>
            <a:ext cx="5074920" cy="603504"/>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Tick two CEs and compare them side by side — useful for a revision against its original.</a:t>
            </a:r>
            <a:endParaRPr lang="en-US" sz="1100" dirty="0"/>
          </a:p>
        </p:txBody>
      </p:sp>
      <p:sp>
        <p:nvSpPr>
          <p:cNvPr id="43" name="Text 4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44" name="Text 4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ON SITE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Working without a connection</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 app is built to keep working on a plant site with no signal. Nothing you type is lost.</a:t>
            </a:r>
            <a:endParaRPr lang="en-US" sz="1400" dirty="0"/>
          </a:p>
        </p:txBody>
      </p:sp>
      <p:sp>
        <p:nvSpPr>
          <p:cNvPr id="5" name="Shape 3"/>
          <p:cNvSpPr/>
          <p:nvPr/>
        </p:nvSpPr>
        <p:spPr>
          <a:xfrm>
            <a:off x="566928"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Shape 4"/>
          <p:cNvSpPr/>
          <p:nvPr/>
        </p:nvSpPr>
        <p:spPr>
          <a:xfrm>
            <a:off x="804672" y="2121408"/>
            <a:ext cx="420624" cy="420624"/>
          </a:xfrm>
          <a:prstGeom prst="ellipse">
            <a:avLst/>
          </a:prstGeom>
          <a:solidFill>
            <a:srgbClr val="3FB950"/>
          </a:solidFill>
          <a:ln w="12700">
            <a:solidFill>
              <a:srgbClr val="3FB950"/>
            </a:solidFill>
            <a:prstDash val="solid"/>
          </a:ln>
        </p:spPr>
      </p:sp>
      <p:sp>
        <p:nvSpPr>
          <p:cNvPr id="7" name="Text 5"/>
          <p:cNvSpPr/>
          <p:nvPr/>
        </p:nvSpPr>
        <p:spPr>
          <a:xfrm>
            <a:off x="804672"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1</a:t>
            </a:r>
            <a:endParaRPr lang="en-US" sz="1300" dirty="0"/>
          </a:p>
        </p:txBody>
      </p:sp>
      <p:sp>
        <p:nvSpPr>
          <p:cNvPr id="8" name="Text 6"/>
          <p:cNvSpPr/>
          <p:nvPr/>
        </p:nvSpPr>
        <p:spPr>
          <a:xfrm>
            <a:off x="804672"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You keep working</a:t>
            </a:r>
            <a:endParaRPr lang="en-US" sz="1400" dirty="0"/>
          </a:p>
        </p:txBody>
      </p:sp>
      <p:sp>
        <p:nvSpPr>
          <p:cNvPr id="9" name="Text 7"/>
          <p:cNvSpPr/>
          <p:nvPr/>
        </p:nvSpPr>
        <p:spPr>
          <a:xfrm>
            <a:off x="804672"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Every tab still works. Rates, the Scope Library and your saved CEs are already stored in this browser.</a:t>
            </a:r>
            <a:endParaRPr lang="en-US" sz="1100" dirty="0"/>
          </a:p>
        </p:txBody>
      </p:sp>
      <p:sp>
        <p:nvSpPr>
          <p:cNvPr id="10" name="Shape 8"/>
          <p:cNvSpPr/>
          <p:nvPr/>
        </p:nvSpPr>
        <p:spPr>
          <a:xfrm>
            <a:off x="4352544"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1" name="Shape 9"/>
          <p:cNvSpPr/>
          <p:nvPr/>
        </p:nvSpPr>
        <p:spPr>
          <a:xfrm>
            <a:off x="4590288" y="2121408"/>
            <a:ext cx="420624" cy="420624"/>
          </a:xfrm>
          <a:prstGeom prst="ellipse">
            <a:avLst/>
          </a:prstGeom>
          <a:solidFill>
            <a:srgbClr val="F0A429"/>
          </a:solidFill>
          <a:ln w="12700">
            <a:solidFill>
              <a:srgbClr val="F0A429"/>
            </a:solidFill>
            <a:prstDash val="solid"/>
          </a:ln>
        </p:spPr>
      </p:sp>
      <p:sp>
        <p:nvSpPr>
          <p:cNvPr id="12" name="Text 10"/>
          <p:cNvSpPr/>
          <p:nvPr/>
        </p:nvSpPr>
        <p:spPr>
          <a:xfrm>
            <a:off x="4590288"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2</a:t>
            </a:r>
            <a:endParaRPr lang="en-US" sz="1300" dirty="0"/>
          </a:p>
        </p:txBody>
      </p:sp>
      <p:sp>
        <p:nvSpPr>
          <p:cNvPr id="13" name="Text 11"/>
          <p:cNvSpPr/>
          <p:nvPr/>
        </p:nvSpPr>
        <p:spPr>
          <a:xfrm>
            <a:off x="4590288"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Saved locally</a:t>
            </a:r>
            <a:endParaRPr lang="en-US" sz="1400" dirty="0"/>
          </a:p>
        </p:txBody>
      </p:sp>
      <p:sp>
        <p:nvSpPr>
          <p:cNvPr id="14" name="Text 12"/>
          <p:cNvSpPr/>
          <p:nvPr/>
        </p:nvSpPr>
        <p:spPr>
          <a:xfrm>
            <a:off x="4590288"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 CE saved offline is marked "local only". It is safe — it simply has not reached SharePoint yet.</a:t>
            </a:r>
            <a:endParaRPr lang="en-US" sz="1100" dirty="0"/>
          </a:p>
        </p:txBody>
      </p:sp>
      <p:sp>
        <p:nvSpPr>
          <p:cNvPr id="15" name="Shape 13"/>
          <p:cNvSpPr/>
          <p:nvPr/>
        </p:nvSpPr>
        <p:spPr>
          <a:xfrm>
            <a:off x="8138160" y="1911096"/>
            <a:ext cx="3566160" cy="2011680"/>
          </a:xfrm>
          <a:prstGeom prst="roundRect">
            <a:avLst>
              <a:gd name="adj" fmla="val 363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6" name="Shape 14"/>
          <p:cNvSpPr/>
          <p:nvPr/>
        </p:nvSpPr>
        <p:spPr>
          <a:xfrm>
            <a:off x="8375904" y="2121408"/>
            <a:ext cx="420624" cy="420624"/>
          </a:xfrm>
          <a:prstGeom prst="ellipse">
            <a:avLst/>
          </a:prstGeom>
          <a:solidFill>
            <a:srgbClr val="58A6FF"/>
          </a:solidFill>
          <a:ln w="12700">
            <a:solidFill>
              <a:srgbClr val="58A6FF"/>
            </a:solidFill>
            <a:prstDash val="solid"/>
          </a:ln>
        </p:spPr>
      </p:sp>
      <p:sp>
        <p:nvSpPr>
          <p:cNvPr id="17" name="Text 15"/>
          <p:cNvSpPr/>
          <p:nvPr/>
        </p:nvSpPr>
        <p:spPr>
          <a:xfrm>
            <a:off x="8375904" y="2121408"/>
            <a:ext cx="420624" cy="420624"/>
          </a:xfrm>
          <a:prstGeom prst="rect">
            <a:avLst/>
          </a:prstGeom>
          <a:noFill/>
          <a:ln/>
        </p:spPr>
        <p:txBody>
          <a:bodyPr wrap="square" lIns="0" tIns="0" rIns="0" bIns="0" rtlCol="0" anchor="ctr"/>
          <a:lstStyle/>
          <a:p>
            <a:pPr algn="ctr" indent="0" marL="0">
              <a:buNone/>
            </a:pPr>
            <a:r>
              <a:rPr lang="en-US" sz="1300" b="1" dirty="0">
                <a:solidFill>
                  <a:srgbClr val="000000"/>
                </a:solidFill>
                <a:latin typeface="Arial" pitchFamily="34" charset="0"/>
                <a:ea typeface="Arial" pitchFamily="34" charset="-122"/>
                <a:cs typeface="Arial" pitchFamily="34" charset="-120"/>
              </a:rPr>
              <a:t>3</a:t>
            </a:r>
            <a:endParaRPr lang="en-US" sz="1300" dirty="0"/>
          </a:p>
        </p:txBody>
      </p:sp>
      <p:sp>
        <p:nvSpPr>
          <p:cNvPr id="18" name="Text 16"/>
          <p:cNvSpPr/>
          <p:nvPr/>
        </p:nvSpPr>
        <p:spPr>
          <a:xfrm>
            <a:off x="8375904" y="2670048"/>
            <a:ext cx="31089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Uploads on reconnect</a:t>
            </a:r>
            <a:endParaRPr lang="en-US" sz="1400" dirty="0"/>
          </a:p>
        </p:txBody>
      </p:sp>
      <p:sp>
        <p:nvSpPr>
          <p:cNvPr id="19" name="Text 17"/>
          <p:cNvSpPr/>
          <p:nvPr/>
        </p:nvSpPr>
        <p:spPr>
          <a:xfrm>
            <a:off x="8375904" y="3017520"/>
            <a:ext cx="3108960" cy="777240"/>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When the connection returns, the app uploads what is waiting and the mark clears.</a:t>
            </a:r>
            <a:endParaRPr lang="en-US" sz="1100" dirty="0"/>
          </a:p>
        </p:txBody>
      </p:sp>
      <p:sp>
        <p:nvSpPr>
          <p:cNvPr id="20" name="Shape 18"/>
          <p:cNvSpPr/>
          <p:nvPr/>
        </p:nvSpPr>
        <p:spPr>
          <a:xfrm>
            <a:off x="566928" y="4151376"/>
            <a:ext cx="11055096" cy="1417320"/>
          </a:xfrm>
          <a:prstGeom prst="roundRect">
            <a:avLst>
              <a:gd name="adj" fmla="val 5161"/>
            </a:avLst>
          </a:prstGeom>
          <a:solidFill>
            <a:srgbClr val="2A1616"/>
          </a:solidFill>
          <a:ln w="12700">
            <a:solidFill>
              <a:srgbClr val="5C2020"/>
            </a:solidFill>
            <a:prstDash val="solid"/>
          </a:ln>
          <a:effectLst>
            <a:outerShdw sx="100000" sy="100000" kx="0" ky="0" algn="bl" rotWithShape="0" blurRad="152400" dist="38100" dir="5400000">
              <a:srgbClr val="000000">
                <a:alpha val="45000"/>
              </a:srgbClr>
            </a:outerShdw>
          </a:effectLst>
        </p:spPr>
      </p:sp>
      <p:sp>
        <p:nvSpPr>
          <p:cNvPr id="21" name="Text 19"/>
          <p:cNvSpPr/>
          <p:nvPr/>
        </p:nvSpPr>
        <p:spPr>
          <a:xfrm>
            <a:off x="841248" y="4315968"/>
            <a:ext cx="6400800" cy="292608"/>
          </a:xfrm>
          <a:prstGeom prst="rect">
            <a:avLst/>
          </a:prstGeom>
          <a:noFill/>
          <a:ln/>
        </p:spPr>
        <p:txBody>
          <a:bodyPr wrap="square" lIns="0" tIns="0" rIns="0" bIns="0" rtlCol="0" anchor="ctr"/>
          <a:lstStyle/>
          <a:p>
            <a:pPr indent="0" marL="0">
              <a:buNone/>
            </a:pPr>
            <a:r>
              <a:rPr lang="en-US" sz="1400" b="1" dirty="0">
                <a:solidFill>
                  <a:srgbClr val="F85149"/>
                </a:solidFill>
                <a:latin typeface="Arial" pitchFamily="34" charset="0"/>
                <a:ea typeface="Arial" pitchFamily="34" charset="-122"/>
                <a:cs typeface="Arial" pitchFamily="34" charset="-120"/>
              </a:rPr>
              <a:t>Two things genuinely need a connection</a:t>
            </a:r>
            <a:endParaRPr lang="en-US" sz="1400" dirty="0"/>
          </a:p>
        </p:txBody>
      </p:sp>
      <p:sp>
        <p:nvSpPr>
          <p:cNvPr id="22" name="Text 20"/>
          <p:cNvSpPr/>
          <p:nvPr/>
        </p:nvSpPr>
        <p:spPr>
          <a:xfrm>
            <a:off x="841248" y="4663440"/>
            <a:ext cx="10515600" cy="731520"/>
          </a:xfrm>
          <a:prstGeom prst="rect">
            <a:avLst/>
          </a:prstGeom>
          <a:noFill/>
          <a:ln/>
        </p:spPr>
        <p:txBody>
          <a:bodyPr wrap="square" lIns="0" tIns="0" rIns="0" bIns="0" rtlCol="0" anchor="ctr"/>
          <a:lstStyle/>
          <a:p>
            <a:pPr indent="0" marL="0">
              <a:lnSpc>
                <a:spcPts val="1600"/>
              </a:lnSpc>
              <a:buNone/>
            </a:pPr>
            <a:r>
              <a:rPr lang="en-US" sz="1200" dirty="0">
                <a:solidFill>
                  <a:srgbClr val="E6EDF3"/>
                </a:solidFill>
                <a:latin typeface="Calibri" pitchFamily="34" charset="0"/>
                <a:ea typeface="Calibri" pitchFamily="34" charset="-122"/>
                <a:cs typeface="Calibri" pitchFamily="34" charset="-120"/>
              </a:rPr>
              <a:t>Requesting an account and changing your password. Both are handled centrally, so they cannot be queued for later. Everything else — building, saving and printing a CE — works offline.</a:t>
            </a:r>
            <a:endParaRPr lang="en-US" sz="1200" dirty="0"/>
          </a:p>
        </p:txBody>
      </p:sp>
      <p:sp>
        <p:nvSpPr>
          <p:cNvPr id="23" name="Text 21"/>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4" name="Text 22"/>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TROUBLESHOOTING</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Messages you may see</a:t>
            </a:r>
            <a:endParaRPr lang="en-US" sz="3200" dirty="0"/>
          </a:p>
        </p:txBody>
      </p:sp>
      <p:sp>
        <p:nvSpPr>
          <p:cNvPr id="4" name="Shape 2"/>
          <p:cNvSpPr/>
          <p:nvPr/>
        </p:nvSpPr>
        <p:spPr>
          <a:xfrm>
            <a:off x="566928" y="1408176"/>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Shape 3"/>
          <p:cNvSpPr/>
          <p:nvPr/>
        </p:nvSpPr>
        <p:spPr>
          <a:xfrm>
            <a:off x="822960" y="1700784"/>
            <a:ext cx="310896" cy="310896"/>
          </a:xfrm>
          <a:prstGeom prst="ellipse">
            <a:avLst/>
          </a:prstGeom>
          <a:solidFill>
            <a:srgbClr val="F0A429"/>
          </a:solidFill>
          <a:ln w="12700">
            <a:solidFill>
              <a:srgbClr val="F0A429"/>
            </a:solidFill>
            <a:prstDash val="solid"/>
          </a:ln>
        </p:spPr>
      </p:sp>
      <p:sp>
        <p:nvSpPr>
          <p:cNvPr id="6" name="Text 4"/>
          <p:cNvSpPr/>
          <p:nvPr/>
        </p:nvSpPr>
        <p:spPr>
          <a:xfrm>
            <a:off x="1280160" y="1517904"/>
            <a:ext cx="3840480" cy="310896"/>
          </a:xfrm>
          <a:prstGeom prst="rect">
            <a:avLst/>
          </a:prstGeom>
          <a:noFill/>
          <a:ln/>
        </p:spPr>
        <p:txBody>
          <a:bodyPr wrap="square" lIns="0" tIns="0" rIns="0" bIns="0" rtlCol="0" anchor="ctr"/>
          <a:lstStyle/>
          <a:p>
            <a:pPr indent="0" marL="0">
              <a:buNone/>
            </a:pPr>
            <a:r>
              <a:rPr lang="en-US" sz="1350" b="1" dirty="0">
                <a:solidFill>
                  <a:srgbClr val="F0A429"/>
                </a:solidFill>
                <a:latin typeface="Arial" pitchFamily="34" charset="0"/>
                <a:ea typeface="Arial" pitchFamily="34" charset="-122"/>
                <a:cs typeface="Arial" pitchFamily="34" charset="-120"/>
              </a:rPr>
              <a:t>SharePoint session expired</a:t>
            </a:r>
            <a:endParaRPr lang="en-US" sz="1350" dirty="0"/>
          </a:p>
        </p:txBody>
      </p:sp>
      <p:sp>
        <p:nvSpPr>
          <p:cNvPr id="7" name="Text 5"/>
          <p:cNvSpPr/>
          <p:nvPr/>
        </p:nvSpPr>
        <p:spPr>
          <a:xfrm>
            <a:off x="1280160" y="184708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sign-in timed out. Work is kept on this device.</a:t>
            </a:r>
            <a:endParaRPr lang="en-US" sz="1100" dirty="0"/>
          </a:p>
        </p:txBody>
      </p:sp>
      <p:sp>
        <p:nvSpPr>
          <p:cNvPr id="8" name="Text 6"/>
          <p:cNvSpPr/>
          <p:nvPr/>
        </p:nvSpPr>
        <p:spPr>
          <a:xfrm>
            <a:off x="6236208" y="1517904"/>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Press Sign in on the banner.</a:t>
            </a:r>
            <a:endParaRPr lang="en-US" sz="1150" dirty="0"/>
          </a:p>
        </p:txBody>
      </p:sp>
      <p:sp>
        <p:nvSpPr>
          <p:cNvPr id="9" name="Shape 7"/>
          <p:cNvSpPr/>
          <p:nvPr/>
        </p:nvSpPr>
        <p:spPr>
          <a:xfrm>
            <a:off x="566928" y="2450592"/>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0" name="Shape 8"/>
          <p:cNvSpPr/>
          <p:nvPr/>
        </p:nvSpPr>
        <p:spPr>
          <a:xfrm>
            <a:off x="822960" y="2743200"/>
            <a:ext cx="310896" cy="310896"/>
          </a:xfrm>
          <a:prstGeom prst="ellipse">
            <a:avLst/>
          </a:prstGeom>
          <a:solidFill>
            <a:srgbClr val="F85149"/>
          </a:solidFill>
          <a:ln w="12700">
            <a:solidFill>
              <a:srgbClr val="F85149"/>
            </a:solidFill>
            <a:prstDash val="solid"/>
          </a:ln>
        </p:spPr>
      </p:sp>
      <p:sp>
        <p:nvSpPr>
          <p:cNvPr id="11" name="Text 9"/>
          <p:cNvSpPr/>
          <p:nvPr/>
        </p:nvSpPr>
        <p:spPr>
          <a:xfrm>
            <a:off x="1280160" y="2560320"/>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SharePoint denied access</a:t>
            </a:r>
            <a:endParaRPr lang="en-US" sz="1350" dirty="0"/>
          </a:p>
        </p:txBody>
      </p:sp>
      <p:sp>
        <p:nvSpPr>
          <p:cNvPr id="12" name="Text 10"/>
          <p:cNvSpPr/>
          <p:nvPr/>
        </p:nvSpPr>
        <p:spPr>
          <a:xfrm>
            <a:off x="1280160" y="2889504"/>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Your account cannot use one of the lists, so changes are not reaching the team.</a:t>
            </a:r>
            <a:endParaRPr lang="en-US" sz="1100" dirty="0"/>
          </a:p>
        </p:txBody>
      </p:sp>
      <p:sp>
        <p:nvSpPr>
          <p:cNvPr id="13" name="Text 11"/>
          <p:cNvSpPr/>
          <p:nvPr/>
        </p:nvSpPr>
        <p:spPr>
          <a:xfrm>
            <a:off x="6236208" y="2560320"/>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Signing in again will NOT help. Send the message to your admin — they must grant access.</a:t>
            </a:r>
            <a:endParaRPr lang="en-US" sz="1150" dirty="0"/>
          </a:p>
        </p:txBody>
      </p:sp>
      <p:sp>
        <p:nvSpPr>
          <p:cNvPr id="14" name="Shape 12"/>
          <p:cNvSpPr/>
          <p:nvPr/>
        </p:nvSpPr>
        <p:spPr>
          <a:xfrm>
            <a:off x="566928" y="3493008"/>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5" name="Shape 13"/>
          <p:cNvSpPr/>
          <p:nvPr/>
        </p:nvSpPr>
        <p:spPr>
          <a:xfrm>
            <a:off x="822960" y="3785616"/>
            <a:ext cx="310896" cy="310896"/>
          </a:xfrm>
          <a:prstGeom prst="ellipse">
            <a:avLst/>
          </a:prstGeom>
          <a:solidFill>
            <a:srgbClr val="F85149"/>
          </a:solidFill>
          <a:ln w="12700">
            <a:solidFill>
              <a:srgbClr val="F85149"/>
            </a:solidFill>
            <a:prstDash val="solid"/>
          </a:ln>
        </p:spPr>
      </p:sp>
      <p:sp>
        <p:nvSpPr>
          <p:cNvPr id="16" name="Text 14"/>
          <p:cNvSpPr/>
          <p:nvPr/>
        </p:nvSpPr>
        <p:spPr>
          <a:xfrm>
            <a:off x="1280160" y="3602736"/>
            <a:ext cx="3840480" cy="310896"/>
          </a:xfrm>
          <a:prstGeom prst="rect">
            <a:avLst/>
          </a:prstGeom>
          <a:noFill/>
          <a:ln/>
        </p:spPr>
        <p:txBody>
          <a:bodyPr wrap="square" lIns="0" tIns="0" rIns="0" bIns="0" rtlCol="0" anchor="ctr"/>
          <a:lstStyle/>
          <a:p>
            <a:pPr indent="0" marL="0">
              <a:buNone/>
            </a:pPr>
            <a:r>
              <a:rPr lang="en-US" sz="1350" b="1" dirty="0">
                <a:solidFill>
                  <a:srgbClr val="F85149"/>
                </a:solidFill>
                <a:latin typeface="Arial" pitchFamily="34" charset="0"/>
                <a:ea typeface="Arial" pitchFamily="34" charset="-122"/>
                <a:cs typeface="Arial" pitchFamily="34" charset="-120"/>
              </a:rPr>
              <a:t>⚠ Bulk upload mode</a:t>
            </a:r>
            <a:endParaRPr lang="en-US" sz="1350" dirty="0"/>
          </a:p>
        </p:txBody>
      </p:sp>
      <p:sp>
        <p:nvSpPr>
          <p:cNvPr id="17" name="Text 15"/>
          <p:cNvSpPr/>
          <p:nvPr/>
        </p:nvSpPr>
        <p:spPr>
          <a:xfrm>
            <a:off x="1280160" y="3931920"/>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An admin switched off duplicate-number protection to load old CEs.</a:t>
            </a:r>
            <a:endParaRPr lang="en-US" sz="1100" dirty="0"/>
          </a:p>
        </p:txBody>
      </p:sp>
      <p:sp>
        <p:nvSpPr>
          <p:cNvPr id="18" name="Text 16"/>
          <p:cNvSpPr/>
          <p:nvPr/>
        </p:nvSpPr>
        <p:spPr>
          <a:xfrm>
            <a:off x="6236208" y="3602736"/>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While it shows, saving an existing CE Number overwrites that CE. Take care.</a:t>
            </a:r>
            <a:endParaRPr lang="en-US" sz="1150" dirty="0"/>
          </a:p>
        </p:txBody>
      </p:sp>
      <p:sp>
        <p:nvSpPr>
          <p:cNvPr id="19" name="Shape 17"/>
          <p:cNvSpPr/>
          <p:nvPr/>
        </p:nvSpPr>
        <p:spPr>
          <a:xfrm>
            <a:off x="566928" y="4535424"/>
            <a:ext cx="11055096" cy="914400"/>
          </a:xfrm>
          <a:prstGeom prst="roundRect">
            <a:avLst>
              <a:gd name="adj" fmla="val 8000"/>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0" name="Shape 18"/>
          <p:cNvSpPr/>
          <p:nvPr/>
        </p:nvSpPr>
        <p:spPr>
          <a:xfrm>
            <a:off x="822960" y="4828032"/>
            <a:ext cx="310896" cy="310896"/>
          </a:xfrm>
          <a:prstGeom prst="ellipse">
            <a:avLst/>
          </a:prstGeom>
          <a:solidFill>
            <a:srgbClr val="58A6FF"/>
          </a:solidFill>
          <a:ln w="12700">
            <a:solidFill>
              <a:srgbClr val="58A6FF"/>
            </a:solidFill>
            <a:prstDash val="solid"/>
          </a:ln>
        </p:spPr>
      </p:sp>
      <p:sp>
        <p:nvSpPr>
          <p:cNvPr id="21" name="Text 19"/>
          <p:cNvSpPr/>
          <p:nvPr/>
        </p:nvSpPr>
        <p:spPr>
          <a:xfrm>
            <a:off x="1280160" y="4645152"/>
            <a:ext cx="3840480" cy="310896"/>
          </a:xfrm>
          <a:prstGeom prst="rect">
            <a:avLst/>
          </a:prstGeom>
          <a:noFill/>
          <a:ln/>
        </p:spPr>
        <p:txBody>
          <a:bodyPr wrap="square" lIns="0" tIns="0" rIns="0" bIns="0" rtlCol="0" anchor="ctr"/>
          <a:lstStyle/>
          <a:p>
            <a:pPr indent="0" marL="0">
              <a:buNone/>
            </a:pPr>
            <a:r>
              <a:rPr lang="en-US" sz="1350" b="1" dirty="0">
                <a:solidFill>
                  <a:srgbClr val="58A6FF"/>
                </a:solidFill>
                <a:latin typeface="Arial" pitchFamily="34" charset="0"/>
                <a:ea typeface="Arial" pitchFamily="34" charset="-122"/>
                <a:cs typeface="Arial" pitchFamily="34" charset="-120"/>
              </a:rPr>
              <a:t>⬇ Local draft found</a:t>
            </a:r>
            <a:endParaRPr lang="en-US" sz="1350" dirty="0"/>
          </a:p>
        </p:txBody>
      </p:sp>
      <p:sp>
        <p:nvSpPr>
          <p:cNvPr id="22" name="Text 20"/>
          <p:cNvSpPr/>
          <p:nvPr/>
        </p:nvSpPr>
        <p:spPr>
          <a:xfrm>
            <a:off x="1280160" y="4974336"/>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The app kept a copy of unfinished work from last time.</a:t>
            </a:r>
            <a:endParaRPr lang="en-US" sz="1100" dirty="0"/>
          </a:p>
        </p:txBody>
      </p:sp>
      <p:sp>
        <p:nvSpPr>
          <p:cNvPr id="23" name="Text 21"/>
          <p:cNvSpPr/>
          <p:nvPr/>
        </p:nvSpPr>
        <p:spPr>
          <a:xfrm>
            <a:off x="6236208" y="464515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Resume to carry on, or Dismiss to discard it.</a:t>
            </a:r>
            <a:endParaRPr lang="en-US" sz="1150" dirty="0"/>
          </a:p>
        </p:txBody>
      </p:sp>
      <p:sp>
        <p:nvSpPr>
          <p:cNvPr id="24" name="Shape 22"/>
          <p:cNvSpPr/>
          <p:nvPr/>
        </p:nvSpPr>
        <p:spPr>
          <a:xfrm>
            <a:off x="566928" y="5632704"/>
            <a:ext cx="11055096" cy="914400"/>
          </a:xfrm>
          <a:prstGeom prst="roundRect">
            <a:avLst>
              <a:gd name="adj" fmla="val 8000"/>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25" name="Text 23"/>
          <p:cNvSpPr/>
          <p:nvPr/>
        </p:nvSpPr>
        <p:spPr>
          <a:xfrm>
            <a:off x="1280160" y="5742432"/>
            <a:ext cx="3840480" cy="274320"/>
          </a:xfrm>
          <a:prstGeom prst="rect">
            <a:avLst/>
          </a:prstGeom>
          <a:noFill/>
          <a:ln/>
        </p:spPr>
        <p:txBody>
          <a:bodyPr wrap="square" lIns="0" tIns="0" rIns="0" bIns="0" rtlCol="0" anchor="ctr"/>
          <a:lstStyle/>
          <a:p>
            <a:pPr indent="0" marL="0">
              <a:buNone/>
            </a:pPr>
            <a:r>
              <a:rPr lang="en-US" sz="1350" b="1" dirty="0">
                <a:solidFill>
                  <a:srgbClr val="E6EDF3"/>
                </a:solidFill>
                <a:latin typeface="Arial" pitchFamily="34" charset="0"/>
                <a:ea typeface="Arial" pitchFamily="34" charset="-122"/>
                <a:cs typeface="Arial" pitchFamily="34" charset="-120"/>
              </a:rPr>
              <a:t>Toasts</a:t>
            </a:r>
            <a:endParaRPr lang="en-US" sz="1350" dirty="0"/>
          </a:p>
        </p:txBody>
      </p:sp>
      <p:sp>
        <p:nvSpPr>
          <p:cNvPr id="26" name="Shape 24"/>
          <p:cNvSpPr/>
          <p:nvPr/>
        </p:nvSpPr>
        <p:spPr>
          <a:xfrm>
            <a:off x="822960" y="5925312"/>
            <a:ext cx="310896" cy="310896"/>
          </a:xfrm>
          <a:prstGeom prst="ellipse">
            <a:avLst/>
          </a:prstGeom>
          <a:solidFill>
            <a:srgbClr val="9AA4AF"/>
          </a:solidFill>
          <a:ln w="12700">
            <a:solidFill>
              <a:srgbClr val="9AA4AF"/>
            </a:solidFill>
            <a:prstDash val="solid"/>
          </a:ln>
        </p:spPr>
      </p:sp>
      <p:sp>
        <p:nvSpPr>
          <p:cNvPr id="27" name="Text 25"/>
          <p:cNvSpPr/>
          <p:nvPr/>
        </p:nvSpPr>
        <p:spPr>
          <a:xfrm>
            <a:off x="1280160" y="6053328"/>
            <a:ext cx="4663440" cy="402336"/>
          </a:xfrm>
          <a:prstGeom prst="rect">
            <a:avLst/>
          </a:prstGeom>
          <a:noFill/>
          <a:ln/>
        </p:spPr>
        <p:txBody>
          <a:bodyPr wrap="square" lIns="0" tIns="0" rIns="0" bIns="0" rtlCol="0" anchor="ctr"/>
          <a:lstStyle/>
          <a:p>
            <a:pPr indent="0" marL="0">
              <a:lnSpc>
                <a:spcPts val="1400"/>
              </a:lnSpc>
              <a:buNone/>
            </a:pPr>
            <a:r>
              <a:rPr lang="en-US" sz="1100" dirty="0">
                <a:solidFill>
                  <a:srgbClr val="9AA4AF"/>
                </a:solidFill>
                <a:latin typeface="Calibri" pitchFamily="34" charset="0"/>
                <a:ea typeface="Calibri" pitchFamily="34" charset="-122"/>
                <a:cs typeface="Calibri" pitchFamily="34" charset="-120"/>
              </a:rPr>
              <a:t>Brief pop-ups at the bottom of the screen.</a:t>
            </a:r>
            <a:endParaRPr lang="en-US" sz="1100" dirty="0"/>
          </a:p>
        </p:txBody>
      </p:sp>
      <p:sp>
        <p:nvSpPr>
          <p:cNvPr id="28" name="Text 26"/>
          <p:cNvSpPr/>
          <p:nvPr/>
        </p:nvSpPr>
        <p:spPr>
          <a:xfrm>
            <a:off x="6236208" y="5742432"/>
            <a:ext cx="5120640" cy="731520"/>
          </a:xfrm>
          <a:prstGeom prst="rect">
            <a:avLst/>
          </a:prstGeom>
          <a:noFill/>
          <a:ln/>
        </p:spPr>
        <p:txBody>
          <a:bodyPr wrap="square" lIns="0" tIns="0" rIns="0" bIns="0" rtlCol="0" anchor="ctr"/>
          <a:lstStyle/>
          <a:p>
            <a:pPr indent="0" marL="0">
              <a:lnSpc>
                <a:spcPts val="1500"/>
              </a:lnSpc>
              <a:buNone/>
            </a:pPr>
            <a:r>
              <a:rPr lang="en-US" sz="1150" dirty="0">
                <a:solidFill>
                  <a:srgbClr val="E6EDF3"/>
                </a:solidFill>
                <a:latin typeface="Calibri" pitchFamily="34" charset="0"/>
                <a:ea typeface="Calibri" pitchFamily="34" charset="-122"/>
                <a:cs typeface="Calibri" pitchFamily="34" charset="-120"/>
              </a:rPr>
              <a:t>They confirm a save or explain a refusal, then fade. If one disappears before you read it, the same information is on the Check CE panel or the banner.</a:t>
            </a:r>
            <a:endParaRPr lang="en-US" sz="1150" dirty="0"/>
          </a:p>
        </p:txBody>
      </p:sp>
      <p:sp>
        <p:nvSpPr>
          <p:cNvPr id="29" name="Text 27"/>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30" name="Text 28"/>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SCOPE LIBRARY · MASTERLIST</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Keeping the shared lists right</a:t>
            </a:r>
            <a:endParaRPr lang="en-US" sz="3200" dirty="0"/>
          </a:p>
        </p:txBody>
      </p:sp>
      <p:sp>
        <p:nvSpPr>
          <p:cNvPr id="4" name="Text 2"/>
          <p:cNvSpPr/>
          <p:nvPr/>
        </p:nvSpPr>
        <p:spPr>
          <a:xfrm>
            <a:off x="566928" y="1298448"/>
            <a:ext cx="10972800" cy="365760"/>
          </a:xfrm>
          <a:prstGeom prst="rect">
            <a:avLst/>
          </a:prstGeom>
          <a:noFill/>
          <a:ln/>
        </p:spPr>
        <p:txBody>
          <a:bodyPr wrap="square" lIns="0" tIns="0" rIns="0" bIns="0" rtlCol="0" anchor="t"/>
          <a:lstStyle/>
          <a:p>
            <a:pPr algn="l" indent="0" marL="0">
              <a:lnSpc>
                <a:spcPts val="2000"/>
              </a:lnSpc>
              <a:buNone/>
            </a:pPr>
            <a:r>
              <a:rPr lang="en-US" sz="1400" dirty="0">
                <a:solidFill>
                  <a:srgbClr val="9AA4AF"/>
                </a:solidFill>
                <a:latin typeface="Calibri" pitchFamily="34" charset="0"/>
                <a:ea typeface="Calibri" pitchFamily="34" charset="-122"/>
                <a:cs typeface="Calibri" pitchFamily="34" charset="-120"/>
              </a:rPr>
              <a:t>These two lists are shared by everyone. A change here changes what every estimator sees next time.</a:t>
            </a:r>
            <a:endParaRPr lang="en-US" sz="1400" dirty="0"/>
          </a:p>
        </p:txBody>
      </p:sp>
      <p:sp>
        <p:nvSpPr>
          <p:cNvPr id="5" name="Shape 3"/>
          <p:cNvSpPr/>
          <p:nvPr/>
        </p:nvSpPr>
        <p:spPr>
          <a:xfrm>
            <a:off x="566928" y="1911096"/>
            <a:ext cx="5532120"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6" name="Text 4"/>
          <p:cNvSpPr/>
          <p:nvPr/>
        </p:nvSpPr>
        <p:spPr>
          <a:xfrm>
            <a:off x="841248" y="2121408"/>
            <a:ext cx="4937760" cy="329184"/>
          </a:xfrm>
          <a:prstGeom prst="rect">
            <a:avLst/>
          </a:prstGeom>
          <a:noFill/>
          <a:ln/>
        </p:spPr>
        <p:txBody>
          <a:bodyPr wrap="square" lIns="0" tIns="0" rIns="0" bIns="0" rtlCol="0" anchor="ctr"/>
          <a:lstStyle/>
          <a:p>
            <a:pPr indent="0" marL="0">
              <a:buNone/>
            </a:pPr>
            <a:r>
              <a:rPr lang="en-US" sz="1700" b="1" dirty="0">
                <a:solidFill>
                  <a:srgbClr val="A78BFA"/>
                </a:solidFill>
                <a:latin typeface="Arial" pitchFamily="34" charset="0"/>
                <a:ea typeface="Arial" pitchFamily="34" charset="-122"/>
                <a:cs typeface="Arial" pitchFamily="34" charset="-120"/>
              </a:rPr>
              <a:t>Scope Library</a:t>
            </a:r>
            <a:endParaRPr lang="en-US" sz="1700" dirty="0"/>
          </a:p>
        </p:txBody>
      </p:sp>
      <p:sp>
        <p:nvSpPr>
          <p:cNvPr id="7" name="Text 5"/>
          <p:cNvSpPr/>
          <p:nvPr/>
        </p:nvSpPr>
        <p:spPr>
          <a:xfrm>
            <a:off x="841248" y="2578608"/>
            <a:ext cx="4983480" cy="26517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One card per standard service. Click Edit to open it where it sits</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A new service is added at the top, already open</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Resources belong to a scope step, so applying the service files them against the right task</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Leave a manpower row's Days blank if that role is on site for the whole project; enter a number if it is only needed for its step</a:t>
            </a:r>
            <a:endParaRPr lang="en-US" sz="1200" dirty="0"/>
          </a:p>
        </p:txBody>
      </p:sp>
      <p:sp>
        <p:nvSpPr>
          <p:cNvPr id="8" name="Shape 6"/>
          <p:cNvSpPr/>
          <p:nvPr/>
        </p:nvSpPr>
        <p:spPr>
          <a:xfrm>
            <a:off x="6400800" y="1911096"/>
            <a:ext cx="5221224" cy="3566160"/>
          </a:xfrm>
          <a:prstGeom prst="roundRect">
            <a:avLst>
              <a:gd name="adj" fmla="val 2051"/>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9" name="Text 7"/>
          <p:cNvSpPr/>
          <p:nvPr/>
        </p:nvSpPr>
        <p:spPr>
          <a:xfrm>
            <a:off x="6675120" y="2121408"/>
            <a:ext cx="4663440" cy="329184"/>
          </a:xfrm>
          <a:prstGeom prst="rect">
            <a:avLst/>
          </a:prstGeom>
          <a:noFill/>
          <a:ln/>
        </p:spPr>
        <p:txBody>
          <a:bodyPr wrap="square" lIns="0" tIns="0" rIns="0" bIns="0" rtlCol="0" anchor="ctr"/>
          <a:lstStyle/>
          <a:p>
            <a:pPr indent="0" marL="0">
              <a:buNone/>
            </a:pPr>
            <a:r>
              <a:rPr lang="en-US" sz="1700" b="1" dirty="0">
                <a:solidFill>
                  <a:srgbClr val="F0A429"/>
                </a:solidFill>
                <a:latin typeface="Arial" pitchFamily="34" charset="0"/>
                <a:ea typeface="Arial" pitchFamily="34" charset="-122"/>
                <a:cs typeface="Arial" pitchFamily="34" charset="-120"/>
              </a:rPr>
              <a:t>Masterlist</a:t>
            </a:r>
            <a:endParaRPr lang="en-US" sz="1700" dirty="0"/>
          </a:p>
        </p:txBody>
      </p:sp>
      <p:sp>
        <p:nvSpPr>
          <p:cNvPr id="10" name="Text 8"/>
          <p:cNvSpPr/>
          <p:nvPr/>
        </p:nvSpPr>
        <p:spPr>
          <a:xfrm>
            <a:off x="6675120" y="2578608"/>
            <a:ext cx="4709160" cy="2651760"/>
          </a:xfrm>
          <a:prstGeom prst="rect">
            <a:avLst/>
          </a:prstGeom>
          <a:noFill/>
          <a:ln/>
        </p:spPr>
        <p:txBody>
          <a:bodyPr wrap="square" lIns="0" tIns="0" rIns="0" bIns="0" rtlCol="0" anchor="ctr"/>
          <a:lstStyle/>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The single source of rates for manpower, tools, materials and PPE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Every rate you pick in a CE comes from here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Update a rate once and use ↺ Sync Rates on an older CE to bring it up to date</a:t>
            </a:r>
            <a:endParaRPr lang="en-US" sz="1200" dirty="0"/>
          </a:p>
          <a:p>
            <a:pPr marL="342900" indent="-342900">
              <a:lnSpc>
                <a:spcPts val="1600"/>
              </a:lnSpc>
              <a:spcAft>
                <a:spcPts val="900"/>
              </a:spcAft>
              <a:buSzPct val="100000"/>
              <a:buChar char="●"/>
            </a:pPr>
            <a:r>
              <a:rPr lang="en-US" sz="1200" dirty="0">
                <a:solidFill>
                  <a:srgbClr val="E6EDF3"/>
                </a:solidFill>
                <a:latin typeface="Calibri" pitchFamily="34" charset="0"/>
                <a:ea typeface="Calibri" pitchFamily="34" charset="-122"/>
                <a:cs typeface="Calibri" pitchFamily="34" charset="-120"/>
              </a:rPr>
              <a:t>Changing a rate does not alter CEs already saved</a:t>
            </a:r>
            <a:endParaRPr lang="en-US" sz="1200" dirty="0"/>
          </a:p>
        </p:txBody>
      </p:sp>
      <p:sp>
        <p:nvSpPr>
          <p:cNvPr id="11" name="Text 9"/>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12" name="Text 10"/>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61B22"/>
        </a:solidFill>
      </p:bgPr>
    </p:bg>
    <p:spTree>
      <p:nvGrpSpPr>
        <p:cNvPr id="1" name=""/>
        <p:cNvGrpSpPr/>
        <p:nvPr/>
      </p:nvGrpSpPr>
      <p:grpSpPr>
        <a:xfrm>
          <a:off x="0" y="0"/>
          <a:ext cx="0" cy="0"/>
          <a:chOff x="0" y="0"/>
          <a:chExt cx="0" cy="0"/>
        </a:xfrm>
      </p:grpSpPr>
      <p:sp>
        <p:nvSpPr>
          <p:cNvPr id="2" name="Text 0"/>
          <p:cNvSpPr/>
          <p:nvPr/>
        </p:nvSpPr>
        <p:spPr>
          <a:xfrm>
            <a:off x="566928" y="384048"/>
            <a:ext cx="8229600" cy="256032"/>
          </a:xfrm>
          <a:prstGeom prst="rect">
            <a:avLst/>
          </a:prstGeom>
          <a:noFill/>
          <a:ln/>
        </p:spPr>
        <p:txBody>
          <a:bodyPr wrap="square" lIns="0" tIns="0" rIns="0" bIns="0" rtlCol="0" anchor="ctr"/>
          <a:lstStyle/>
          <a:p>
            <a:pPr indent="0" marL="0">
              <a:buNone/>
            </a:pPr>
            <a:r>
              <a:rPr lang="en-US" sz="1100" b="1" spc="200" kern="0" dirty="0">
                <a:solidFill>
                  <a:srgbClr val="F0A429"/>
                </a:solidFill>
                <a:latin typeface="Arial" pitchFamily="34" charset="0"/>
                <a:ea typeface="Arial" pitchFamily="34" charset="-122"/>
                <a:cs typeface="Arial" pitchFamily="34" charset="-120"/>
              </a:rPr>
              <a:t>KEEP THIS SLIDE</a:t>
            </a:r>
            <a:endParaRPr lang="en-US" sz="1100" dirty="0"/>
          </a:p>
        </p:txBody>
      </p:sp>
      <p:sp>
        <p:nvSpPr>
          <p:cNvPr id="3" name="Text 1"/>
          <p:cNvSpPr/>
          <p:nvPr/>
        </p:nvSpPr>
        <p:spPr>
          <a:xfrm>
            <a:off x="566928" y="694944"/>
            <a:ext cx="11055096" cy="566928"/>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Quick reference</a:t>
            </a:r>
            <a:endParaRPr lang="en-US" sz="3200" dirty="0"/>
          </a:p>
        </p:txBody>
      </p:sp>
      <p:sp>
        <p:nvSpPr>
          <p:cNvPr id="4" name="Shape 2"/>
          <p:cNvSpPr/>
          <p:nvPr/>
        </p:nvSpPr>
        <p:spPr>
          <a:xfrm>
            <a:off x="566928" y="1408176"/>
            <a:ext cx="5532120" cy="201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5" name="Text 3"/>
          <p:cNvSpPr/>
          <p:nvPr/>
        </p:nvSpPr>
        <p:spPr>
          <a:xfrm>
            <a:off x="841248" y="1572768"/>
            <a:ext cx="4937760" cy="292608"/>
          </a:xfrm>
          <a:prstGeom prst="rect">
            <a:avLst/>
          </a:prstGeom>
          <a:noFill/>
          <a:ln/>
        </p:spPr>
        <p:txBody>
          <a:bodyPr wrap="square" lIns="0" tIns="0" rIns="0" bIns="0" rtlCol="0" anchor="ctr"/>
          <a:lstStyle/>
          <a:p>
            <a:pPr indent="0" marL="0">
              <a:buNone/>
            </a:pPr>
            <a:r>
              <a:rPr lang="en-US" sz="1450" b="1" dirty="0">
                <a:solidFill>
                  <a:srgbClr val="F0A429"/>
                </a:solidFill>
                <a:latin typeface="Arial" pitchFamily="34" charset="0"/>
                <a:ea typeface="Arial" pitchFamily="34" charset="-122"/>
                <a:cs typeface="Arial" pitchFamily="34" charset="-120"/>
              </a:rPr>
              <a:t>Rules worth remembering</a:t>
            </a:r>
            <a:endParaRPr lang="en-US" sz="1450" dirty="0"/>
          </a:p>
        </p:txBody>
      </p:sp>
      <p:sp>
        <p:nvSpPr>
          <p:cNvPr id="6" name="Text 4"/>
          <p:cNvSpPr/>
          <p:nvPr/>
        </p:nvSpPr>
        <p:spPr>
          <a:xfrm>
            <a:off x="841248" y="1975104"/>
            <a:ext cx="4983480" cy="1371600"/>
          </a:xfrm>
          <a:prstGeom prst="rect">
            <a:avLst/>
          </a:prstGeom>
          <a:noFill/>
          <a:ln/>
        </p:spPr>
        <p:txBody>
          <a:bodyPr wrap="square" lIns="0" tIns="0" rIns="0" bIns="0" rtlCol="0" anchor="ctr"/>
          <a:lstStyle/>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OT hours are per day, not per job</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Quantity divides the total into a unit price</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No. of days sets every new manpower row</a:t>
            </a:r>
            <a:endParaRPr lang="en-US" sz="1150" dirty="0"/>
          </a:p>
          <a:p>
            <a:pPr marL="342900" indent="-342900">
              <a:lnSpc>
                <a:spcPts val="1450"/>
              </a:lnSpc>
              <a:spcAft>
                <a:spcPts val="500"/>
              </a:spcAft>
              <a:buSzPct val="100000"/>
              <a:buChar char="●"/>
            </a:pPr>
            <a:r>
              <a:rPr lang="en-US" sz="1150" dirty="0">
                <a:solidFill>
                  <a:srgbClr val="E6EDF3"/>
                </a:solidFill>
                <a:latin typeface="Calibri" pitchFamily="34" charset="0"/>
                <a:ea typeface="Calibri" pitchFamily="34" charset="-122"/>
                <a:cs typeface="Calibri" pitchFamily="34" charset="-120"/>
              </a:rPr>
              <a:t>A CE Number can only be used once</a:t>
            </a:r>
            <a:endParaRPr lang="en-US" sz="1150" dirty="0"/>
          </a:p>
        </p:txBody>
      </p:sp>
      <p:sp>
        <p:nvSpPr>
          <p:cNvPr id="7" name="Shape 5"/>
          <p:cNvSpPr/>
          <p:nvPr/>
        </p:nvSpPr>
        <p:spPr>
          <a:xfrm>
            <a:off x="6400800" y="1408176"/>
            <a:ext cx="5221224" cy="2011680"/>
          </a:xfrm>
          <a:prstGeom prst="roundRect">
            <a:avLst>
              <a:gd name="adj" fmla="val 3636"/>
            </a:avLst>
          </a:prstGeom>
          <a:solidFill>
            <a:srgbClr val="161B22"/>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8" name="Text 6"/>
          <p:cNvSpPr/>
          <p:nvPr/>
        </p:nvSpPr>
        <p:spPr>
          <a:xfrm>
            <a:off x="6675120" y="1572768"/>
            <a:ext cx="4663440" cy="292608"/>
          </a:xfrm>
          <a:prstGeom prst="rect">
            <a:avLst/>
          </a:prstGeom>
          <a:noFill/>
          <a:ln/>
        </p:spPr>
        <p:txBody>
          <a:bodyPr wrap="square" lIns="0" tIns="0" rIns="0" bIns="0" rtlCol="0" anchor="ctr"/>
          <a:lstStyle/>
          <a:p>
            <a:pPr indent="0" marL="0">
              <a:buNone/>
            </a:pPr>
            <a:r>
              <a:rPr lang="en-US" sz="1450" b="1" dirty="0">
                <a:solidFill>
                  <a:srgbClr val="58A6FF"/>
                </a:solidFill>
                <a:latin typeface="Arial" pitchFamily="34" charset="0"/>
                <a:ea typeface="Arial" pitchFamily="34" charset="-122"/>
                <a:cs typeface="Arial" pitchFamily="34" charset="-120"/>
              </a:rPr>
              <a:t>Shortcuts</a:t>
            </a:r>
            <a:endParaRPr lang="en-US" sz="1450" dirty="0"/>
          </a:p>
        </p:txBody>
      </p:sp>
      <p:sp>
        <p:nvSpPr>
          <p:cNvPr id="9" name="Shape 7"/>
          <p:cNvSpPr/>
          <p:nvPr/>
        </p:nvSpPr>
        <p:spPr>
          <a:xfrm>
            <a:off x="6675120" y="2029968"/>
            <a:ext cx="1234440" cy="310896"/>
          </a:xfrm>
          <a:prstGeom prst="roundRect">
            <a:avLst>
              <a:gd name="adj" fmla="val 14706"/>
            </a:avLst>
          </a:prstGeom>
          <a:solidFill>
            <a:srgbClr val="1C2128"/>
          </a:solidFill>
          <a:ln w="12700">
            <a:solidFill>
              <a:srgbClr val="30363D"/>
            </a:solidFill>
            <a:prstDash val="solid"/>
          </a:ln>
        </p:spPr>
      </p:sp>
      <p:sp>
        <p:nvSpPr>
          <p:cNvPr id="10" name="Text 8"/>
          <p:cNvSpPr/>
          <p:nvPr/>
        </p:nvSpPr>
        <p:spPr>
          <a:xfrm>
            <a:off x="6675120" y="2029968"/>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S</a:t>
            </a:r>
            <a:endParaRPr lang="en-US" sz="1000" dirty="0"/>
          </a:p>
        </p:txBody>
      </p:sp>
      <p:sp>
        <p:nvSpPr>
          <p:cNvPr id="11" name="Text 9"/>
          <p:cNvSpPr/>
          <p:nvPr/>
        </p:nvSpPr>
        <p:spPr>
          <a:xfrm>
            <a:off x="8046720" y="2029968"/>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Save the CE</a:t>
            </a:r>
            <a:endParaRPr lang="en-US" sz="1150" dirty="0"/>
          </a:p>
        </p:txBody>
      </p:sp>
      <p:sp>
        <p:nvSpPr>
          <p:cNvPr id="12" name="Shape 10"/>
          <p:cNvSpPr/>
          <p:nvPr/>
        </p:nvSpPr>
        <p:spPr>
          <a:xfrm>
            <a:off x="6675120" y="2450592"/>
            <a:ext cx="1234440" cy="310896"/>
          </a:xfrm>
          <a:prstGeom prst="roundRect">
            <a:avLst>
              <a:gd name="adj" fmla="val 14706"/>
            </a:avLst>
          </a:prstGeom>
          <a:solidFill>
            <a:srgbClr val="1C2128"/>
          </a:solidFill>
          <a:ln w="12700">
            <a:solidFill>
              <a:srgbClr val="30363D"/>
            </a:solidFill>
            <a:prstDash val="solid"/>
          </a:ln>
        </p:spPr>
      </p:sp>
      <p:sp>
        <p:nvSpPr>
          <p:cNvPr id="13" name="Text 11"/>
          <p:cNvSpPr/>
          <p:nvPr/>
        </p:nvSpPr>
        <p:spPr>
          <a:xfrm>
            <a:off x="6675120" y="2450592"/>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Ctrl + N</a:t>
            </a:r>
            <a:endParaRPr lang="en-US" sz="1000" dirty="0"/>
          </a:p>
        </p:txBody>
      </p:sp>
      <p:sp>
        <p:nvSpPr>
          <p:cNvPr id="14" name="Text 12"/>
          <p:cNvSpPr/>
          <p:nvPr/>
        </p:nvSpPr>
        <p:spPr>
          <a:xfrm>
            <a:off x="8046720" y="2450592"/>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Start a new CE</a:t>
            </a:r>
            <a:endParaRPr lang="en-US" sz="1150" dirty="0"/>
          </a:p>
        </p:txBody>
      </p:sp>
      <p:sp>
        <p:nvSpPr>
          <p:cNvPr id="15" name="Shape 13"/>
          <p:cNvSpPr/>
          <p:nvPr/>
        </p:nvSpPr>
        <p:spPr>
          <a:xfrm>
            <a:off x="6675120" y="2871216"/>
            <a:ext cx="1234440" cy="310896"/>
          </a:xfrm>
          <a:prstGeom prst="roundRect">
            <a:avLst>
              <a:gd name="adj" fmla="val 14706"/>
            </a:avLst>
          </a:prstGeom>
          <a:solidFill>
            <a:srgbClr val="1C2128"/>
          </a:solidFill>
          <a:ln w="12700">
            <a:solidFill>
              <a:srgbClr val="30363D"/>
            </a:solidFill>
            <a:prstDash val="solid"/>
          </a:ln>
        </p:spPr>
      </p:sp>
      <p:sp>
        <p:nvSpPr>
          <p:cNvPr id="16" name="Text 14"/>
          <p:cNvSpPr/>
          <p:nvPr/>
        </p:nvSpPr>
        <p:spPr>
          <a:xfrm>
            <a:off x="6675120" y="2871216"/>
            <a:ext cx="1234440" cy="310896"/>
          </a:xfrm>
          <a:prstGeom prst="rect">
            <a:avLst/>
          </a:prstGeom>
          <a:noFill/>
          <a:ln/>
        </p:spPr>
        <p:txBody>
          <a:bodyPr wrap="square" lIns="0" tIns="0" rIns="0" bIns="0" rtlCol="0" anchor="ctr"/>
          <a:lstStyle/>
          <a:p>
            <a:pPr algn="ctr" indent="0" marL="0">
              <a:buNone/>
            </a:pPr>
            <a:r>
              <a:rPr lang="en-US" sz="1000" dirty="0">
                <a:solidFill>
                  <a:srgbClr val="E6EDF3"/>
                </a:solidFill>
                <a:latin typeface="Courier New" pitchFamily="34" charset="0"/>
                <a:ea typeface="Courier New" pitchFamily="34" charset="-122"/>
                <a:cs typeface="Courier New" pitchFamily="34" charset="-120"/>
              </a:rPr>
              <a:t>Search box</a:t>
            </a:r>
            <a:endParaRPr lang="en-US" sz="1000" dirty="0"/>
          </a:p>
        </p:txBody>
      </p:sp>
      <p:sp>
        <p:nvSpPr>
          <p:cNvPr id="17" name="Text 15"/>
          <p:cNvSpPr/>
          <p:nvPr/>
        </p:nvSpPr>
        <p:spPr>
          <a:xfrm>
            <a:off x="8046720" y="2871216"/>
            <a:ext cx="3383280" cy="310896"/>
          </a:xfrm>
          <a:prstGeom prst="rect">
            <a:avLst/>
          </a:prstGeom>
          <a:noFill/>
          <a:ln/>
        </p:spPr>
        <p:txBody>
          <a:bodyPr wrap="square" lIns="0" tIns="0" rIns="0" bIns="0" rtlCol="0" anchor="ctr"/>
          <a:lstStyle/>
          <a:p>
            <a:pPr indent="0" marL="0">
              <a:buNone/>
            </a:pPr>
            <a:r>
              <a:rPr lang="en-US" sz="1150" dirty="0">
                <a:solidFill>
                  <a:srgbClr val="9AA4AF"/>
                </a:solidFill>
                <a:latin typeface="Calibri" pitchFamily="34" charset="0"/>
                <a:ea typeface="Calibri" pitchFamily="34" charset="-122"/>
                <a:cs typeface="Calibri" pitchFamily="34" charset="-120"/>
              </a:rPr>
              <a:t>Filter the Masterlist or Scope Library</a:t>
            </a:r>
            <a:endParaRPr lang="en-US" sz="1150" dirty="0"/>
          </a:p>
        </p:txBody>
      </p:sp>
      <p:sp>
        <p:nvSpPr>
          <p:cNvPr id="18" name="Shape 16"/>
          <p:cNvSpPr/>
          <p:nvPr/>
        </p:nvSpPr>
        <p:spPr>
          <a:xfrm>
            <a:off x="566928" y="3621024"/>
            <a:ext cx="11055096" cy="1234440"/>
          </a:xfrm>
          <a:prstGeom prst="roundRect">
            <a:avLst>
              <a:gd name="adj" fmla="val 5926"/>
            </a:avLst>
          </a:prstGeom>
          <a:solidFill>
            <a:srgbClr val="1C2128"/>
          </a:solidFill>
          <a:ln w="12700">
            <a:solidFill>
              <a:srgbClr val="30363D"/>
            </a:solidFill>
            <a:prstDash val="solid"/>
          </a:ln>
          <a:effectLst>
            <a:outerShdw sx="100000" sy="100000" kx="0" ky="0" algn="bl" rotWithShape="0" blurRad="152400" dist="38100" dir="5400000">
              <a:srgbClr val="000000">
                <a:alpha val="45000"/>
              </a:srgbClr>
            </a:outerShdw>
          </a:effectLst>
        </p:spPr>
      </p:sp>
      <p:sp>
        <p:nvSpPr>
          <p:cNvPr id="19" name="Text 17"/>
          <p:cNvSpPr/>
          <p:nvPr/>
        </p:nvSpPr>
        <p:spPr>
          <a:xfrm>
            <a:off x="841248" y="3785616"/>
            <a:ext cx="5486400" cy="274320"/>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If something looks wrong</a:t>
            </a:r>
            <a:endParaRPr lang="en-US" sz="1400" dirty="0"/>
          </a:p>
        </p:txBody>
      </p:sp>
      <p:sp>
        <p:nvSpPr>
          <p:cNvPr id="20" name="Text 18"/>
          <p:cNvSpPr/>
          <p:nvPr/>
        </p:nvSpPr>
        <p:spPr>
          <a:xfrm>
            <a:off x="841248" y="4096512"/>
            <a:ext cx="10515600" cy="658368"/>
          </a:xfrm>
          <a:prstGeom prst="rect">
            <a:avLst/>
          </a:prstGeom>
          <a:noFill/>
          <a:ln/>
        </p:spPr>
        <p:txBody>
          <a:bodyPr wrap="square" lIns="0" tIns="0" rIns="0" bIns="0" rtlCol="0" anchor="ctr"/>
          <a:lstStyle/>
          <a:p>
            <a:pPr indent="0" marL="0">
              <a:lnSpc>
                <a:spcPts val="1500"/>
              </a:lnSpc>
              <a:buNone/>
            </a:pPr>
            <a:r>
              <a:rPr lang="en-US" sz="1150" dirty="0">
                <a:solidFill>
                  <a:srgbClr val="9AA4AF"/>
                </a:solidFill>
                <a:latin typeface="Calibri" pitchFamily="34" charset="0"/>
                <a:ea typeface="Calibri" pitchFamily="34" charset="-122"/>
                <a:cs typeface="Calibri" pitchFamily="34" charset="-120"/>
              </a:rPr>
              <a:t>Check the Summary tab first — Check CE names most problems and takes you straight to them. If a total looks impossible, look at Quantity on Project Info and the Days on your manpower rows. If your work is not reaching the team, read the banner at the top of the screen before anything else.</a:t>
            </a:r>
            <a:endParaRPr lang="en-US" sz="1150" dirty="0"/>
          </a:p>
        </p:txBody>
      </p:sp>
      <p:sp>
        <p:nvSpPr>
          <p:cNvPr id="21" name="Text 19"/>
          <p:cNvSpPr/>
          <p:nvPr/>
        </p:nvSpPr>
        <p:spPr>
          <a:xfrm>
            <a:off x="566928" y="5065776"/>
            <a:ext cx="11055096" cy="365760"/>
          </a:xfrm>
          <a:prstGeom prst="rect">
            <a:avLst/>
          </a:prstGeom>
          <a:noFill/>
          <a:ln/>
        </p:spPr>
        <p:txBody>
          <a:bodyPr wrap="square" lIns="0" tIns="0" rIns="0" bIns="0" rtlCol="0" anchor="ctr"/>
          <a:lstStyle/>
          <a:p>
            <a:pPr algn="ctr" indent="0" marL="0">
              <a:buNone/>
            </a:pPr>
            <a:r>
              <a:rPr lang="en-US" sz="1250" dirty="0">
                <a:solidFill>
                  <a:srgbClr val="F0A429"/>
                </a:solidFill>
                <a:latin typeface="Calibri" pitchFamily="34" charset="0"/>
                <a:ea typeface="Calibri" pitchFamily="34" charset="-122"/>
                <a:cs typeface="Calibri" pitchFamily="34" charset="-120"/>
              </a:rPr>
              <a:t>Questions, or something this manual does not cover — ask the Technical Support Group.</a:t>
            </a:r>
            <a:endParaRPr lang="en-US" sz="1250" dirty="0"/>
          </a:p>
        </p:txBody>
      </p:sp>
      <p:sp>
        <p:nvSpPr>
          <p:cNvPr id="22" name="Text 20"/>
          <p:cNvSpPr/>
          <p:nvPr/>
        </p:nvSpPr>
        <p:spPr>
          <a:xfrm>
            <a:off x="566928" y="6437376"/>
            <a:ext cx="5486400" cy="237744"/>
          </a:xfrm>
          <a:prstGeom prst="rect">
            <a:avLst/>
          </a:prstGeom>
          <a:noFill/>
          <a:ln/>
        </p:spPr>
        <p:txBody>
          <a:bodyPr wrap="square" lIns="0" tIns="0" rIns="0" bIns="0" rtlCol="0" anchor="ctr"/>
          <a:lstStyle/>
          <a:p>
            <a:pPr indent="0" marL="0">
              <a:buNone/>
            </a:pPr>
            <a:r>
              <a:rPr lang="en-US" sz="900" dirty="0">
                <a:solidFill>
                  <a:srgbClr val="6E7681"/>
                </a:solidFill>
                <a:latin typeface="Calibri" pitchFamily="34" charset="0"/>
                <a:ea typeface="Calibri" pitchFamily="34" charset="-122"/>
                <a:cs typeface="Calibri" pitchFamily="34" charset="-120"/>
              </a:rPr>
              <a:t>SHIC Cost Estimator — End-User Manual</a:t>
            </a:r>
            <a:endParaRPr lang="en-US" sz="900" dirty="0"/>
          </a:p>
        </p:txBody>
      </p:sp>
      <p:sp>
        <p:nvSpPr>
          <p:cNvPr id="23" name="Text 21"/>
          <p:cNvSpPr/>
          <p:nvPr/>
        </p:nvSpPr>
        <p:spPr>
          <a:xfrm>
            <a:off x="10981944" y="6437376"/>
            <a:ext cx="640080" cy="237744"/>
          </a:xfrm>
          <a:prstGeom prst="rect">
            <a:avLst/>
          </a:prstGeom>
          <a:noFill/>
          <a:ln/>
        </p:spPr>
        <p:txBody>
          <a:bodyPr wrap="square" lIns="0" tIns="0" rIns="0" bIns="0" rtlCol="0" anchor="ctr"/>
          <a:lstStyle/>
          <a:p>
            <a:pPr algn="r" indent="0" marL="0">
              <a:buNone/>
            </a:pPr>
            <a:r>
              <a:rPr lang="en-US" sz="900" dirty="0">
                <a:solidFill>
                  <a:srgbClr val="6E7681"/>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SHIC Cost Estimator — End-User Manual</dc:title>
  <dc:subject>PptxGenJS Presentation</dc:subject>
  <dc:creator>SY3 / SHIC — TSG</dc:creator>
  <cp:lastModifiedBy>SY3 / SHIC — TSG</cp:lastModifiedBy>
  <cp:revision>1</cp:revision>
  <dcterms:created xsi:type="dcterms:W3CDTF">2026-08-11T07:14:50Z</dcterms:created>
  <dcterms:modified xsi:type="dcterms:W3CDTF">2026-08-11T07:14:50Z</dcterms:modified>
</cp:coreProperties>
</file>